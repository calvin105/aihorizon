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4A5751"/>
                </a:solidFill>
                <a:latin typeface="Calibri"/>
              </a:defRPr>
            </a:pPr>
            <a:r>
              <a:rPr sz="1400" b="0" i="0" u="none" strike="noStrike">
                <a:solidFill>
                  <a:srgbClr val="4A5751"/>
                </a:solidFill>
                <a:latin typeface="Calibri"/>
              </a:rPr>
              <a:t>Top cause correct, by the reasons shown behind it</a:t>
            </a:r>
          </a:p>
        </c:rich>
      </c:tx>
      <c:layout/>
      <c:overlay val="0"/>
    </c:title>
    <c:autoTitleDeleted val="0"/>
    <c:plotArea>
      <c:layout/>
      <c:barChart>
        <c:barDir val="col"/>
        <c:grouping val="clustered"/>
        <c:varyColors val="0"/>
        <c:ser>
          <c:idx val="0"/>
          <c:order val="0"/>
          <c:tx>
            <c:strRef>
              <c:f>Sheet1!$B$1</c:f>
              <c:strCache>
                <c:ptCount val="1"/>
                <c:pt idx="0">
                  <c:v>Top cause correct</c:v>
                </c:pt>
              </c:strCache>
            </c:strRef>
          </c:tx>
          <c:spPr>
            <a:solidFill>
              <a:srgbClr val="1F7A4D"/>
            </a:solidFill>
            <a:effectLst/>
          </c:spPr>
          <c:invertIfNegative val="0"/>
          <c:dLbls>
            <c:numFmt formatCode="0&quot;%&quot;" sourceLinked="0"/>
            <c:txPr>
              <a:bodyPr/>
              <a:lstStyle/>
              <a:p>
                <a:pPr>
                  <a:defRPr b="1" i="0" strike="noStrike" sz="1600" u="none">
                    <a:solidFill>
                      <a:srgbClr val="14201B"/>
                    </a:solidFill>
                    <a:latin typeface="Calibri"/>
                  </a:defRPr>
                </a:pPr>
              </a:p>
            </c:txPr>
            <c:showLegendKey val="0"/>
            <c:showVal val="1"/>
            <c:showCatName val="0"/>
            <c:showSerName val="0"/>
            <c:showPercent val="0"/>
            <c:showBubbleSize val="0"/>
            <c:showLeaderLines val="0"/>
          </c:dLbls>
          <c:cat>
            <c:multiLvlStrRef>
              <c:f>Sheet1!$A$2:$A$5</c:f>
              <c:multiLvlStrCache>
                <c:ptCount val="4"/>
                <c:lvl>
                  <c:pt idx="0">
                    <c:v>1 reason</c:v>
                  </c:pt>
                  <c:pt idx="1">
                    <c:v>2</c:v>
                  </c:pt>
                  <c:pt idx="2">
                    <c:v>3</c:v>
                  </c:pt>
                  <c:pt idx="3">
                    <c:v>4+</c:v>
                  </c:pt>
                </c:lvl>
              </c:multiLvlStrCache>
            </c:multiLvlStrRef>
          </c:cat>
          <c:val>
            <c:numRef>
              <c:f>Sheet1!$B$2:$B$5</c:f>
              <c:numCache>
                <c:formatCode>General</c:formatCode>
                <c:ptCount val="4"/>
                <c:pt idx="0">
                  <c:v>48</c:v>
                </c:pt>
                <c:pt idx="1">
                  <c:v>72</c:v>
                </c:pt>
                <c:pt idx="2">
                  <c:v>95</c:v>
                </c:pt>
                <c:pt idx="3">
                  <c:v>100</c:v>
                </c:pt>
              </c:numCache>
            </c:numRef>
          </c:val>
        </c:ser>
        <c:dLbls>
          <c:numFmt formatCode="0&quot;%&quot;" sourceLinked="0"/>
          <c:txPr>
            <a:bodyPr/>
            <a:lstStyle/>
            <a:p>
              <a:pPr>
                <a:defRPr b="1" i="0" strike="noStrike" sz="1600" u="none">
                  <a:solidFill>
                    <a:srgbClr val="14201B"/>
                  </a:solidFill>
                  <a:latin typeface="Calibri"/>
                </a:defRPr>
              </a:pPr>
            </a:p>
          </c:txPr>
          <c:showLegendKey val="0"/>
          <c:showVal val="1"/>
          <c:showCatName val="0"/>
          <c:showSerName val="0"/>
          <c:showPercent val="0"/>
          <c:showBubbleSize val="0"/>
          <c:showLeaderLines val="0"/>
        </c:dLbls>
        <c:gapWidth val="8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3C2B7"/>
            </a:solidFill>
            <a:prstDash val="solid"/>
            <a:round/>
          </a:ln>
        </c:spPr>
        <c:txPr>
          <a:bodyPr/>
          <a:lstStyle/>
          <a:p>
            <a:pPr>
              <a:defRPr sz="2000" b="0" i="0" u="none" strike="noStrike">
                <a:solidFill>
                  <a:srgbClr val="4A5751"/>
                </a:solidFill>
                <a:latin typeface="Calibri"/>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Photo + questions</c:v>
                </c:pt>
              </c:strCache>
            </c:strRef>
          </c:tx>
          <c:spPr>
            <a:solidFill>
              <a:srgbClr val="1F7A4D"/>
            </a:solidFill>
            <a:ln w="38100" cap="flat">
              <a:solidFill>
                <a:srgbClr val="1F7A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10"/>
            <c:spPr>
              <a:solidFill>
                <a:srgbClr val="1F7A4D"/>
              </a:solidFill>
              <a:ln w="9525" cap="flat">
                <a:solidFill>
                  <a:srgbClr val="1F7A4D"/>
                </a:solidFill>
                <a:prstDash val="solid"/>
                <a:round/>
              </a:ln>
              <a:effectLst/>
            </c:spPr>
          </c:marker>
          <c:cat>
            <c:multiLvlStrRef>
              <c:f>Sheet1!$A$2:$A$4</c:f>
              <c:multiLvlStrCache>
                <c:ptCount val="3"/>
                <c:lvl>
                  <c:pt idx="0">
                    <c:v>100%</c:v>
                  </c:pt>
                  <c:pt idx="1">
                    <c:v>75%</c:v>
                  </c:pt>
                  <c:pt idx="2">
                    <c:v>50%</c:v>
                  </c:pt>
                </c:lvl>
              </c:multiLvlStrCache>
            </c:multiLvlStrRef>
          </c:cat>
          <c:val>
            <c:numRef>
              <c:f>Sheet1!$B$2:$B$4</c:f>
              <c:numCache>
                <c:formatCode>General</c:formatCode>
                <c:ptCount val="3"/>
                <c:pt idx="0">
                  <c:v>80.5</c:v>
                </c:pt>
                <c:pt idx="1">
                  <c:v>66.2</c:v>
                </c:pt>
                <c:pt idx="2">
                  <c:v>56.9</c:v>
                </c:pt>
              </c:numCache>
            </c:numRef>
          </c:val>
          <c:smooth val="0"/>
        </c:ser>
        <c:ser>
          <c:idx val="1"/>
          <c:order val="1"/>
          <c:tx>
            <c:strRef>
              <c:f>Sheet1!$C$1</c:f>
              <c:strCache>
                <c:ptCount val="1"/>
                <c:pt idx="0">
                  <c:v>Questions only</c:v>
                </c:pt>
              </c:strCache>
            </c:strRef>
          </c:tx>
          <c:spPr>
            <a:solidFill>
              <a:srgbClr val="8A958F"/>
            </a:solidFill>
            <a:ln w="38100" cap="flat">
              <a:solidFill>
                <a:srgbClr val="8A958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10"/>
            <c:spPr>
              <a:solidFill>
                <a:srgbClr val="8A958F"/>
              </a:solidFill>
              <a:ln w="9525" cap="flat">
                <a:solidFill>
                  <a:srgbClr val="8A958F"/>
                </a:solidFill>
                <a:prstDash val="solid"/>
                <a:round/>
              </a:ln>
              <a:effectLst/>
            </c:spPr>
          </c:marker>
          <c:cat>
            <c:multiLvlStrRef>
              <c:f>Sheet1!$A$2:$A$4</c:f>
              <c:multiLvlStrCache>
                <c:ptCount val="3"/>
                <c:lvl>
                  <c:pt idx="0">
                    <c:v>100%</c:v>
                  </c:pt>
                  <c:pt idx="1">
                    <c:v>75%</c:v>
                  </c:pt>
                  <c:pt idx="2">
                    <c:v>50%</c:v>
                  </c:pt>
                </c:lvl>
              </c:multiLvlStrCache>
            </c:multiLvlStrRef>
          </c:cat>
          <c:val>
            <c:numRef>
              <c:f>Sheet1!$C$2:$C$4</c:f>
              <c:numCache>
                <c:formatCode>General</c:formatCode>
                <c:ptCount val="3"/>
                <c:pt idx="0">
                  <c:v>71.4</c:v>
                </c:pt>
                <c:pt idx="1">
                  <c:v>54.3</c:v>
                </c:pt>
                <c:pt idx="2">
                  <c:v>40.2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300" b="0" i="0" u="none" strike="noStrike">
                    <a:solidFill>
                      <a:srgbClr val="4A5751"/>
                    </a:solidFill>
                    <a:latin typeface="Calibri"/>
                  </a:defRPr>
                </a:pPr>
                <a:r>
                  <a:rPr sz="1300" b="0" i="0" u="none" strike="noStrike">
                    <a:solidFill>
                      <a:srgbClr val="4A5751"/>
                    </a:solidFill>
                    <a:latin typeface="Calibri"/>
                  </a:rPr>
                  <a:t>Share of the operator's answers that are right (the rest are random)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4A5751"/>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1E0D9"/>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B8781"/>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4A5751"/>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Correct</c:v>
                </c:pt>
              </c:strCache>
            </c:strRef>
          </c:tx>
          <c:spPr>
            <a:solidFill>
              <a:srgbClr val="0CA30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Board clutter (15 pads)</c:v>
                  </c:pt>
                  <c:pt idx="1">
                    <c:v>Glare (+180 grey levels)</c:v>
                  </c:pt>
                  <c:pt idx="2">
                    <c:v>Blur (σ 7 px)</c:v>
                  </c:pt>
                  <c:pt idx="3">
                    <c:v>Zoomed 1.6×</c:v>
                  </c:pt>
                  <c:pt idx="4">
                    <c:v>Phone photo on a desk, 9% tilt</c:v>
                  </c:pt>
                  <c:pt idx="5">
                    <c:v>JPEG quality 5</c:v>
                  </c:pt>
                  <c:pt idx="6">
                    <c:v>Sensor noise (σ 56)</c:v>
                  </c:pt>
                  <c:pt idx="7">
                    <c:v>Undamaged</c:v>
                  </c:pt>
                </c:lvl>
              </c:multiLvlStrCache>
            </c:multiLvlStrRef>
          </c:cat>
          <c:val>
            <c:numRef>
              <c:f>Sheet1!$B$2:$B$9</c:f>
              <c:numCache>
                <c:formatCode>General</c:formatCode>
                <c:ptCount val="8"/>
                <c:pt idx="0">
                  <c:v>29</c:v>
                </c:pt>
                <c:pt idx="1">
                  <c:v>1</c:v>
                </c:pt>
                <c:pt idx="2">
                  <c:v>68</c:v>
                </c:pt>
                <c:pt idx="3">
                  <c:v>89</c:v>
                </c:pt>
                <c:pt idx="4">
                  <c:v>89</c:v>
                </c:pt>
                <c:pt idx="5">
                  <c:v>89</c:v>
                </c:pt>
                <c:pt idx="6">
                  <c:v>89</c:v>
                </c:pt>
                <c:pt idx="7">
                  <c:v>89</c:v>
                </c:pt>
              </c:numCache>
            </c:numRef>
          </c:val>
        </c:ser>
        <c:ser>
          <c:idx val="1"/>
          <c:order val="1"/>
          <c:tx>
            <c:strRef>
              <c:f>Sheet1!$C$1</c:f>
              <c:strCache>
                <c:ptCount val="1"/>
                <c:pt idx="0">
                  <c:v>Refused (safe)</c:v>
                </c:pt>
              </c:strCache>
            </c:strRef>
          </c:tx>
          <c:spPr>
            <a:solidFill>
              <a:srgbClr val="B9B8B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Board clutter (15 pads)</c:v>
                  </c:pt>
                  <c:pt idx="1">
                    <c:v>Glare (+180 grey levels)</c:v>
                  </c:pt>
                  <c:pt idx="2">
                    <c:v>Blur (σ 7 px)</c:v>
                  </c:pt>
                  <c:pt idx="3">
                    <c:v>Zoomed 1.6×</c:v>
                  </c:pt>
                  <c:pt idx="4">
                    <c:v>Phone photo on a desk, 9% tilt</c:v>
                  </c:pt>
                  <c:pt idx="5">
                    <c:v>JPEG quality 5</c:v>
                  </c:pt>
                  <c:pt idx="6">
                    <c:v>Sensor noise (σ 56)</c:v>
                  </c:pt>
                  <c:pt idx="7">
                    <c:v>Undamaged</c:v>
                  </c:pt>
                </c:lvl>
              </c:multiLvlStrCache>
            </c:multiLvlStrRef>
          </c:cat>
          <c:val>
            <c:numRef>
              <c:f>Sheet1!$C$2:$C$9</c:f>
              <c:numCache>
                <c:formatCode>General</c:formatCode>
                <c:ptCount val="8"/>
                <c:pt idx="0">
                  <c:v>57</c:v>
                </c:pt>
                <c:pt idx="1">
                  <c:v>97</c:v>
                </c:pt>
                <c:pt idx="2">
                  <c:v>0</c:v>
                </c:pt>
                <c:pt idx="3">
                  <c:v>0</c:v>
                </c:pt>
                <c:pt idx="4">
                  <c:v>0</c:v>
                </c:pt>
                <c:pt idx="5">
                  <c:v>0</c:v>
                </c:pt>
                <c:pt idx="6">
                  <c:v>0</c:v>
                </c:pt>
                <c:pt idx="7">
                  <c:v>0</c:v>
                </c:pt>
              </c:numCache>
            </c:numRef>
          </c:val>
        </c:ser>
        <c:ser>
          <c:idx val="2"/>
          <c:order val="2"/>
          <c:tx>
            <c:strRef>
              <c:f>Sheet1!$D$1</c:f>
              <c:strCache>
                <c:ptCount val="1"/>
                <c:pt idx="0">
                  <c:v>Missed</c:v>
                </c:pt>
              </c:strCache>
            </c:strRef>
          </c:tx>
          <c:spPr>
            <a:solidFill>
              <a:srgbClr val="FAB21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Board clutter (15 pads)</c:v>
                  </c:pt>
                  <c:pt idx="1">
                    <c:v>Glare (+180 grey levels)</c:v>
                  </c:pt>
                  <c:pt idx="2">
                    <c:v>Blur (σ 7 px)</c:v>
                  </c:pt>
                  <c:pt idx="3">
                    <c:v>Zoomed 1.6×</c:v>
                  </c:pt>
                  <c:pt idx="4">
                    <c:v>Phone photo on a desk, 9% tilt</c:v>
                  </c:pt>
                  <c:pt idx="5">
                    <c:v>JPEG quality 5</c:v>
                  </c:pt>
                  <c:pt idx="6">
                    <c:v>Sensor noise (σ 56)</c:v>
                  </c:pt>
                  <c:pt idx="7">
                    <c:v>Undamaged</c:v>
                  </c:pt>
                </c:lvl>
              </c:multiLvlStrCache>
            </c:multiLvlStrRef>
          </c:cat>
          <c:val>
            <c:numRef>
              <c:f>Sheet1!$D$2:$D$9</c:f>
              <c:numCache>
                <c:formatCode>General</c:formatCode>
                <c:ptCount val="8"/>
                <c:pt idx="0">
                  <c:v>5</c:v>
                </c:pt>
                <c:pt idx="1">
                  <c:v>2</c:v>
                </c:pt>
                <c:pt idx="2">
                  <c:v>32</c:v>
                </c:pt>
                <c:pt idx="3">
                  <c:v>11</c:v>
                </c:pt>
                <c:pt idx="4">
                  <c:v>11</c:v>
                </c:pt>
                <c:pt idx="5">
                  <c:v>11</c:v>
                </c:pt>
                <c:pt idx="6">
                  <c:v>11</c:v>
                </c:pt>
                <c:pt idx="7">
                  <c:v>11</c:v>
                </c:pt>
              </c:numCache>
            </c:numRef>
          </c:val>
        </c:ser>
        <c:ser>
          <c:idx val="3"/>
          <c:order val="3"/>
          <c:tx>
            <c:strRef>
              <c:f>Sheet1!$E$1</c:f>
              <c:strCache>
                <c:ptCount val="1"/>
                <c:pt idx="0">
                  <c:v>False alarm</c:v>
                </c:pt>
              </c:strCache>
            </c:strRef>
          </c:tx>
          <c:spPr>
            <a:solidFill>
              <a:srgbClr val="D03B3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Board clutter (15 pads)</c:v>
                  </c:pt>
                  <c:pt idx="1">
                    <c:v>Glare (+180 grey levels)</c:v>
                  </c:pt>
                  <c:pt idx="2">
                    <c:v>Blur (σ 7 px)</c:v>
                  </c:pt>
                  <c:pt idx="3">
                    <c:v>Zoomed 1.6×</c:v>
                  </c:pt>
                  <c:pt idx="4">
                    <c:v>Phone photo on a desk, 9% tilt</c:v>
                  </c:pt>
                  <c:pt idx="5">
                    <c:v>JPEG quality 5</c:v>
                  </c:pt>
                  <c:pt idx="6">
                    <c:v>Sensor noise (σ 56)</c:v>
                  </c:pt>
                  <c:pt idx="7">
                    <c:v>Undamaged</c:v>
                  </c:pt>
                </c:lvl>
              </c:multiLvlStrCache>
            </c:multiLvlStrRef>
          </c:cat>
          <c:val>
            <c:numRef>
              <c:f>Sheet1!$E$2:$E$9</c:f>
              <c:numCache>
                <c:formatCode>General</c:formatCode>
                <c:ptCount val="8"/>
                <c:pt idx="0">
                  <c:v>9</c:v>
                </c:pt>
                <c:pt idx="1">
                  <c:v>0</c:v>
                </c:pt>
                <c:pt idx="2">
                  <c:v>0</c:v>
                </c:pt>
                <c:pt idx="3">
                  <c:v>0</c:v>
                </c:pt>
                <c:pt idx="4">
                  <c:v>0</c:v>
                </c:pt>
                <c:pt idx="5">
                  <c:v>0</c:v>
                </c:pt>
                <c:pt idx="6">
                  <c:v>0</c:v>
                </c:pt>
                <c:pt idx="7">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4A5751"/>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4A5751"/>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s. Good morning. We're Team Lithium, three of us from Universiti Sains Malaysia, and we took NSW Automation's challenge all the way: the five core steps, the dynamic-questions bonus, and all four bonus challenges. That's a phone photo of a part lying on a desk. The system lines the recipe up with it and reads the pattern: three missing deposits, each one followed by an oversized one. That's carryover.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s. When dots come out wrong, an experienced engineer knows where to look. A new technician doesn't — inconsistent size alone has five plausible causes, and a wrong guess can mean stripping a valve for a whole shift. So people change three things at once. The defect goes away, and nobody can say which change fixed it — the next case starts from zero. Meanwhile what the senior engineer knows is written down nowhere the next case can reach. And a confidence score an engineer can't check is a score they'll ignore.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 s. One guided session does the whole thing. The operator photographs the deposits — any framing, phone in hand. Five questions. Then up to two follow-ups, and each follow-up is chosen because its answer would move the ranking most. Seven causes come back ranked, every percentage built from reasons you can read. The operator looks first, changes one thing, and the ranking updates live. A fresh photo verifies the fix. What that enables: a new technician's first check is ranked, with reasons, instead of a hunch. Every case leaves an audit-ready PDF. Only fixes that were actually proved become precedent. And it runs offline on a line PC — a phone camera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Three parts make that work. A knowledge database — seven causes and forty-two weighted rules, every one citing NPL's Best Practice Guide by section and page. A dual-brain ranking system: pass one is a deterministic rule engine that does the arithmetic in log-odds and sets every percentage; pass two is an LLM critic that reads the same evidence and can disagree. When they disagree we drop the confidence tier and say so, instead of hiding the split — the language model never sets a number. And a senior-engineer feedback loop: the operator escalates, the senior answers inside the case and can change a rule's weight, with a reason. We measured this rather than asserting it: with three or more reasons behind it the top cause is right 96 percent of the time; with one, 48 — a coin flip. And precedent can only lower confidence, never raise it, so the system can't talk itself into being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s. Declared under rule c.2. The knowledge is NPL Report MATC(A)82, Crown copyright, cited on screen wherever it's used. Groq runs the optional LLM. FastAPI, Next.js, OpenCV. Everything else is ours — the fault tree, the two-pass ranking, the gates, the close rule, the photo registration, the metrology. No model was trained or fine-tuned, and the vision uses no training data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s. What it doesn't do. NSW had no production photos to give us, so every threshold is tuned on synthetic images — validating on real ones is step one of a pilot. That's our biggest gap, and we'd rather say it than have you find it. Seven causes: anything outside them is reported as 'no cause ahead' and escalated, not guessed. On a busy board, a trace touching a deposit can still read as a bad shape. And measurements are in pixels, not microns.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s. That's the system. Let me show you one case, from a phone photo to a confirmed fix. [Switch to the browser — don't read this slide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'how accurate is it?'. Three or more reasons → 96% correct; one reason → 48%, a coin flip.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'does it work on a real photo?'. Our own stress test found it only measured recipe-framed photos; registration fixed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'how do you know a fix worked?'. When a case closes it gets a verdict. CONFIRMED needs all five: a check confirmed one cause, exactly one change was made and aimed at it, the photo was re-measured against a before photo, it came back in spec, and it held for twenty shots. Anything less is PLAUSIBLE or UNVERIFIED, and the record names what's missing, like 'three things changed at once, no way to say which one worked'. Only CONFIRMED cases become precedent, so a guess never gets taught to the system. T1 is how sure the ranking is; CONFIRMED is proof the fix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'how is confidence decided?' and 'what if the AI disagrees?'. The tier tells the operator how far to trust the ranking. First: if a check on the machine confirmed the top cause, it's T1, because a test outweighs a reading of the evidence. Otherwise T1 needs three things: Brain 2 has no objection, the measured pattern beats chance, and at least three matching confirmed cases back it, with none disagreeing. If anything is missing it's T2, provisional, and the screen says what's missing. If Brain 2 objects, it's T3 when the measurement still backs Brain 1, or T4 when nothing separates the two, and then it shows the check that settles it instead of picking one. Agreement never raises a tier: two readers can make the same mistake. No LLM key means Brain 2 doesn't run, which counts as no objection, not agreement. Gate B can also lower the leader's score, by up to 0.4 log-odds, when more than half of the matching confirmed cases disagree; it never raises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'what does the photo add?' and 'what if the operator answers badly?'.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'what if the photo is bad?'. 20 images per condition per level, 6,000 damaged photos in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'could NSW actually deploy this?' and feasibility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'is that score how sure it is?' and 'what's the difference between the score, the tier and the verdict?'. Three different questions. The quality score rates the dots in the photo. The tier says how far to trust the ranking. The verdict says whether the fix was proved when the case closed. None is computed from another, and T1 is not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Bonus 2 and 'why don't I see the quality score?'. It rates the dots in the photo on four things: present, right size, round, in the right place. Each gets stars, and a single failure always costs a star. The overall score is the share of dots that pass all four: here 3 of 15, so 20 out of 100. Every number is a count you can check on the annotated photo: count the green rings. It rates the dispensing, not the diagnosis; how far to trust the diagnosis is the tier's job. It only shows when the photo passes the quality check and the job has a recipe.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2E"/>
        </a:solidFill>
      </p:bgPr>
    </p:bg>
    <p:spTree>
      <p:nvGrpSpPr>
        <p:cNvPr id="1" name=""/>
        <p:cNvGrpSpPr/>
        <p:nvPr/>
      </p:nvGrpSpPr>
      <p:grpSpPr>
        <a:xfrm>
          <a:off x="0" y="0"/>
          <a:ext cx="0" cy="0"/>
          <a:chOff x="0" y="0"/>
          <a:chExt cx="0" cy="0"/>
        </a:xfrm>
      </p:grpSpPr>
      <p:sp>
        <p:nvSpPr>
          <p:cNvPr id="2" name="Text 0"/>
          <p:cNvSpPr txBox="1"/>
          <p:nvPr/>
        </p:nvSpPr>
        <p:spPr>
          <a:xfrm>
            <a:off x="640080" y="640080"/>
            <a:ext cx="5852160" cy="274320"/>
          </a:xfrm>
          <a:prstGeom prst="rect">
            <a:avLst/>
          </a:prstGeom>
          <a:noFill/>
          <a:ln/>
        </p:spPr>
        <p:txBody>
          <a:bodyPr wrap="square" lIns="0" tIns="0" rIns="0" bIns="0" rtlCol="0" anchor="ctr"/>
          <a:lstStyle/>
          <a:p>
            <a:pPr indent="0" marL="0">
              <a:buNone/>
            </a:pPr>
            <a:r>
              <a:rPr lang="en-US" sz="1100" b="1" spc="200" kern="0" dirty="0">
                <a:solidFill>
                  <a:srgbClr val="9CC9B1"/>
                </a:solidFill>
                <a:latin typeface="Calibri" pitchFamily="34" charset="0"/>
                <a:ea typeface="Calibri" pitchFamily="34" charset="-122"/>
                <a:cs typeface="Calibri" pitchFamily="34" charset="-120"/>
              </a:rPr>
              <a:t>AI HORIZON 2026  ·  CHALLENGE 2  ·  NSW AUTOMATION</a:t>
            </a:r>
            <a:endParaRPr lang="en-US" sz="1100" dirty="0"/>
          </a:p>
        </p:txBody>
      </p:sp>
      <p:sp>
        <p:nvSpPr>
          <p:cNvPr id="3" name="Text 1"/>
          <p:cNvSpPr txBox="1"/>
          <p:nvPr/>
        </p:nvSpPr>
        <p:spPr>
          <a:xfrm>
            <a:off x="640080" y="1097280"/>
            <a:ext cx="5669280" cy="178308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AI Dispensing</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Defect Detective</a:t>
            </a:r>
            <a:endParaRPr lang="en-US" sz="4600" dirty="0"/>
          </a:p>
        </p:txBody>
      </p:sp>
      <p:sp>
        <p:nvSpPr>
          <p:cNvPr id="4" name="Text 2"/>
          <p:cNvSpPr txBox="1"/>
          <p:nvPr/>
        </p:nvSpPr>
        <p:spPr>
          <a:xfrm>
            <a:off x="640080" y="3017520"/>
            <a:ext cx="5394960" cy="960120"/>
          </a:xfrm>
          <a:prstGeom prst="rect">
            <a:avLst/>
          </a:prstGeom>
          <a:noFill/>
          <a:ln/>
        </p:spPr>
        <p:txBody>
          <a:bodyPr wrap="square" lIns="0" tIns="0" rIns="0" bIns="0" rtlCol="0" anchor="t"/>
          <a:lstStyle/>
          <a:p>
            <a:pPr indent="0" marL="0">
              <a:buNone/>
            </a:pPr>
            <a:r>
              <a:rPr lang="en-US" sz="1900" dirty="0">
                <a:solidFill>
                  <a:srgbClr val="D6E8DE"/>
                </a:solidFill>
                <a:latin typeface="Calibri" pitchFamily="34" charset="0"/>
                <a:ea typeface="Calibri" pitchFamily="34" charset="-122"/>
                <a:cs typeface="Calibri" pitchFamily="34" charset="-120"/>
              </a:rPr>
              <a:t>A phone photo and five questions → the likely cause, the reasons behind it, and what to check first.</a:t>
            </a:r>
            <a:endParaRPr lang="en-US" sz="1900" dirty="0"/>
          </a:p>
        </p:txBody>
      </p:sp>
      <p:sp>
        <p:nvSpPr>
          <p:cNvPr id="5" name="Text 3"/>
          <p:cNvSpPr txBox="1"/>
          <p:nvPr/>
        </p:nvSpPr>
        <p:spPr>
          <a:xfrm>
            <a:off x="640080" y="4023360"/>
            <a:ext cx="5394960" cy="640080"/>
          </a:xfrm>
          <a:prstGeom prst="rect">
            <a:avLst/>
          </a:prstGeom>
          <a:noFill/>
          <a:ln/>
        </p:spPr>
        <p:txBody>
          <a:bodyPr wrap="square" lIns="0" tIns="0" rIns="0" bIns="0" rtlCol="0" anchor="t"/>
          <a:lstStyle/>
          <a:p>
            <a:pPr indent="0" marL="0">
              <a:buNone/>
            </a:pPr>
            <a:r>
              <a:rPr lang="en-US" sz="1700" i="1" dirty="0">
                <a:solidFill>
                  <a:srgbClr val="E9B07C"/>
                </a:solidFill>
                <a:latin typeface="Calibri" pitchFamily="34" charset="0"/>
                <a:ea typeface="Calibri" pitchFamily="34" charset="-122"/>
                <a:cs typeface="Calibri" pitchFamily="34" charset="-120"/>
              </a:rPr>
              <a:t>And a case history that only learns from fixes that were proved.</a:t>
            </a:r>
            <a:endParaRPr lang="en-US" sz="1700" dirty="0"/>
          </a:p>
        </p:txBody>
      </p:sp>
      <p:sp>
        <p:nvSpPr>
          <p:cNvPr id="6" name="Shape 4"/>
          <p:cNvSpPr/>
          <p:nvPr/>
        </p:nvSpPr>
        <p:spPr>
          <a:xfrm>
            <a:off x="640080" y="4846320"/>
            <a:ext cx="5577840" cy="566928"/>
          </a:xfrm>
          <a:prstGeom prst="roundRect">
            <a:avLst>
              <a:gd name="adj" fmla="val 50000"/>
            </a:avLst>
          </a:prstGeom>
          <a:solidFill>
            <a:srgbClr val="1F7A4D"/>
          </a:solidFill>
          <a:ln w="12700">
            <a:solidFill>
              <a:srgbClr val="1F7A4D"/>
            </a:solidFill>
            <a:prstDash val="solid"/>
          </a:ln>
        </p:spPr>
      </p:sp>
      <p:sp>
        <p:nvSpPr>
          <p:cNvPr id="7" name="Text 5"/>
          <p:cNvSpPr txBox="1"/>
          <p:nvPr/>
        </p:nvSpPr>
        <p:spPr>
          <a:xfrm>
            <a:off x="640080" y="4846320"/>
            <a:ext cx="557784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All 5 steps  ·  dynamic questions  ·  all 4 bonus challenges</a:t>
            </a:r>
            <a:endParaRPr lang="en-US" sz="1500" dirty="0"/>
          </a:p>
        </p:txBody>
      </p:sp>
      <p:sp>
        <p:nvSpPr>
          <p:cNvPr id="8" name="Text 6"/>
          <p:cNvSpPr txBox="1"/>
          <p:nvPr/>
        </p:nvSpPr>
        <p:spPr>
          <a:xfrm>
            <a:off x="640080" y="5715000"/>
            <a:ext cx="5577840" cy="320040"/>
          </a:xfrm>
          <a:prstGeom prst="rect">
            <a:avLst/>
          </a:prstGeom>
          <a:noFill/>
          <a:ln/>
        </p:spPr>
        <p:txBody>
          <a:bodyPr wrap="square" lIns="0" tIns="0" rIns="0" bIns="0" rtlCol="0" anchor="ctr"/>
          <a:lstStyle/>
          <a:p>
            <a:pPr indent="0" marL="0">
              <a:buNone/>
            </a:pPr>
            <a:r>
              <a:rPr lang="en-US" sz="1500" dirty="0">
                <a:solidFill>
                  <a:srgbClr val="9CC9B1"/>
                </a:solidFill>
                <a:latin typeface="Calibri" pitchFamily="34" charset="0"/>
                <a:ea typeface="Calibri" pitchFamily="34" charset="-122"/>
                <a:cs typeface="Calibri" pitchFamily="34" charset="-120"/>
              </a:rPr>
              <a:t>Team Lithium  ·  Universiti Sains Malaysia</a:t>
            </a:r>
            <a:endParaRPr lang="en-US" sz="1500" dirty="0"/>
          </a:p>
        </p:txBody>
      </p:sp>
      <p:pic>
        <p:nvPicPr>
          <p:cNvPr id="9" name="Image 0" descr="/home/calvinkhoo/Documents/GitHub/AiHorizon/docs/final/deck/assets/phone_annotated_slide.png">    </p:cNvPr>
          <p:cNvPicPr>
            <a:picLocks noChangeAspect="1"/>
          </p:cNvPicPr>
          <p:nvPr/>
        </p:nvPicPr>
        <p:blipFill>
          <a:blip r:embed="rId1"/>
          <a:stretch>
            <a:fillRect/>
          </a:stretch>
        </p:blipFill>
        <p:spPr>
          <a:xfrm>
            <a:off x="6355080" y="960120"/>
            <a:ext cx="5303520" cy="3776472"/>
          </a:xfrm>
          <a:prstGeom prst="rect">
            <a:avLst/>
          </a:prstGeom>
          <a:effectLst>
            <a:outerShdw sx="100000" sy="100000" kx="0" ky="0" algn="bl" rotWithShape="0" blurRad="127000" dist="25400" dir="5400000">
              <a:srgbClr val="000000">
                <a:alpha val="16000"/>
              </a:srgbClr>
            </a:outerShdw>
          </a:effectLst>
        </p:spPr>
      </p:pic>
      <p:sp>
        <p:nvSpPr>
          <p:cNvPr id="10" name="Text 7"/>
          <p:cNvSpPr txBox="1"/>
          <p:nvPr/>
        </p:nvSpPr>
        <p:spPr>
          <a:xfrm>
            <a:off x="6355080" y="4864608"/>
            <a:ext cx="5303520" cy="731520"/>
          </a:xfrm>
          <a:prstGeom prst="rect">
            <a:avLst/>
          </a:prstGeom>
          <a:noFill/>
          <a:ln/>
        </p:spPr>
        <p:txBody>
          <a:bodyPr wrap="square" lIns="0" tIns="0" rIns="0" bIns="0" rtlCol="0" anchor="t"/>
          <a:lstStyle/>
          <a:p>
            <a:pPr indent="0" marL="0">
              <a:buNone/>
            </a:pPr>
            <a:r>
              <a:rPr lang="en-US" sz="1200" dirty="0">
                <a:solidFill>
                  <a:srgbClr val="9CC9B1"/>
                </a:solidFill>
                <a:latin typeface="Calibri" pitchFamily="34" charset="0"/>
                <a:ea typeface="Calibri" pitchFamily="34" charset="-122"/>
                <a:cs typeface="Calibri" pitchFamily="34" charset="-120"/>
              </a:rPr>
              <a:t>A phone photo of a printed sample card, lying on a desk. Each missing deposit is followed by an oversized one: the system reads carryover, p = 0.010.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C8742B"/>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658368"/>
            <a:ext cx="11094415" cy="1005840"/>
          </a:xfrm>
          <a:prstGeom prst="rect">
            <a:avLst/>
          </a:prstGeom>
          <a:noFill/>
          <a:ln/>
        </p:spPr>
        <p:txBody>
          <a:bodyPr wrap="square" lIns="0" tIns="0" rIns="0" bIns="0" rtlCol="0" anchor="t">
            <a:normAutofit/>
          </a:bodyPr>
          <a:lstStyle/>
          <a:p>
            <a:pPr indent="0" marL="0">
              <a:buNone/>
            </a:pPr>
            <a:r>
              <a:rPr lang="en-US" sz="3000" b="1" dirty="0">
                <a:solidFill>
                  <a:srgbClr val="14201B"/>
                </a:solidFill>
                <a:latin typeface="Cambria" pitchFamily="34" charset="0"/>
                <a:ea typeface="Cambria" pitchFamily="34" charset="-122"/>
                <a:cs typeface="Cambria" pitchFamily="34" charset="-120"/>
              </a:rPr>
              <a:t>Dispensing defects are diagnosed by experience — and experience doesn't scale</a:t>
            </a:r>
            <a:endParaRPr lang="en-US" sz="3000" dirty="0"/>
          </a:p>
        </p:txBody>
      </p:sp>
      <p:sp>
        <p:nvSpPr>
          <p:cNvPr id="4" name="Shape 2"/>
          <p:cNvSpPr/>
          <p:nvPr/>
        </p:nvSpPr>
        <p:spPr>
          <a:xfrm>
            <a:off x="548640" y="1920240"/>
            <a:ext cx="2608783" cy="3611880"/>
          </a:xfrm>
          <a:prstGeom prst="roundRect">
            <a:avLst>
              <a:gd name="adj" fmla="val 4206"/>
            </a:avLst>
          </a:prstGeom>
          <a:solidFill>
            <a:srgbClr val="EEF5F1"/>
          </a:solidFill>
          <a:ln w="12700">
            <a:solidFill>
              <a:srgbClr val="EEF5F1"/>
            </a:solidFill>
            <a:prstDash val="solid"/>
          </a:ln>
        </p:spPr>
      </p:sp>
      <p:sp>
        <p:nvSpPr>
          <p:cNvPr id="5" name="Shape 3"/>
          <p:cNvSpPr/>
          <p:nvPr/>
        </p:nvSpPr>
        <p:spPr>
          <a:xfrm>
            <a:off x="841248" y="2212848"/>
            <a:ext cx="676656" cy="676656"/>
          </a:xfrm>
          <a:prstGeom prst="ellipse">
            <a:avLst/>
          </a:prstGeom>
          <a:solidFill>
            <a:srgbClr val="1F7A4D"/>
          </a:solidFill>
          <a:ln w="12700">
            <a:solidFill>
              <a:srgbClr val="1F7A4D"/>
            </a:solidFill>
            <a:prstDash val="solid"/>
          </a:ln>
        </p:spPr>
      </p:sp>
      <p:pic>
        <p:nvPicPr>
          <p:cNvPr id="6" name="Image 0" descr="preencoded.png">    </p:cNvPr>
          <p:cNvPicPr>
            <a:picLocks noChangeAspect="1"/>
          </p:cNvPicPr>
          <p:nvPr/>
        </p:nvPicPr>
        <p:blipFill>
          <a:blip r:embed="rId1"/>
          <a:stretch>
            <a:fillRect/>
          </a:stretch>
        </p:blipFill>
        <p:spPr>
          <a:xfrm>
            <a:off x="996879" y="2368479"/>
            <a:ext cx="365394" cy="365394"/>
          </a:xfrm>
          <a:prstGeom prst="rect">
            <a:avLst/>
          </a:prstGeom>
        </p:spPr>
      </p:pic>
      <p:sp>
        <p:nvSpPr>
          <p:cNvPr id="7" name="Text 4"/>
          <p:cNvSpPr txBox="1"/>
          <p:nvPr/>
        </p:nvSpPr>
        <p:spPr>
          <a:xfrm>
            <a:off x="841248" y="3035808"/>
            <a:ext cx="2023567" cy="713232"/>
          </a:xfrm>
          <a:prstGeom prst="rect">
            <a:avLst/>
          </a:prstGeom>
          <a:noFill/>
          <a:ln/>
        </p:spPr>
        <p:txBody>
          <a:bodyPr wrap="square" lIns="0" tIns="0" rIns="0" bIns="0" rtlCol="0" anchor="t"/>
          <a:lstStyle/>
          <a:p>
            <a:pPr indent="0" marL="0">
              <a:buNone/>
            </a:pPr>
            <a:r>
              <a:rPr lang="en-US" sz="1900" b="1" dirty="0">
                <a:solidFill>
                  <a:srgbClr val="14201B"/>
                </a:solidFill>
                <a:latin typeface="Calibri" pitchFamily="34" charset="0"/>
                <a:ea typeface="Calibri" pitchFamily="34" charset="-122"/>
                <a:cs typeface="Calibri" pitchFamily="34" charset="-120"/>
              </a:rPr>
              <a:t>New technicians guess</a:t>
            </a:r>
            <a:endParaRPr lang="en-US" sz="1900" dirty="0"/>
          </a:p>
        </p:txBody>
      </p:sp>
      <p:sp>
        <p:nvSpPr>
          <p:cNvPr id="8" name="Text 5"/>
          <p:cNvSpPr txBox="1"/>
          <p:nvPr/>
        </p:nvSpPr>
        <p:spPr>
          <a:xfrm>
            <a:off x="841248" y="3785616"/>
            <a:ext cx="2023567" cy="1508760"/>
          </a:xfrm>
          <a:prstGeom prst="rect">
            <a:avLst/>
          </a:prstGeom>
          <a:noFill/>
          <a:ln/>
        </p:spPr>
        <p:txBody>
          <a:bodyPr wrap="square" lIns="0" tIns="0" rIns="0" bIns="0" rtlCol="0" anchor="t"/>
          <a:lstStyle/>
          <a:p>
            <a:pPr indent="0" marL="0">
              <a:buNone/>
            </a:pPr>
            <a:r>
              <a:rPr lang="en-US" sz="1400" dirty="0">
                <a:solidFill>
                  <a:srgbClr val="4A5751"/>
                </a:solidFill>
                <a:latin typeface="Calibri" pitchFamily="34" charset="0"/>
                <a:ea typeface="Calibri" pitchFamily="34" charset="-122"/>
                <a:cs typeface="Calibri" pitchFamily="34" charset="-120"/>
              </a:rPr>
              <a:t>Inconsistent size alone has five plausible causes. The first check becomes a hunch — and a wrong strip-down costs a shift.</a:t>
            </a:r>
            <a:endParaRPr lang="en-US" sz="1400" dirty="0"/>
          </a:p>
        </p:txBody>
      </p:sp>
      <p:sp>
        <p:nvSpPr>
          <p:cNvPr id="9" name="Shape 6"/>
          <p:cNvSpPr/>
          <p:nvPr/>
        </p:nvSpPr>
        <p:spPr>
          <a:xfrm>
            <a:off x="3376879" y="1920240"/>
            <a:ext cx="2608783" cy="3611880"/>
          </a:xfrm>
          <a:prstGeom prst="roundRect">
            <a:avLst>
              <a:gd name="adj" fmla="val 4206"/>
            </a:avLst>
          </a:prstGeom>
          <a:solidFill>
            <a:srgbClr val="EEF5F1"/>
          </a:solidFill>
          <a:ln w="12700">
            <a:solidFill>
              <a:srgbClr val="EEF5F1"/>
            </a:solidFill>
            <a:prstDash val="solid"/>
          </a:ln>
        </p:spPr>
      </p:sp>
      <p:sp>
        <p:nvSpPr>
          <p:cNvPr id="10" name="Shape 7"/>
          <p:cNvSpPr/>
          <p:nvPr/>
        </p:nvSpPr>
        <p:spPr>
          <a:xfrm>
            <a:off x="3669487" y="2212848"/>
            <a:ext cx="676656" cy="676656"/>
          </a:xfrm>
          <a:prstGeom prst="ellipse">
            <a:avLst/>
          </a:prstGeom>
          <a:solidFill>
            <a:srgbClr val="1F7A4D"/>
          </a:solidFill>
          <a:ln w="12700">
            <a:solidFill>
              <a:srgbClr val="1F7A4D"/>
            </a:solidFill>
            <a:prstDash val="solid"/>
          </a:ln>
        </p:spPr>
      </p:sp>
      <p:pic>
        <p:nvPicPr>
          <p:cNvPr id="11" name="Image 1" descr="preencoded.png">    </p:cNvPr>
          <p:cNvPicPr>
            <a:picLocks noChangeAspect="1"/>
          </p:cNvPicPr>
          <p:nvPr/>
        </p:nvPicPr>
        <p:blipFill>
          <a:blip r:embed="rId2"/>
          <a:stretch>
            <a:fillRect/>
          </a:stretch>
        </p:blipFill>
        <p:spPr>
          <a:xfrm>
            <a:off x="3825118" y="2368479"/>
            <a:ext cx="365394" cy="365394"/>
          </a:xfrm>
          <a:prstGeom prst="rect">
            <a:avLst/>
          </a:prstGeom>
        </p:spPr>
      </p:pic>
      <p:sp>
        <p:nvSpPr>
          <p:cNvPr id="12" name="Text 8"/>
          <p:cNvSpPr txBox="1"/>
          <p:nvPr/>
        </p:nvSpPr>
        <p:spPr>
          <a:xfrm>
            <a:off x="3669487" y="3035808"/>
            <a:ext cx="2023567" cy="713232"/>
          </a:xfrm>
          <a:prstGeom prst="rect">
            <a:avLst/>
          </a:prstGeom>
          <a:noFill/>
          <a:ln/>
        </p:spPr>
        <p:txBody>
          <a:bodyPr wrap="square" lIns="0" tIns="0" rIns="0" bIns="0" rtlCol="0" anchor="t"/>
          <a:lstStyle/>
          <a:p>
            <a:pPr indent="0" marL="0">
              <a:buNone/>
            </a:pPr>
            <a:r>
              <a:rPr lang="en-US" sz="1900" b="1" dirty="0">
                <a:solidFill>
                  <a:srgbClr val="14201B"/>
                </a:solidFill>
                <a:latin typeface="Calibri" pitchFamily="34" charset="0"/>
                <a:ea typeface="Calibri" pitchFamily="34" charset="-122"/>
                <a:cs typeface="Calibri" pitchFamily="34" charset="-120"/>
              </a:rPr>
              <a:t>Three changes at once</a:t>
            </a:r>
            <a:endParaRPr lang="en-US" sz="1900" dirty="0"/>
          </a:p>
        </p:txBody>
      </p:sp>
      <p:sp>
        <p:nvSpPr>
          <p:cNvPr id="13" name="Text 9"/>
          <p:cNvSpPr txBox="1"/>
          <p:nvPr/>
        </p:nvSpPr>
        <p:spPr>
          <a:xfrm>
            <a:off x="3669487" y="3785616"/>
            <a:ext cx="2023567" cy="1508760"/>
          </a:xfrm>
          <a:prstGeom prst="rect">
            <a:avLst/>
          </a:prstGeom>
          <a:noFill/>
          <a:ln/>
        </p:spPr>
        <p:txBody>
          <a:bodyPr wrap="square" lIns="0" tIns="0" rIns="0" bIns="0" rtlCol="0" anchor="t"/>
          <a:lstStyle/>
          <a:p>
            <a:pPr indent="0" marL="0">
              <a:buNone/>
            </a:pPr>
            <a:r>
              <a:rPr lang="en-US" sz="1400" dirty="0">
                <a:solidFill>
                  <a:srgbClr val="4A5751"/>
                </a:solidFill>
                <a:latin typeface="Calibri" pitchFamily="34" charset="0"/>
                <a:ea typeface="Calibri" pitchFamily="34" charset="-122"/>
                <a:cs typeface="Calibri" pitchFamily="34" charset="-120"/>
              </a:rPr>
              <a:t>Re-prime, raise the pressure, swap the needle. The defect goes away, and nobody can say which change did it.</a:t>
            </a:r>
            <a:endParaRPr lang="en-US" sz="1400" dirty="0"/>
          </a:p>
        </p:txBody>
      </p:sp>
      <p:sp>
        <p:nvSpPr>
          <p:cNvPr id="14" name="Shape 10"/>
          <p:cNvSpPr/>
          <p:nvPr/>
        </p:nvSpPr>
        <p:spPr>
          <a:xfrm>
            <a:off x="6205118" y="1920240"/>
            <a:ext cx="2608783" cy="3611880"/>
          </a:xfrm>
          <a:prstGeom prst="roundRect">
            <a:avLst>
              <a:gd name="adj" fmla="val 4206"/>
            </a:avLst>
          </a:prstGeom>
          <a:solidFill>
            <a:srgbClr val="EEF5F1"/>
          </a:solidFill>
          <a:ln w="12700">
            <a:solidFill>
              <a:srgbClr val="EEF5F1"/>
            </a:solidFill>
            <a:prstDash val="solid"/>
          </a:ln>
        </p:spPr>
      </p:sp>
      <p:sp>
        <p:nvSpPr>
          <p:cNvPr id="15" name="Shape 11"/>
          <p:cNvSpPr/>
          <p:nvPr/>
        </p:nvSpPr>
        <p:spPr>
          <a:xfrm>
            <a:off x="6497726" y="2212848"/>
            <a:ext cx="676656" cy="676656"/>
          </a:xfrm>
          <a:prstGeom prst="ellipse">
            <a:avLst/>
          </a:prstGeom>
          <a:solidFill>
            <a:srgbClr val="1F7A4D"/>
          </a:solidFill>
          <a:ln w="12700">
            <a:solidFill>
              <a:srgbClr val="1F7A4D"/>
            </a:solidFill>
            <a:prstDash val="solid"/>
          </a:ln>
        </p:spPr>
      </p:sp>
      <p:pic>
        <p:nvPicPr>
          <p:cNvPr id="16" name="Image 2" descr="preencoded.png">    </p:cNvPr>
          <p:cNvPicPr>
            <a:picLocks noChangeAspect="1"/>
          </p:cNvPicPr>
          <p:nvPr/>
        </p:nvPicPr>
        <p:blipFill>
          <a:blip r:embed="rId3"/>
          <a:stretch>
            <a:fillRect/>
          </a:stretch>
        </p:blipFill>
        <p:spPr>
          <a:xfrm>
            <a:off x="6653357" y="2368479"/>
            <a:ext cx="365394" cy="365394"/>
          </a:xfrm>
          <a:prstGeom prst="rect">
            <a:avLst/>
          </a:prstGeom>
        </p:spPr>
      </p:pic>
      <p:sp>
        <p:nvSpPr>
          <p:cNvPr id="17" name="Text 12"/>
          <p:cNvSpPr txBox="1"/>
          <p:nvPr/>
        </p:nvSpPr>
        <p:spPr>
          <a:xfrm>
            <a:off x="6497726" y="3035808"/>
            <a:ext cx="2023567" cy="713232"/>
          </a:xfrm>
          <a:prstGeom prst="rect">
            <a:avLst/>
          </a:prstGeom>
          <a:noFill/>
          <a:ln/>
        </p:spPr>
        <p:txBody>
          <a:bodyPr wrap="square" lIns="0" tIns="0" rIns="0" bIns="0" rtlCol="0" anchor="t"/>
          <a:lstStyle/>
          <a:p>
            <a:pPr indent="0" marL="0">
              <a:buNone/>
            </a:pPr>
            <a:r>
              <a:rPr lang="en-US" sz="1900" b="1" dirty="0">
                <a:solidFill>
                  <a:srgbClr val="14201B"/>
                </a:solidFill>
                <a:latin typeface="Calibri" pitchFamily="34" charset="0"/>
                <a:ea typeface="Calibri" pitchFamily="34" charset="-122"/>
                <a:cs typeface="Calibri" pitchFamily="34" charset="-120"/>
              </a:rPr>
              <a:t>Knowledge walks out</a:t>
            </a:r>
            <a:endParaRPr lang="en-US" sz="1900" dirty="0"/>
          </a:p>
        </p:txBody>
      </p:sp>
      <p:sp>
        <p:nvSpPr>
          <p:cNvPr id="18" name="Text 13"/>
          <p:cNvSpPr txBox="1"/>
          <p:nvPr/>
        </p:nvSpPr>
        <p:spPr>
          <a:xfrm>
            <a:off x="6497726" y="3785616"/>
            <a:ext cx="2023567" cy="1508760"/>
          </a:xfrm>
          <a:prstGeom prst="rect">
            <a:avLst/>
          </a:prstGeom>
          <a:noFill/>
          <a:ln/>
        </p:spPr>
        <p:txBody>
          <a:bodyPr wrap="square" lIns="0" tIns="0" rIns="0" bIns="0" rtlCol="0" anchor="t"/>
          <a:lstStyle/>
          <a:p>
            <a:pPr indent="0" marL="0">
              <a:buNone/>
            </a:pPr>
            <a:r>
              <a:rPr lang="en-US" sz="1400" dirty="0">
                <a:solidFill>
                  <a:srgbClr val="4A5751"/>
                </a:solidFill>
                <a:latin typeface="Calibri" pitchFamily="34" charset="0"/>
                <a:ea typeface="Calibri" pitchFamily="34" charset="-122"/>
                <a:cs typeface="Calibri" pitchFamily="34" charset="-120"/>
              </a:rPr>
              <a:t>What the senior engineer knows is written down nowhere the next case can reach.</a:t>
            </a:r>
            <a:endParaRPr lang="en-US" sz="1400" dirty="0"/>
          </a:p>
        </p:txBody>
      </p:sp>
      <p:sp>
        <p:nvSpPr>
          <p:cNvPr id="19" name="Shape 14"/>
          <p:cNvSpPr/>
          <p:nvPr/>
        </p:nvSpPr>
        <p:spPr>
          <a:xfrm>
            <a:off x="9033358" y="1920240"/>
            <a:ext cx="2608783" cy="3611880"/>
          </a:xfrm>
          <a:prstGeom prst="roundRect">
            <a:avLst>
              <a:gd name="adj" fmla="val 4206"/>
            </a:avLst>
          </a:prstGeom>
          <a:solidFill>
            <a:srgbClr val="EEF5F1"/>
          </a:solidFill>
          <a:ln w="12700">
            <a:solidFill>
              <a:srgbClr val="EEF5F1"/>
            </a:solidFill>
            <a:prstDash val="solid"/>
          </a:ln>
        </p:spPr>
      </p:sp>
      <p:sp>
        <p:nvSpPr>
          <p:cNvPr id="20" name="Shape 15"/>
          <p:cNvSpPr/>
          <p:nvPr/>
        </p:nvSpPr>
        <p:spPr>
          <a:xfrm>
            <a:off x="9325966" y="2212848"/>
            <a:ext cx="676656" cy="676656"/>
          </a:xfrm>
          <a:prstGeom prst="ellipse">
            <a:avLst/>
          </a:prstGeom>
          <a:solidFill>
            <a:srgbClr val="1F7A4D"/>
          </a:solidFill>
          <a:ln w="12700">
            <a:solidFill>
              <a:srgbClr val="1F7A4D"/>
            </a:solidFill>
            <a:prstDash val="solid"/>
          </a:ln>
        </p:spPr>
      </p:sp>
      <p:pic>
        <p:nvPicPr>
          <p:cNvPr id="21" name="Image 3" descr="preencoded.png">    </p:cNvPr>
          <p:cNvPicPr>
            <a:picLocks noChangeAspect="1"/>
          </p:cNvPicPr>
          <p:nvPr/>
        </p:nvPicPr>
        <p:blipFill>
          <a:blip r:embed="rId4"/>
          <a:stretch>
            <a:fillRect/>
          </a:stretch>
        </p:blipFill>
        <p:spPr>
          <a:xfrm>
            <a:off x="9481596" y="2368479"/>
            <a:ext cx="365394" cy="365394"/>
          </a:xfrm>
          <a:prstGeom prst="rect">
            <a:avLst/>
          </a:prstGeom>
        </p:spPr>
      </p:pic>
      <p:sp>
        <p:nvSpPr>
          <p:cNvPr id="22" name="Text 16"/>
          <p:cNvSpPr txBox="1"/>
          <p:nvPr/>
        </p:nvSpPr>
        <p:spPr>
          <a:xfrm>
            <a:off x="9325966" y="3035808"/>
            <a:ext cx="2023567" cy="713232"/>
          </a:xfrm>
          <a:prstGeom prst="rect">
            <a:avLst/>
          </a:prstGeom>
          <a:noFill/>
          <a:ln/>
        </p:spPr>
        <p:txBody>
          <a:bodyPr wrap="square" lIns="0" tIns="0" rIns="0" bIns="0" rtlCol="0" anchor="t"/>
          <a:lstStyle/>
          <a:p>
            <a:pPr indent="0" marL="0">
              <a:buNone/>
            </a:pPr>
            <a:r>
              <a:rPr lang="en-US" sz="1900" b="1" dirty="0">
                <a:solidFill>
                  <a:srgbClr val="14201B"/>
                </a:solidFill>
                <a:latin typeface="Calibri" pitchFamily="34" charset="0"/>
                <a:ea typeface="Calibri" pitchFamily="34" charset="-122"/>
                <a:cs typeface="Calibri" pitchFamily="34" charset="-120"/>
              </a:rPr>
              <a:t>A score nobody can check</a:t>
            </a:r>
            <a:endParaRPr lang="en-US" sz="1900" dirty="0"/>
          </a:p>
        </p:txBody>
      </p:sp>
      <p:sp>
        <p:nvSpPr>
          <p:cNvPr id="23" name="Text 17"/>
          <p:cNvSpPr txBox="1"/>
          <p:nvPr/>
        </p:nvSpPr>
        <p:spPr>
          <a:xfrm>
            <a:off x="9325966" y="3785616"/>
            <a:ext cx="2023567" cy="1508760"/>
          </a:xfrm>
          <a:prstGeom prst="rect">
            <a:avLst/>
          </a:prstGeom>
          <a:noFill/>
          <a:ln/>
        </p:spPr>
        <p:txBody>
          <a:bodyPr wrap="square" lIns="0" tIns="0" rIns="0" bIns="0" rtlCol="0" anchor="t"/>
          <a:lstStyle/>
          <a:p>
            <a:pPr indent="0" marL="0">
              <a:buNone/>
            </a:pPr>
            <a:r>
              <a:rPr lang="en-US" sz="1400" dirty="0">
                <a:solidFill>
                  <a:srgbClr val="4A5751"/>
                </a:solidFill>
                <a:latin typeface="Calibri" pitchFamily="34" charset="0"/>
                <a:ea typeface="Calibri" pitchFamily="34" charset="-122"/>
                <a:cs typeface="Calibri" pitchFamily="34" charset="-120"/>
              </a:rPr>
              <a:t>An engineer who can't see why a number says 85% won't act on it. Black-box confidence gets ignored on the line.</a:t>
            </a:r>
            <a:endParaRPr lang="en-US" sz="1400" dirty="0"/>
          </a:p>
        </p:txBody>
      </p:sp>
      <p:sp>
        <p:nvSpPr>
          <p:cNvPr id="24" name="Text 18"/>
          <p:cNvSpPr txBox="1"/>
          <p:nvPr/>
        </p:nvSpPr>
        <p:spPr>
          <a:xfrm>
            <a:off x="548640" y="5897880"/>
            <a:ext cx="11094415" cy="320040"/>
          </a:xfrm>
          <a:prstGeom prst="rect">
            <a:avLst/>
          </a:prstGeom>
          <a:noFill/>
          <a:ln/>
        </p:spPr>
        <p:txBody>
          <a:bodyPr wrap="square" lIns="0" tIns="0" rIns="0" bIns="0" rtlCol="0" anchor="b"/>
          <a:lstStyle/>
          <a:p>
            <a:pPr indent="0" marL="0">
              <a:buNone/>
            </a:pPr>
            <a:r>
              <a:rPr lang="en-US" sz="1100" i="1" dirty="0">
                <a:solidFill>
                  <a:srgbClr val="7B8781"/>
                </a:solidFill>
                <a:latin typeface="Calibri" pitchFamily="34" charset="0"/>
                <a:ea typeface="Calibri" pitchFamily="34" charset="-122"/>
                <a:cs typeface="Calibri" pitchFamily="34" charset="-120"/>
              </a:rPr>
              <a:t>NSW Automation's brief: help engineers and technicians perform faster preliminary troubleshooting — not replace them.</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C8742B"/>
                </a:solidFill>
                <a:latin typeface="Calibri" pitchFamily="34" charset="0"/>
                <a:ea typeface="Calibri" pitchFamily="34" charset="-122"/>
                <a:cs typeface="Calibri" pitchFamily="34" charset="-120"/>
              </a:rPr>
              <a:t>THE SOLUTION</a:t>
            </a:r>
            <a:endParaRPr lang="en-US" sz="1200" dirty="0"/>
          </a:p>
        </p:txBody>
      </p:sp>
      <p:sp>
        <p:nvSpPr>
          <p:cNvPr id="3" name="Text 1"/>
          <p:cNvSpPr txBox="1"/>
          <p:nvPr/>
        </p:nvSpPr>
        <p:spPr>
          <a:xfrm>
            <a:off x="548640" y="658368"/>
            <a:ext cx="11094415" cy="1005840"/>
          </a:xfrm>
          <a:prstGeom prst="rect">
            <a:avLst/>
          </a:prstGeom>
          <a:noFill/>
          <a:ln/>
        </p:spPr>
        <p:txBody>
          <a:bodyPr wrap="square" lIns="0" tIns="0" rIns="0" bIns="0" rtlCol="0" anchor="t">
            <a:normAutofit/>
          </a:bodyPr>
          <a:lstStyle/>
          <a:p>
            <a:pPr indent="0" marL="0">
              <a:buNone/>
            </a:pPr>
            <a:r>
              <a:rPr lang="en-US" sz="3000" b="1" dirty="0">
                <a:solidFill>
                  <a:srgbClr val="14201B"/>
                </a:solidFill>
                <a:latin typeface="Cambria" pitchFamily="34" charset="0"/>
                <a:ea typeface="Cambria" pitchFamily="34" charset="-122"/>
                <a:cs typeface="Cambria" pitchFamily="34" charset="-120"/>
              </a:rPr>
              <a:t>One guided session, from a phone photo to a proved fix</a:t>
            </a:r>
            <a:endParaRPr lang="en-US" sz="3000" dirty="0"/>
          </a:p>
        </p:txBody>
      </p:sp>
      <p:sp>
        <p:nvSpPr>
          <p:cNvPr id="4" name="Shape 2"/>
          <p:cNvSpPr/>
          <p:nvPr/>
        </p:nvSpPr>
        <p:spPr>
          <a:xfrm>
            <a:off x="2017243" y="2400300"/>
            <a:ext cx="760933" cy="0"/>
          </a:xfrm>
          <a:prstGeom prst="line">
            <a:avLst/>
          </a:prstGeom>
          <a:noFill/>
          <a:ln w="25400">
            <a:solidFill>
              <a:srgbClr val="6FB08C"/>
            </a:solidFill>
            <a:prstDash val="solid"/>
            <a:tailEnd type="triangle"/>
          </a:ln>
        </p:spPr>
      </p:sp>
      <p:sp>
        <p:nvSpPr>
          <p:cNvPr id="5" name="Shape 3"/>
          <p:cNvSpPr/>
          <p:nvPr/>
        </p:nvSpPr>
        <p:spPr>
          <a:xfrm>
            <a:off x="1038835" y="1965960"/>
            <a:ext cx="868680" cy="868680"/>
          </a:xfrm>
          <a:prstGeom prst="ellipse">
            <a:avLst/>
          </a:prstGeom>
          <a:solidFill>
            <a:srgbClr val="1F7A4D"/>
          </a:solidFill>
          <a:ln w="12700">
            <a:solidFill>
              <a:srgbClr val="1F7A4D"/>
            </a:solidFill>
            <a:prstDash val="solid"/>
          </a:ln>
        </p:spPr>
      </p:sp>
      <p:pic>
        <p:nvPicPr>
          <p:cNvPr id="6" name="Image 0" descr="preencoded.png">    </p:cNvPr>
          <p:cNvPicPr>
            <a:picLocks noChangeAspect="1"/>
          </p:cNvPicPr>
          <p:nvPr/>
        </p:nvPicPr>
        <p:blipFill>
          <a:blip r:embed="rId1"/>
          <a:stretch>
            <a:fillRect/>
          </a:stretch>
        </p:blipFill>
        <p:spPr>
          <a:xfrm>
            <a:off x="1238631" y="2165756"/>
            <a:ext cx="469087" cy="469087"/>
          </a:xfrm>
          <a:prstGeom prst="rect">
            <a:avLst/>
          </a:prstGeom>
        </p:spPr>
      </p:pic>
      <p:sp>
        <p:nvSpPr>
          <p:cNvPr id="7" name="Text 4"/>
          <p:cNvSpPr txBox="1"/>
          <p:nvPr/>
        </p:nvSpPr>
        <p:spPr>
          <a:xfrm>
            <a:off x="621792" y="3063240"/>
            <a:ext cx="1702765" cy="365760"/>
          </a:xfrm>
          <a:prstGeom prst="rect">
            <a:avLst/>
          </a:prstGeom>
          <a:noFill/>
          <a:ln/>
        </p:spPr>
        <p:txBody>
          <a:bodyPr wrap="square" lIns="0" tIns="0" rIns="0" bIns="0" rtlCol="0" anchor="ctr"/>
          <a:lstStyle/>
          <a:p>
            <a:pPr algn="ctr" indent="0" marL="0">
              <a:buNone/>
            </a:pPr>
            <a:r>
              <a:rPr lang="en-US" sz="1800" b="1" dirty="0">
                <a:solidFill>
                  <a:srgbClr val="14201B"/>
                </a:solidFill>
                <a:latin typeface="Calibri" pitchFamily="34" charset="0"/>
                <a:ea typeface="Calibri" pitchFamily="34" charset="-122"/>
                <a:cs typeface="Calibri" pitchFamily="34" charset="-120"/>
              </a:rPr>
              <a:t>1  Photograph</a:t>
            </a:r>
            <a:endParaRPr lang="en-US" sz="1800" dirty="0"/>
          </a:p>
        </p:txBody>
      </p:sp>
      <p:sp>
        <p:nvSpPr>
          <p:cNvPr id="8" name="Text 5"/>
          <p:cNvSpPr txBox="1"/>
          <p:nvPr/>
        </p:nvSpPr>
        <p:spPr>
          <a:xfrm>
            <a:off x="658368" y="3493008"/>
            <a:ext cx="1629613" cy="1280160"/>
          </a:xfrm>
          <a:prstGeom prst="rect">
            <a:avLst/>
          </a:prstGeom>
          <a:noFill/>
          <a:ln/>
        </p:spPr>
        <p:txBody>
          <a:bodyPr wrap="square" lIns="0" tIns="0" rIns="0" bIns="0" rtlCol="0" anchor="t"/>
          <a:lstStyle/>
          <a:p>
            <a:pPr algn="ctr" indent="0" marL="0">
              <a:buNone/>
            </a:pPr>
            <a:r>
              <a:rPr lang="en-US" sz="1350" dirty="0">
                <a:solidFill>
                  <a:srgbClr val="4A5751"/>
                </a:solidFill>
                <a:latin typeface="Calibri" pitchFamily="34" charset="0"/>
                <a:ea typeface="Calibri" pitchFamily="34" charset="-122"/>
                <a:cs typeface="Calibri" pitchFamily="34" charset="-120"/>
              </a:rPr>
              <a:t>Measures size spread, shape and missing dots — however the photo is framed</a:t>
            </a:r>
            <a:endParaRPr lang="en-US" sz="1350" dirty="0"/>
          </a:p>
        </p:txBody>
      </p:sp>
      <p:sp>
        <p:nvSpPr>
          <p:cNvPr id="9" name="Shape 6"/>
          <p:cNvSpPr/>
          <p:nvPr/>
        </p:nvSpPr>
        <p:spPr>
          <a:xfrm>
            <a:off x="3866312" y="2400300"/>
            <a:ext cx="760933" cy="0"/>
          </a:xfrm>
          <a:prstGeom prst="line">
            <a:avLst/>
          </a:prstGeom>
          <a:noFill/>
          <a:ln w="25400">
            <a:solidFill>
              <a:srgbClr val="6FB08C"/>
            </a:solidFill>
            <a:prstDash val="solid"/>
            <a:tailEnd type="triangle"/>
          </a:ln>
        </p:spPr>
      </p:sp>
      <p:sp>
        <p:nvSpPr>
          <p:cNvPr id="10" name="Shape 7"/>
          <p:cNvSpPr/>
          <p:nvPr/>
        </p:nvSpPr>
        <p:spPr>
          <a:xfrm>
            <a:off x="2887904" y="1965960"/>
            <a:ext cx="868680" cy="868680"/>
          </a:xfrm>
          <a:prstGeom prst="ellipse">
            <a:avLst/>
          </a:prstGeom>
          <a:solidFill>
            <a:srgbClr val="1F7A4D"/>
          </a:solidFill>
          <a:ln w="12700">
            <a:solidFill>
              <a:srgbClr val="1F7A4D"/>
            </a:solidFill>
            <a:prstDash val="solid"/>
          </a:ln>
        </p:spPr>
      </p:sp>
      <p:pic>
        <p:nvPicPr>
          <p:cNvPr id="11" name="Image 1" descr="preencoded.png">    </p:cNvPr>
          <p:cNvPicPr>
            <a:picLocks noChangeAspect="1"/>
          </p:cNvPicPr>
          <p:nvPr/>
        </p:nvPicPr>
        <p:blipFill>
          <a:blip r:embed="rId2"/>
          <a:stretch>
            <a:fillRect/>
          </a:stretch>
        </p:blipFill>
        <p:spPr>
          <a:xfrm>
            <a:off x="3087700" y="2165756"/>
            <a:ext cx="469087" cy="469087"/>
          </a:xfrm>
          <a:prstGeom prst="rect">
            <a:avLst/>
          </a:prstGeom>
        </p:spPr>
      </p:pic>
      <p:sp>
        <p:nvSpPr>
          <p:cNvPr id="12" name="Text 8"/>
          <p:cNvSpPr txBox="1"/>
          <p:nvPr/>
        </p:nvSpPr>
        <p:spPr>
          <a:xfrm>
            <a:off x="2470861" y="3063240"/>
            <a:ext cx="1702765" cy="365760"/>
          </a:xfrm>
          <a:prstGeom prst="rect">
            <a:avLst/>
          </a:prstGeom>
          <a:noFill/>
          <a:ln/>
        </p:spPr>
        <p:txBody>
          <a:bodyPr wrap="square" lIns="0" tIns="0" rIns="0" bIns="0" rtlCol="0" anchor="ctr"/>
          <a:lstStyle/>
          <a:p>
            <a:pPr algn="ctr" indent="0" marL="0">
              <a:buNone/>
            </a:pPr>
            <a:r>
              <a:rPr lang="en-US" sz="1800" b="1" dirty="0">
                <a:solidFill>
                  <a:srgbClr val="14201B"/>
                </a:solidFill>
                <a:latin typeface="Calibri" pitchFamily="34" charset="0"/>
                <a:ea typeface="Calibri" pitchFamily="34" charset="-122"/>
                <a:cs typeface="Calibri" pitchFamily="34" charset="-120"/>
              </a:rPr>
              <a:t>2  Interview</a:t>
            </a:r>
            <a:endParaRPr lang="en-US" sz="1800" dirty="0"/>
          </a:p>
        </p:txBody>
      </p:sp>
      <p:sp>
        <p:nvSpPr>
          <p:cNvPr id="13" name="Text 9"/>
          <p:cNvSpPr txBox="1"/>
          <p:nvPr/>
        </p:nvSpPr>
        <p:spPr>
          <a:xfrm>
            <a:off x="2507437" y="3493008"/>
            <a:ext cx="1629613" cy="1280160"/>
          </a:xfrm>
          <a:prstGeom prst="rect">
            <a:avLst/>
          </a:prstGeom>
          <a:noFill/>
          <a:ln/>
        </p:spPr>
        <p:txBody>
          <a:bodyPr wrap="square" lIns="0" tIns="0" rIns="0" bIns="0" rtlCol="0" anchor="t"/>
          <a:lstStyle/>
          <a:p>
            <a:pPr algn="ctr" indent="0" marL="0">
              <a:buNone/>
            </a:pPr>
            <a:r>
              <a:rPr lang="en-US" sz="1350" dirty="0">
                <a:solidFill>
                  <a:srgbClr val="4A5751"/>
                </a:solidFill>
                <a:latin typeface="Calibri" pitchFamily="34" charset="0"/>
                <a:ea typeface="Calibri" pitchFamily="34" charset="-122"/>
                <a:cs typeface="Calibri" pitchFamily="34" charset="-120"/>
              </a:rPr>
              <a:t>Five questions, then follow-ups picked because their answer changes the ranking</a:t>
            </a:r>
            <a:endParaRPr lang="en-US" sz="1350" dirty="0"/>
          </a:p>
        </p:txBody>
      </p:sp>
      <p:sp>
        <p:nvSpPr>
          <p:cNvPr id="14" name="Shape 10"/>
          <p:cNvSpPr/>
          <p:nvPr/>
        </p:nvSpPr>
        <p:spPr>
          <a:xfrm>
            <a:off x="5715381" y="2400300"/>
            <a:ext cx="760933" cy="0"/>
          </a:xfrm>
          <a:prstGeom prst="line">
            <a:avLst/>
          </a:prstGeom>
          <a:noFill/>
          <a:ln w="25400">
            <a:solidFill>
              <a:srgbClr val="6FB08C"/>
            </a:solidFill>
            <a:prstDash val="solid"/>
            <a:tailEnd type="triangle"/>
          </a:ln>
        </p:spPr>
      </p:sp>
      <p:sp>
        <p:nvSpPr>
          <p:cNvPr id="15" name="Shape 11"/>
          <p:cNvSpPr/>
          <p:nvPr/>
        </p:nvSpPr>
        <p:spPr>
          <a:xfrm>
            <a:off x="4736973" y="1965960"/>
            <a:ext cx="868680" cy="868680"/>
          </a:xfrm>
          <a:prstGeom prst="ellipse">
            <a:avLst/>
          </a:prstGeom>
          <a:solidFill>
            <a:srgbClr val="1F7A4D"/>
          </a:solidFill>
          <a:ln w="12700">
            <a:solidFill>
              <a:srgbClr val="1F7A4D"/>
            </a:solidFill>
            <a:prstDash val="solid"/>
          </a:ln>
        </p:spPr>
      </p:sp>
      <p:pic>
        <p:nvPicPr>
          <p:cNvPr id="16" name="Image 2" descr="preencoded.png">    </p:cNvPr>
          <p:cNvPicPr>
            <a:picLocks noChangeAspect="1"/>
          </p:cNvPicPr>
          <p:nvPr/>
        </p:nvPicPr>
        <p:blipFill>
          <a:blip r:embed="rId3"/>
          <a:stretch>
            <a:fillRect/>
          </a:stretch>
        </p:blipFill>
        <p:spPr>
          <a:xfrm>
            <a:off x="4936769" y="2165756"/>
            <a:ext cx="469087" cy="469087"/>
          </a:xfrm>
          <a:prstGeom prst="rect">
            <a:avLst/>
          </a:prstGeom>
        </p:spPr>
      </p:pic>
      <p:sp>
        <p:nvSpPr>
          <p:cNvPr id="17" name="Text 12"/>
          <p:cNvSpPr txBox="1"/>
          <p:nvPr/>
        </p:nvSpPr>
        <p:spPr>
          <a:xfrm>
            <a:off x="4319930" y="3063240"/>
            <a:ext cx="1702765" cy="365760"/>
          </a:xfrm>
          <a:prstGeom prst="rect">
            <a:avLst/>
          </a:prstGeom>
          <a:noFill/>
          <a:ln/>
        </p:spPr>
        <p:txBody>
          <a:bodyPr wrap="square" lIns="0" tIns="0" rIns="0" bIns="0" rtlCol="0" anchor="ctr"/>
          <a:lstStyle/>
          <a:p>
            <a:pPr algn="ctr" indent="0" marL="0">
              <a:buNone/>
            </a:pPr>
            <a:r>
              <a:rPr lang="en-US" sz="1800" b="1" dirty="0">
                <a:solidFill>
                  <a:srgbClr val="14201B"/>
                </a:solidFill>
                <a:latin typeface="Calibri" pitchFamily="34" charset="0"/>
                <a:ea typeface="Calibri" pitchFamily="34" charset="-122"/>
                <a:cs typeface="Calibri" pitchFamily="34" charset="-120"/>
              </a:rPr>
              <a:t>3  Rank</a:t>
            </a:r>
            <a:endParaRPr lang="en-US" sz="1800" dirty="0"/>
          </a:p>
        </p:txBody>
      </p:sp>
      <p:sp>
        <p:nvSpPr>
          <p:cNvPr id="18" name="Text 13"/>
          <p:cNvSpPr txBox="1"/>
          <p:nvPr/>
        </p:nvSpPr>
        <p:spPr>
          <a:xfrm>
            <a:off x="4356506" y="3493008"/>
            <a:ext cx="1629613" cy="1280160"/>
          </a:xfrm>
          <a:prstGeom prst="rect">
            <a:avLst/>
          </a:prstGeom>
          <a:noFill/>
          <a:ln/>
        </p:spPr>
        <p:txBody>
          <a:bodyPr wrap="square" lIns="0" tIns="0" rIns="0" bIns="0" rtlCol="0" anchor="t"/>
          <a:lstStyle/>
          <a:p>
            <a:pPr algn="ctr" indent="0" marL="0">
              <a:buNone/>
            </a:pPr>
            <a:r>
              <a:rPr lang="en-US" sz="1350" dirty="0">
                <a:solidFill>
                  <a:srgbClr val="4A5751"/>
                </a:solidFill>
                <a:latin typeface="Calibri" pitchFamily="34" charset="0"/>
                <a:ea typeface="Calibri" pitchFamily="34" charset="-122"/>
                <a:cs typeface="Calibri" pitchFamily="34" charset="-120"/>
              </a:rPr>
              <a:t>Seven causes from the manual — every % built from cited reasons</a:t>
            </a:r>
            <a:endParaRPr lang="en-US" sz="1350" dirty="0"/>
          </a:p>
        </p:txBody>
      </p:sp>
      <p:sp>
        <p:nvSpPr>
          <p:cNvPr id="19" name="Shape 14"/>
          <p:cNvSpPr/>
          <p:nvPr/>
        </p:nvSpPr>
        <p:spPr>
          <a:xfrm>
            <a:off x="7564450" y="2400300"/>
            <a:ext cx="760933" cy="0"/>
          </a:xfrm>
          <a:prstGeom prst="line">
            <a:avLst/>
          </a:prstGeom>
          <a:noFill/>
          <a:ln w="25400">
            <a:solidFill>
              <a:srgbClr val="6FB08C"/>
            </a:solidFill>
            <a:prstDash val="solid"/>
            <a:tailEnd type="triangle"/>
          </a:ln>
        </p:spPr>
      </p:sp>
      <p:sp>
        <p:nvSpPr>
          <p:cNvPr id="20" name="Shape 15"/>
          <p:cNvSpPr/>
          <p:nvPr/>
        </p:nvSpPr>
        <p:spPr>
          <a:xfrm>
            <a:off x="6586042" y="1965960"/>
            <a:ext cx="868680" cy="868680"/>
          </a:xfrm>
          <a:prstGeom prst="ellipse">
            <a:avLst/>
          </a:prstGeom>
          <a:solidFill>
            <a:srgbClr val="1F7A4D"/>
          </a:solidFill>
          <a:ln w="12700">
            <a:solidFill>
              <a:srgbClr val="1F7A4D"/>
            </a:solidFill>
            <a:prstDash val="solid"/>
          </a:ln>
        </p:spPr>
      </p:sp>
      <p:pic>
        <p:nvPicPr>
          <p:cNvPr id="21" name="Image 3" descr="preencoded.png">    </p:cNvPr>
          <p:cNvPicPr>
            <a:picLocks noChangeAspect="1"/>
          </p:cNvPicPr>
          <p:nvPr/>
        </p:nvPicPr>
        <p:blipFill>
          <a:blip r:embed="rId4"/>
          <a:stretch>
            <a:fillRect/>
          </a:stretch>
        </p:blipFill>
        <p:spPr>
          <a:xfrm>
            <a:off x="6785839" y="2165756"/>
            <a:ext cx="469087" cy="469087"/>
          </a:xfrm>
          <a:prstGeom prst="rect">
            <a:avLst/>
          </a:prstGeom>
        </p:spPr>
      </p:pic>
      <p:sp>
        <p:nvSpPr>
          <p:cNvPr id="22" name="Text 16"/>
          <p:cNvSpPr txBox="1"/>
          <p:nvPr/>
        </p:nvSpPr>
        <p:spPr>
          <a:xfrm>
            <a:off x="6169000" y="3063240"/>
            <a:ext cx="1702765" cy="365760"/>
          </a:xfrm>
          <a:prstGeom prst="rect">
            <a:avLst/>
          </a:prstGeom>
          <a:noFill/>
          <a:ln/>
        </p:spPr>
        <p:txBody>
          <a:bodyPr wrap="square" lIns="0" tIns="0" rIns="0" bIns="0" rtlCol="0" anchor="ctr"/>
          <a:lstStyle/>
          <a:p>
            <a:pPr algn="ctr" indent="0" marL="0">
              <a:buNone/>
            </a:pPr>
            <a:r>
              <a:rPr lang="en-US" sz="1800" b="1" dirty="0">
                <a:solidFill>
                  <a:srgbClr val="14201B"/>
                </a:solidFill>
                <a:latin typeface="Calibri" pitchFamily="34" charset="0"/>
                <a:ea typeface="Calibri" pitchFamily="34" charset="-122"/>
                <a:cs typeface="Calibri" pitchFamily="34" charset="-120"/>
              </a:rPr>
              <a:t>4  Check</a:t>
            </a:r>
            <a:endParaRPr lang="en-US" sz="1800" dirty="0"/>
          </a:p>
        </p:txBody>
      </p:sp>
      <p:sp>
        <p:nvSpPr>
          <p:cNvPr id="23" name="Text 17"/>
          <p:cNvSpPr txBox="1"/>
          <p:nvPr/>
        </p:nvSpPr>
        <p:spPr>
          <a:xfrm>
            <a:off x="6205576" y="3493008"/>
            <a:ext cx="1629613" cy="1280160"/>
          </a:xfrm>
          <a:prstGeom prst="rect">
            <a:avLst/>
          </a:prstGeom>
          <a:noFill/>
          <a:ln/>
        </p:spPr>
        <p:txBody>
          <a:bodyPr wrap="square" lIns="0" tIns="0" rIns="0" bIns="0" rtlCol="0" anchor="t"/>
          <a:lstStyle/>
          <a:p>
            <a:pPr algn="ctr" indent="0" marL="0">
              <a:buNone/>
            </a:pPr>
            <a:r>
              <a:rPr lang="en-US" sz="1350" dirty="0">
                <a:solidFill>
                  <a:srgbClr val="4A5751"/>
                </a:solidFill>
                <a:latin typeface="Calibri" pitchFamily="34" charset="0"/>
                <a:ea typeface="Calibri" pitchFamily="34" charset="-122"/>
                <a:cs typeface="Calibri" pitchFamily="34" charset="-120"/>
              </a:rPr>
              <a:t>Look first, then change one thing; the ranking updates live</a:t>
            </a:r>
            <a:endParaRPr lang="en-US" sz="1350" dirty="0"/>
          </a:p>
        </p:txBody>
      </p:sp>
      <p:sp>
        <p:nvSpPr>
          <p:cNvPr id="24" name="Shape 18"/>
          <p:cNvSpPr/>
          <p:nvPr/>
        </p:nvSpPr>
        <p:spPr>
          <a:xfrm>
            <a:off x="9413519" y="2400300"/>
            <a:ext cx="760933" cy="0"/>
          </a:xfrm>
          <a:prstGeom prst="line">
            <a:avLst/>
          </a:prstGeom>
          <a:noFill/>
          <a:ln w="25400">
            <a:solidFill>
              <a:srgbClr val="6FB08C"/>
            </a:solidFill>
            <a:prstDash val="solid"/>
            <a:tailEnd type="triangle"/>
          </a:ln>
        </p:spPr>
      </p:sp>
      <p:sp>
        <p:nvSpPr>
          <p:cNvPr id="25" name="Shape 19"/>
          <p:cNvSpPr/>
          <p:nvPr/>
        </p:nvSpPr>
        <p:spPr>
          <a:xfrm>
            <a:off x="8435111" y="1965960"/>
            <a:ext cx="868680" cy="868680"/>
          </a:xfrm>
          <a:prstGeom prst="ellipse">
            <a:avLst/>
          </a:prstGeom>
          <a:solidFill>
            <a:srgbClr val="1F7A4D"/>
          </a:solidFill>
          <a:ln w="12700">
            <a:solidFill>
              <a:srgbClr val="1F7A4D"/>
            </a:solidFill>
            <a:prstDash val="solid"/>
          </a:ln>
        </p:spPr>
      </p:sp>
      <p:pic>
        <p:nvPicPr>
          <p:cNvPr id="26" name="Image 4" descr="preencoded.png">    </p:cNvPr>
          <p:cNvPicPr>
            <a:picLocks noChangeAspect="1"/>
          </p:cNvPicPr>
          <p:nvPr/>
        </p:nvPicPr>
        <p:blipFill>
          <a:blip r:embed="rId5"/>
          <a:stretch>
            <a:fillRect/>
          </a:stretch>
        </p:blipFill>
        <p:spPr>
          <a:xfrm>
            <a:off x="8634908" y="2165756"/>
            <a:ext cx="469087" cy="469087"/>
          </a:xfrm>
          <a:prstGeom prst="rect">
            <a:avLst/>
          </a:prstGeom>
        </p:spPr>
      </p:pic>
      <p:sp>
        <p:nvSpPr>
          <p:cNvPr id="27" name="Text 20"/>
          <p:cNvSpPr txBox="1"/>
          <p:nvPr/>
        </p:nvSpPr>
        <p:spPr>
          <a:xfrm>
            <a:off x="8018069" y="3063240"/>
            <a:ext cx="1702765" cy="365760"/>
          </a:xfrm>
          <a:prstGeom prst="rect">
            <a:avLst/>
          </a:prstGeom>
          <a:noFill/>
          <a:ln/>
        </p:spPr>
        <p:txBody>
          <a:bodyPr wrap="square" lIns="0" tIns="0" rIns="0" bIns="0" rtlCol="0" anchor="ctr"/>
          <a:lstStyle/>
          <a:p>
            <a:pPr algn="ctr" indent="0" marL="0">
              <a:buNone/>
            </a:pPr>
            <a:r>
              <a:rPr lang="en-US" sz="1800" b="1" dirty="0">
                <a:solidFill>
                  <a:srgbClr val="14201B"/>
                </a:solidFill>
                <a:latin typeface="Calibri" pitchFamily="34" charset="0"/>
                <a:ea typeface="Calibri" pitchFamily="34" charset="-122"/>
                <a:cs typeface="Calibri" pitchFamily="34" charset="-120"/>
              </a:rPr>
              <a:t>5  Verify</a:t>
            </a:r>
            <a:endParaRPr lang="en-US" sz="1800" dirty="0"/>
          </a:p>
        </p:txBody>
      </p:sp>
      <p:sp>
        <p:nvSpPr>
          <p:cNvPr id="28" name="Text 21"/>
          <p:cNvSpPr txBox="1"/>
          <p:nvPr/>
        </p:nvSpPr>
        <p:spPr>
          <a:xfrm>
            <a:off x="8054645" y="3493008"/>
            <a:ext cx="1629613" cy="1280160"/>
          </a:xfrm>
          <a:prstGeom prst="rect">
            <a:avLst/>
          </a:prstGeom>
          <a:noFill/>
          <a:ln/>
        </p:spPr>
        <p:txBody>
          <a:bodyPr wrap="square" lIns="0" tIns="0" rIns="0" bIns="0" rtlCol="0" anchor="t"/>
          <a:lstStyle/>
          <a:p>
            <a:pPr algn="ctr" indent="0" marL="0">
              <a:buNone/>
            </a:pPr>
            <a:r>
              <a:rPr lang="en-US" sz="1350" dirty="0">
                <a:solidFill>
                  <a:srgbClr val="4A5751"/>
                </a:solidFill>
                <a:latin typeface="Calibri" pitchFamily="34" charset="0"/>
                <a:ea typeface="Calibri" pitchFamily="34" charset="-122"/>
                <a:cs typeface="Calibri" pitchFamily="34" charset="-120"/>
              </a:rPr>
              <a:t>Re-photograph: in spec on every check, held 20+ shots</a:t>
            </a:r>
            <a:endParaRPr lang="en-US" sz="1350" dirty="0"/>
          </a:p>
        </p:txBody>
      </p:sp>
      <p:sp>
        <p:nvSpPr>
          <p:cNvPr id="29" name="Shape 22"/>
          <p:cNvSpPr/>
          <p:nvPr/>
        </p:nvSpPr>
        <p:spPr>
          <a:xfrm>
            <a:off x="10284181" y="1965960"/>
            <a:ext cx="868680" cy="868680"/>
          </a:xfrm>
          <a:prstGeom prst="ellipse">
            <a:avLst/>
          </a:prstGeom>
          <a:solidFill>
            <a:srgbClr val="C8742B"/>
          </a:solidFill>
          <a:ln w="12700">
            <a:solidFill>
              <a:srgbClr val="C8742B"/>
            </a:solidFill>
            <a:prstDash val="solid"/>
          </a:ln>
        </p:spPr>
      </p:sp>
      <p:pic>
        <p:nvPicPr>
          <p:cNvPr id="30" name="Image 5" descr="preencoded.png">    </p:cNvPr>
          <p:cNvPicPr>
            <a:picLocks noChangeAspect="1"/>
          </p:cNvPicPr>
          <p:nvPr/>
        </p:nvPicPr>
        <p:blipFill>
          <a:blip r:embed="rId6"/>
          <a:stretch>
            <a:fillRect/>
          </a:stretch>
        </p:blipFill>
        <p:spPr>
          <a:xfrm>
            <a:off x="10483977" y="2165756"/>
            <a:ext cx="469087" cy="469087"/>
          </a:xfrm>
          <a:prstGeom prst="rect">
            <a:avLst/>
          </a:prstGeom>
        </p:spPr>
      </p:pic>
      <p:sp>
        <p:nvSpPr>
          <p:cNvPr id="31" name="Text 23"/>
          <p:cNvSpPr txBox="1"/>
          <p:nvPr/>
        </p:nvSpPr>
        <p:spPr>
          <a:xfrm>
            <a:off x="9867138" y="3063240"/>
            <a:ext cx="1702765" cy="365760"/>
          </a:xfrm>
          <a:prstGeom prst="rect">
            <a:avLst/>
          </a:prstGeom>
          <a:noFill/>
          <a:ln/>
        </p:spPr>
        <p:txBody>
          <a:bodyPr wrap="square" lIns="0" tIns="0" rIns="0" bIns="0" rtlCol="0" anchor="ctr"/>
          <a:lstStyle/>
          <a:p>
            <a:pPr algn="ctr" indent="0" marL="0">
              <a:buNone/>
            </a:pPr>
            <a:r>
              <a:rPr lang="en-US" sz="1800" b="1" dirty="0">
                <a:solidFill>
                  <a:srgbClr val="14201B"/>
                </a:solidFill>
                <a:latin typeface="Calibri" pitchFamily="34" charset="0"/>
                <a:ea typeface="Calibri" pitchFamily="34" charset="-122"/>
                <a:cs typeface="Calibri" pitchFamily="34" charset="-120"/>
              </a:rPr>
              <a:t>6  Learn</a:t>
            </a:r>
            <a:endParaRPr lang="en-US" sz="1800" dirty="0"/>
          </a:p>
        </p:txBody>
      </p:sp>
      <p:sp>
        <p:nvSpPr>
          <p:cNvPr id="32" name="Text 24"/>
          <p:cNvSpPr txBox="1"/>
          <p:nvPr/>
        </p:nvSpPr>
        <p:spPr>
          <a:xfrm>
            <a:off x="9903714" y="3493008"/>
            <a:ext cx="1629613" cy="1280160"/>
          </a:xfrm>
          <a:prstGeom prst="rect">
            <a:avLst/>
          </a:prstGeom>
          <a:noFill/>
          <a:ln/>
        </p:spPr>
        <p:txBody>
          <a:bodyPr wrap="square" lIns="0" tIns="0" rIns="0" bIns="0" rtlCol="0" anchor="t"/>
          <a:lstStyle/>
          <a:p>
            <a:pPr algn="ctr" indent="0" marL="0">
              <a:buNone/>
            </a:pPr>
            <a:r>
              <a:rPr lang="en-US" sz="1350" dirty="0">
                <a:solidFill>
                  <a:srgbClr val="4A5751"/>
                </a:solidFill>
                <a:latin typeface="Calibri" pitchFamily="34" charset="0"/>
                <a:ea typeface="Calibri" pitchFamily="34" charset="-122"/>
                <a:cs typeface="Calibri" pitchFamily="34" charset="-120"/>
              </a:rPr>
              <a:t>Only proved fixes become precedent for the next case</a:t>
            </a:r>
            <a:endParaRPr lang="en-US" sz="1350" dirty="0"/>
          </a:p>
        </p:txBody>
      </p:sp>
      <p:sp>
        <p:nvSpPr>
          <p:cNvPr id="33" name="Shape 25"/>
          <p:cNvSpPr/>
          <p:nvPr/>
        </p:nvSpPr>
        <p:spPr>
          <a:xfrm>
            <a:off x="548640" y="5029200"/>
            <a:ext cx="11094415" cy="914400"/>
          </a:xfrm>
          <a:prstGeom prst="roundRect">
            <a:avLst>
              <a:gd name="adj" fmla="val 10000"/>
            </a:avLst>
          </a:prstGeom>
          <a:solidFill>
            <a:srgbClr val="EEF5F1"/>
          </a:solidFill>
          <a:ln w="12700">
            <a:solidFill>
              <a:srgbClr val="EEF5F1"/>
            </a:solidFill>
            <a:prstDash val="solid"/>
          </a:ln>
        </p:spPr>
      </p:sp>
      <p:sp>
        <p:nvSpPr>
          <p:cNvPr id="34" name="Text 26"/>
          <p:cNvSpPr txBox="1"/>
          <p:nvPr/>
        </p:nvSpPr>
        <p:spPr>
          <a:xfrm>
            <a:off x="822960" y="5102352"/>
            <a:ext cx="2743200" cy="201168"/>
          </a:xfrm>
          <a:prstGeom prst="rect">
            <a:avLst/>
          </a:prstGeom>
          <a:noFill/>
          <a:ln/>
        </p:spPr>
        <p:txBody>
          <a:bodyPr wrap="square" lIns="0" tIns="0" rIns="0" bIns="0" rtlCol="0" anchor="ctr"/>
          <a:lstStyle/>
          <a:p>
            <a:pPr indent="0" marL="0">
              <a:buNone/>
            </a:pPr>
            <a:r>
              <a:rPr lang="en-US" sz="950" b="1" spc="200" kern="0" dirty="0">
                <a:solidFill>
                  <a:srgbClr val="C8742B"/>
                </a:solidFill>
                <a:latin typeface="Calibri" pitchFamily="34" charset="0"/>
                <a:ea typeface="Calibri" pitchFamily="34" charset="-122"/>
                <a:cs typeface="Calibri" pitchFamily="34" charset="-120"/>
              </a:rPr>
              <a:t>WHAT IT ENABLES</a:t>
            </a:r>
            <a:endParaRPr lang="en-US" sz="950" dirty="0"/>
          </a:p>
        </p:txBody>
      </p:sp>
      <p:sp>
        <p:nvSpPr>
          <p:cNvPr id="35" name="Shape 27"/>
          <p:cNvSpPr/>
          <p:nvPr/>
        </p:nvSpPr>
        <p:spPr>
          <a:xfrm>
            <a:off x="822960" y="5358384"/>
            <a:ext cx="420624" cy="420624"/>
          </a:xfrm>
          <a:prstGeom prst="ellipse">
            <a:avLst/>
          </a:prstGeom>
          <a:solidFill>
            <a:srgbClr val="1F7A4D"/>
          </a:solidFill>
          <a:ln w="12700">
            <a:solidFill>
              <a:srgbClr val="1F7A4D"/>
            </a:solidFill>
            <a:prstDash val="solid"/>
          </a:ln>
        </p:spPr>
      </p:sp>
      <p:pic>
        <p:nvPicPr>
          <p:cNvPr id="36" name="Image 6" descr="preencoded.png">    </p:cNvPr>
          <p:cNvPicPr>
            <a:picLocks noChangeAspect="1"/>
          </p:cNvPicPr>
          <p:nvPr/>
        </p:nvPicPr>
        <p:blipFill>
          <a:blip r:embed="rId7"/>
          <a:stretch>
            <a:fillRect/>
          </a:stretch>
        </p:blipFill>
        <p:spPr>
          <a:xfrm>
            <a:off x="919704" y="5455128"/>
            <a:ext cx="227137" cy="227137"/>
          </a:xfrm>
          <a:prstGeom prst="rect">
            <a:avLst/>
          </a:prstGeom>
        </p:spPr>
      </p:pic>
      <p:sp>
        <p:nvSpPr>
          <p:cNvPr id="37" name="Text 28"/>
          <p:cNvSpPr txBox="1"/>
          <p:nvPr/>
        </p:nvSpPr>
        <p:spPr>
          <a:xfrm>
            <a:off x="1353312" y="5321808"/>
            <a:ext cx="1904924" cy="512064"/>
          </a:xfrm>
          <a:prstGeom prst="rect">
            <a:avLst/>
          </a:prstGeom>
          <a:noFill/>
          <a:ln/>
        </p:spPr>
        <p:txBody>
          <a:bodyPr wrap="square" lIns="0" tIns="0" rIns="0" bIns="0" rtlCol="0" anchor="ctr"/>
          <a:lstStyle/>
          <a:p>
            <a:pPr indent="0" marL="0">
              <a:buNone/>
            </a:pPr>
            <a:r>
              <a:rPr lang="en-US" sz="1350" b="1" dirty="0">
                <a:solidFill>
                  <a:srgbClr val="14201B"/>
                </a:solidFill>
                <a:latin typeface="Calibri" pitchFamily="34" charset="0"/>
                <a:ea typeface="Calibri" pitchFamily="34" charset="-122"/>
                <a:cs typeface="Calibri" pitchFamily="34" charset="-120"/>
              </a:rPr>
              <a:t>A technician's first check, ranked with reasons</a:t>
            </a:r>
            <a:endParaRPr lang="en-US" sz="1350" dirty="0"/>
          </a:p>
        </p:txBody>
      </p:sp>
      <p:sp>
        <p:nvSpPr>
          <p:cNvPr id="38" name="Shape 29"/>
          <p:cNvSpPr/>
          <p:nvPr/>
        </p:nvSpPr>
        <p:spPr>
          <a:xfrm>
            <a:off x="3596564" y="5358384"/>
            <a:ext cx="420624" cy="420624"/>
          </a:xfrm>
          <a:prstGeom prst="ellipse">
            <a:avLst/>
          </a:prstGeom>
          <a:solidFill>
            <a:srgbClr val="1F7A4D"/>
          </a:solidFill>
          <a:ln w="12700">
            <a:solidFill>
              <a:srgbClr val="1F7A4D"/>
            </a:solidFill>
            <a:prstDash val="solid"/>
          </a:ln>
        </p:spPr>
      </p:sp>
      <p:pic>
        <p:nvPicPr>
          <p:cNvPr id="39" name="Image 7" descr="preencoded.png">    </p:cNvPr>
          <p:cNvPicPr>
            <a:picLocks noChangeAspect="1"/>
          </p:cNvPicPr>
          <p:nvPr/>
        </p:nvPicPr>
        <p:blipFill>
          <a:blip r:embed="rId8"/>
          <a:stretch>
            <a:fillRect/>
          </a:stretch>
        </p:blipFill>
        <p:spPr>
          <a:xfrm>
            <a:off x="3693307" y="5455128"/>
            <a:ext cx="227137" cy="227137"/>
          </a:xfrm>
          <a:prstGeom prst="rect">
            <a:avLst/>
          </a:prstGeom>
        </p:spPr>
      </p:pic>
      <p:sp>
        <p:nvSpPr>
          <p:cNvPr id="40" name="Text 30"/>
          <p:cNvSpPr txBox="1"/>
          <p:nvPr/>
        </p:nvSpPr>
        <p:spPr>
          <a:xfrm>
            <a:off x="4126916" y="5321808"/>
            <a:ext cx="1904924" cy="512064"/>
          </a:xfrm>
          <a:prstGeom prst="rect">
            <a:avLst/>
          </a:prstGeom>
          <a:noFill/>
          <a:ln/>
        </p:spPr>
        <p:txBody>
          <a:bodyPr wrap="square" lIns="0" tIns="0" rIns="0" bIns="0" rtlCol="0" anchor="ctr"/>
          <a:lstStyle/>
          <a:p>
            <a:pPr indent="0" marL="0">
              <a:buNone/>
            </a:pPr>
            <a:r>
              <a:rPr lang="en-US" sz="1350" b="1" dirty="0">
                <a:solidFill>
                  <a:srgbClr val="14201B"/>
                </a:solidFill>
                <a:latin typeface="Calibri" pitchFamily="34" charset="0"/>
                <a:ea typeface="Calibri" pitchFamily="34" charset="-122"/>
                <a:cs typeface="Calibri" pitchFamily="34" charset="-120"/>
              </a:rPr>
              <a:t>An audit-ready PDF on every case</a:t>
            </a:r>
            <a:endParaRPr lang="en-US" sz="1350" dirty="0"/>
          </a:p>
        </p:txBody>
      </p:sp>
      <p:sp>
        <p:nvSpPr>
          <p:cNvPr id="41" name="Shape 31"/>
          <p:cNvSpPr/>
          <p:nvPr/>
        </p:nvSpPr>
        <p:spPr>
          <a:xfrm>
            <a:off x="6370168" y="5358384"/>
            <a:ext cx="420624" cy="420624"/>
          </a:xfrm>
          <a:prstGeom prst="ellipse">
            <a:avLst/>
          </a:prstGeom>
          <a:solidFill>
            <a:srgbClr val="1F7A4D"/>
          </a:solidFill>
          <a:ln w="12700">
            <a:solidFill>
              <a:srgbClr val="1F7A4D"/>
            </a:solidFill>
            <a:prstDash val="solid"/>
          </a:ln>
        </p:spPr>
      </p:sp>
      <p:pic>
        <p:nvPicPr>
          <p:cNvPr id="42" name="Image 8" descr="preencoded.png">    </p:cNvPr>
          <p:cNvPicPr>
            <a:picLocks noChangeAspect="1"/>
          </p:cNvPicPr>
          <p:nvPr/>
        </p:nvPicPr>
        <p:blipFill>
          <a:blip r:embed="rId9"/>
          <a:stretch>
            <a:fillRect/>
          </a:stretch>
        </p:blipFill>
        <p:spPr>
          <a:xfrm>
            <a:off x="6466911" y="5455128"/>
            <a:ext cx="227137" cy="227137"/>
          </a:xfrm>
          <a:prstGeom prst="rect">
            <a:avLst/>
          </a:prstGeom>
        </p:spPr>
      </p:pic>
      <p:sp>
        <p:nvSpPr>
          <p:cNvPr id="43" name="Text 32"/>
          <p:cNvSpPr txBox="1"/>
          <p:nvPr/>
        </p:nvSpPr>
        <p:spPr>
          <a:xfrm>
            <a:off x="6900520" y="5321808"/>
            <a:ext cx="1904924" cy="512064"/>
          </a:xfrm>
          <a:prstGeom prst="rect">
            <a:avLst/>
          </a:prstGeom>
          <a:noFill/>
          <a:ln/>
        </p:spPr>
        <p:txBody>
          <a:bodyPr wrap="square" lIns="0" tIns="0" rIns="0" bIns="0" rtlCol="0" anchor="ctr"/>
          <a:lstStyle/>
          <a:p>
            <a:pPr indent="0" marL="0">
              <a:buNone/>
            </a:pPr>
            <a:r>
              <a:rPr lang="en-US" sz="1350" b="1" dirty="0">
                <a:solidFill>
                  <a:srgbClr val="14201B"/>
                </a:solidFill>
                <a:latin typeface="Calibri" pitchFamily="34" charset="0"/>
                <a:ea typeface="Calibri" pitchFamily="34" charset="-122"/>
                <a:cs typeface="Calibri" pitchFamily="34" charset="-120"/>
              </a:rPr>
              <a:t>Only proved fixes become precedent</a:t>
            </a:r>
            <a:endParaRPr lang="en-US" sz="1350" dirty="0"/>
          </a:p>
        </p:txBody>
      </p:sp>
      <p:sp>
        <p:nvSpPr>
          <p:cNvPr id="44" name="Shape 33"/>
          <p:cNvSpPr/>
          <p:nvPr/>
        </p:nvSpPr>
        <p:spPr>
          <a:xfrm>
            <a:off x="9143771" y="5358384"/>
            <a:ext cx="420624" cy="420624"/>
          </a:xfrm>
          <a:prstGeom prst="ellipse">
            <a:avLst/>
          </a:prstGeom>
          <a:solidFill>
            <a:srgbClr val="1F7A4D"/>
          </a:solidFill>
          <a:ln w="12700">
            <a:solidFill>
              <a:srgbClr val="1F7A4D"/>
            </a:solidFill>
            <a:prstDash val="solid"/>
          </a:ln>
        </p:spPr>
      </p:sp>
      <p:pic>
        <p:nvPicPr>
          <p:cNvPr id="45" name="Image 9" descr="preencoded.png">    </p:cNvPr>
          <p:cNvPicPr>
            <a:picLocks noChangeAspect="1"/>
          </p:cNvPicPr>
          <p:nvPr/>
        </p:nvPicPr>
        <p:blipFill>
          <a:blip r:embed="rId10"/>
          <a:stretch>
            <a:fillRect/>
          </a:stretch>
        </p:blipFill>
        <p:spPr>
          <a:xfrm>
            <a:off x="9240515" y="5455128"/>
            <a:ext cx="227137" cy="227137"/>
          </a:xfrm>
          <a:prstGeom prst="rect">
            <a:avLst/>
          </a:prstGeom>
        </p:spPr>
      </p:pic>
      <p:sp>
        <p:nvSpPr>
          <p:cNvPr id="46" name="Text 34"/>
          <p:cNvSpPr txBox="1"/>
          <p:nvPr/>
        </p:nvSpPr>
        <p:spPr>
          <a:xfrm>
            <a:off x="9674123" y="5321808"/>
            <a:ext cx="1904924" cy="512064"/>
          </a:xfrm>
          <a:prstGeom prst="rect">
            <a:avLst/>
          </a:prstGeom>
          <a:noFill/>
          <a:ln/>
        </p:spPr>
        <p:txBody>
          <a:bodyPr wrap="square" lIns="0" tIns="0" rIns="0" bIns="0" rtlCol="0" anchor="ctr"/>
          <a:lstStyle/>
          <a:p>
            <a:pPr indent="0" marL="0">
              <a:buNone/>
            </a:pPr>
            <a:r>
              <a:rPr lang="en-US" sz="1350" b="1" dirty="0">
                <a:solidFill>
                  <a:srgbClr val="14201B"/>
                </a:solidFill>
                <a:latin typeface="Calibri" pitchFamily="34" charset="0"/>
                <a:ea typeface="Calibri" pitchFamily="34" charset="-122"/>
                <a:cs typeface="Calibri" pitchFamily="34" charset="-120"/>
              </a:rPr>
              <a:t>Offline on a line PC — a phone is enough</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C8742B"/>
                </a:solidFill>
                <a:latin typeface="Calibri" pitchFamily="34" charset="0"/>
                <a:ea typeface="Calibri" pitchFamily="34" charset="-122"/>
                <a:cs typeface="Calibri" pitchFamily="34" charset="-120"/>
              </a:rPr>
              <a:t>THE AI</a:t>
            </a:r>
            <a:endParaRPr lang="en-US" sz="1200" dirty="0"/>
          </a:p>
        </p:txBody>
      </p:sp>
      <p:sp>
        <p:nvSpPr>
          <p:cNvPr id="3" name="Text 1"/>
          <p:cNvSpPr txBox="1"/>
          <p:nvPr/>
        </p:nvSpPr>
        <p:spPr>
          <a:xfrm>
            <a:off x="548640" y="658368"/>
            <a:ext cx="11094415" cy="1005840"/>
          </a:xfrm>
          <a:prstGeom prst="rect">
            <a:avLst/>
          </a:prstGeom>
          <a:noFill/>
          <a:ln/>
        </p:spPr>
        <p:txBody>
          <a:bodyPr wrap="square" lIns="0" tIns="0" rIns="0" bIns="0" rtlCol="0" anchor="t">
            <a:normAutofit/>
          </a:bodyPr>
          <a:lstStyle/>
          <a:p>
            <a:pPr indent="0" marL="0">
              <a:buNone/>
            </a:pPr>
            <a:r>
              <a:rPr lang="en-US" sz="3000" b="1" dirty="0">
                <a:solidFill>
                  <a:srgbClr val="14201B"/>
                </a:solidFill>
                <a:latin typeface="Cambria" pitchFamily="34" charset="0"/>
                <a:ea typeface="Cambria" pitchFamily="34" charset="-122"/>
                <a:cs typeface="Cambria" pitchFamily="34" charset="-120"/>
              </a:rPr>
              <a:t>Two brains that are allowed to disagree — over a manual you can audit</a:t>
            </a:r>
            <a:endParaRPr lang="en-US" sz="3000" dirty="0"/>
          </a:p>
        </p:txBody>
      </p:sp>
      <p:sp>
        <p:nvSpPr>
          <p:cNvPr id="4" name="Shape 2"/>
          <p:cNvSpPr/>
          <p:nvPr/>
        </p:nvSpPr>
        <p:spPr>
          <a:xfrm>
            <a:off x="548640" y="1783080"/>
            <a:ext cx="3526841" cy="3291840"/>
          </a:xfrm>
          <a:prstGeom prst="roundRect">
            <a:avLst>
              <a:gd name="adj" fmla="val 3333"/>
            </a:avLst>
          </a:prstGeom>
          <a:solidFill>
            <a:srgbClr val="EEF5F1"/>
          </a:solidFill>
          <a:ln w="12700">
            <a:solidFill>
              <a:srgbClr val="EEF5F1"/>
            </a:solidFill>
            <a:prstDash val="solid"/>
          </a:ln>
        </p:spPr>
      </p:sp>
      <p:sp>
        <p:nvSpPr>
          <p:cNvPr id="5" name="Shape 3"/>
          <p:cNvSpPr/>
          <p:nvPr/>
        </p:nvSpPr>
        <p:spPr>
          <a:xfrm>
            <a:off x="841248" y="2075688"/>
            <a:ext cx="676656" cy="676656"/>
          </a:xfrm>
          <a:prstGeom prst="ellipse">
            <a:avLst/>
          </a:prstGeom>
          <a:solidFill>
            <a:srgbClr val="1F7A4D"/>
          </a:solidFill>
          <a:ln w="12700">
            <a:solidFill>
              <a:srgbClr val="1F7A4D"/>
            </a:solidFill>
            <a:prstDash val="solid"/>
          </a:ln>
        </p:spPr>
      </p:sp>
      <p:pic>
        <p:nvPicPr>
          <p:cNvPr id="6" name="Image 0" descr="preencoded.png">    </p:cNvPr>
          <p:cNvPicPr>
            <a:picLocks noChangeAspect="1"/>
          </p:cNvPicPr>
          <p:nvPr/>
        </p:nvPicPr>
        <p:blipFill>
          <a:blip r:embed="rId1"/>
          <a:stretch>
            <a:fillRect/>
          </a:stretch>
        </p:blipFill>
        <p:spPr>
          <a:xfrm>
            <a:off x="996879" y="2231319"/>
            <a:ext cx="365394" cy="365394"/>
          </a:xfrm>
          <a:prstGeom prst="rect">
            <a:avLst/>
          </a:prstGeom>
        </p:spPr>
      </p:pic>
      <p:sp>
        <p:nvSpPr>
          <p:cNvPr id="7" name="Text 4"/>
          <p:cNvSpPr txBox="1"/>
          <p:nvPr/>
        </p:nvSpPr>
        <p:spPr>
          <a:xfrm>
            <a:off x="841248" y="2898648"/>
            <a:ext cx="2941625" cy="713232"/>
          </a:xfrm>
          <a:prstGeom prst="rect">
            <a:avLst/>
          </a:prstGeom>
          <a:noFill/>
          <a:ln/>
        </p:spPr>
        <p:txBody>
          <a:bodyPr wrap="square" lIns="0" tIns="0" rIns="0" bIns="0" rtlCol="0" anchor="t"/>
          <a:lstStyle/>
          <a:p>
            <a:pPr indent="0" marL="0">
              <a:buNone/>
            </a:pPr>
            <a:r>
              <a:rPr lang="en-US" sz="2000" b="1" dirty="0">
                <a:solidFill>
                  <a:srgbClr val="14201B"/>
                </a:solidFill>
                <a:latin typeface="Calibri" pitchFamily="34" charset="0"/>
                <a:ea typeface="Calibri" pitchFamily="34" charset="-122"/>
                <a:cs typeface="Calibri" pitchFamily="34" charset="-120"/>
              </a:rPr>
              <a:t>Knowledge database</a:t>
            </a:r>
            <a:endParaRPr lang="en-US" sz="2000" dirty="0"/>
          </a:p>
        </p:txBody>
      </p:sp>
      <p:sp>
        <p:nvSpPr>
          <p:cNvPr id="8" name="Text 5"/>
          <p:cNvSpPr txBox="1"/>
          <p:nvPr/>
        </p:nvSpPr>
        <p:spPr>
          <a:xfrm>
            <a:off x="841248" y="3474720"/>
            <a:ext cx="2941625" cy="1362456"/>
          </a:xfrm>
          <a:prstGeom prst="rect">
            <a:avLst/>
          </a:prstGeom>
          <a:noFill/>
          <a:ln/>
        </p:spPr>
        <p:txBody>
          <a:bodyPr wrap="square" lIns="0" tIns="0" rIns="0" bIns="0" rtlCol="0" anchor="t"/>
          <a:lstStyle/>
          <a:p>
            <a:pPr indent="0" marL="0">
              <a:buNone/>
            </a:pPr>
            <a:r>
              <a:rPr lang="en-US" sz="1350" dirty="0">
                <a:solidFill>
                  <a:srgbClr val="4A5751"/>
                </a:solidFill>
                <a:latin typeface="Calibri" pitchFamily="34" charset="0"/>
                <a:ea typeface="Calibri" pitchFamily="34" charset="-122"/>
                <a:cs typeface="Calibri" pitchFamily="34" charset="-120"/>
              </a:rPr>
              <a:t>Seven causes and 42 weighted rules, every one citing NPL's Best Practice Guide by section and page. Past confirmed cases are counted as precedent: “similar problems occurred 12 times; in 8, the cause was trapped air.”</a:t>
            </a:r>
            <a:endParaRPr lang="en-US" sz="1350" dirty="0"/>
          </a:p>
        </p:txBody>
      </p:sp>
      <p:sp>
        <p:nvSpPr>
          <p:cNvPr id="9" name="Shape 6"/>
          <p:cNvSpPr/>
          <p:nvPr/>
        </p:nvSpPr>
        <p:spPr>
          <a:xfrm>
            <a:off x="4331513" y="1783080"/>
            <a:ext cx="3526841" cy="3291840"/>
          </a:xfrm>
          <a:prstGeom prst="roundRect">
            <a:avLst>
              <a:gd name="adj" fmla="val 3333"/>
            </a:avLst>
          </a:prstGeom>
          <a:solidFill>
            <a:srgbClr val="EEF5F1"/>
          </a:solidFill>
          <a:ln w="12700">
            <a:solidFill>
              <a:srgbClr val="EEF5F1"/>
            </a:solidFill>
            <a:prstDash val="solid"/>
          </a:ln>
        </p:spPr>
      </p:sp>
      <p:sp>
        <p:nvSpPr>
          <p:cNvPr id="10" name="Shape 7"/>
          <p:cNvSpPr/>
          <p:nvPr/>
        </p:nvSpPr>
        <p:spPr>
          <a:xfrm>
            <a:off x="4624121" y="2075688"/>
            <a:ext cx="676656" cy="676656"/>
          </a:xfrm>
          <a:prstGeom prst="ellipse">
            <a:avLst/>
          </a:prstGeom>
          <a:solidFill>
            <a:srgbClr val="1F7A4D"/>
          </a:solidFill>
          <a:ln w="12700">
            <a:solidFill>
              <a:srgbClr val="1F7A4D"/>
            </a:solidFill>
            <a:prstDash val="solid"/>
          </a:ln>
        </p:spPr>
      </p:sp>
      <p:pic>
        <p:nvPicPr>
          <p:cNvPr id="11" name="Image 1" descr="preencoded.png">    </p:cNvPr>
          <p:cNvPicPr>
            <a:picLocks noChangeAspect="1"/>
          </p:cNvPicPr>
          <p:nvPr/>
        </p:nvPicPr>
        <p:blipFill>
          <a:blip r:embed="rId2"/>
          <a:stretch>
            <a:fillRect/>
          </a:stretch>
        </p:blipFill>
        <p:spPr>
          <a:xfrm>
            <a:off x="4779752" y="2231319"/>
            <a:ext cx="365394" cy="365394"/>
          </a:xfrm>
          <a:prstGeom prst="rect">
            <a:avLst/>
          </a:prstGeom>
        </p:spPr>
      </p:pic>
      <p:sp>
        <p:nvSpPr>
          <p:cNvPr id="12" name="Text 8"/>
          <p:cNvSpPr txBox="1"/>
          <p:nvPr/>
        </p:nvSpPr>
        <p:spPr>
          <a:xfrm>
            <a:off x="4624121" y="2898648"/>
            <a:ext cx="2941625" cy="713232"/>
          </a:xfrm>
          <a:prstGeom prst="rect">
            <a:avLst/>
          </a:prstGeom>
          <a:noFill/>
          <a:ln/>
        </p:spPr>
        <p:txBody>
          <a:bodyPr wrap="square" lIns="0" tIns="0" rIns="0" bIns="0" rtlCol="0" anchor="t"/>
          <a:lstStyle/>
          <a:p>
            <a:pPr indent="0" marL="0">
              <a:buNone/>
            </a:pPr>
            <a:r>
              <a:rPr lang="en-US" sz="2000" b="1" dirty="0">
                <a:solidFill>
                  <a:srgbClr val="14201B"/>
                </a:solidFill>
                <a:latin typeface="Calibri" pitchFamily="34" charset="0"/>
                <a:ea typeface="Calibri" pitchFamily="34" charset="-122"/>
                <a:cs typeface="Calibri" pitchFamily="34" charset="-120"/>
              </a:rPr>
              <a:t>Dual-brain ranking</a:t>
            </a:r>
            <a:endParaRPr lang="en-US" sz="2000" dirty="0"/>
          </a:p>
        </p:txBody>
      </p:sp>
      <p:sp>
        <p:nvSpPr>
          <p:cNvPr id="13" name="Text 9"/>
          <p:cNvSpPr txBox="1"/>
          <p:nvPr/>
        </p:nvSpPr>
        <p:spPr>
          <a:xfrm>
            <a:off x="4624121" y="3474720"/>
            <a:ext cx="2941625" cy="1362456"/>
          </a:xfrm>
          <a:prstGeom prst="rect">
            <a:avLst/>
          </a:prstGeom>
          <a:noFill/>
          <a:ln/>
        </p:spPr>
        <p:txBody>
          <a:bodyPr wrap="square" lIns="0" tIns="0" rIns="0" bIns="0" rtlCol="0" anchor="t"/>
          <a:lstStyle/>
          <a:p>
            <a:pPr indent="0" marL="0">
              <a:buNone/>
            </a:pPr>
            <a:r>
              <a:rPr lang="en-US" sz="1350" dirty="0">
                <a:solidFill>
                  <a:srgbClr val="4A5751"/>
                </a:solidFill>
                <a:latin typeface="Calibri" pitchFamily="34" charset="0"/>
                <a:ea typeface="Calibri" pitchFamily="34" charset="-122"/>
                <a:cs typeface="Calibri" pitchFamily="34" charset="-120"/>
              </a:rPr>
              <a:t>Pass 1 — a deterministic rule engine does the arithmetic in log-odds and sets every percentage. Pass 2 — an LLM critic reads the same evidence and can disagree. Disagreement lowers the tier and says so. The model never sets a number.</a:t>
            </a:r>
            <a:endParaRPr lang="en-US" sz="1350" dirty="0"/>
          </a:p>
        </p:txBody>
      </p:sp>
      <p:sp>
        <p:nvSpPr>
          <p:cNvPr id="14" name="Shape 10"/>
          <p:cNvSpPr/>
          <p:nvPr/>
        </p:nvSpPr>
        <p:spPr>
          <a:xfrm>
            <a:off x="8114386" y="1783080"/>
            <a:ext cx="3526841" cy="3291840"/>
          </a:xfrm>
          <a:prstGeom prst="roundRect">
            <a:avLst>
              <a:gd name="adj" fmla="val 3333"/>
            </a:avLst>
          </a:prstGeom>
          <a:solidFill>
            <a:srgbClr val="EEF5F1"/>
          </a:solidFill>
          <a:ln w="12700">
            <a:solidFill>
              <a:srgbClr val="EEF5F1"/>
            </a:solidFill>
            <a:prstDash val="solid"/>
          </a:ln>
        </p:spPr>
      </p:sp>
      <p:sp>
        <p:nvSpPr>
          <p:cNvPr id="15" name="Shape 11"/>
          <p:cNvSpPr/>
          <p:nvPr/>
        </p:nvSpPr>
        <p:spPr>
          <a:xfrm>
            <a:off x="8406994" y="2075688"/>
            <a:ext cx="676656" cy="676656"/>
          </a:xfrm>
          <a:prstGeom prst="ellipse">
            <a:avLst/>
          </a:prstGeom>
          <a:solidFill>
            <a:srgbClr val="1F7A4D"/>
          </a:solidFill>
          <a:ln w="12700">
            <a:solidFill>
              <a:srgbClr val="1F7A4D"/>
            </a:solidFill>
            <a:prstDash val="solid"/>
          </a:ln>
        </p:spPr>
      </p:sp>
      <p:pic>
        <p:nvPicPr>
          <p:cNvPr id="16" name="Image 2" descr="preencoded.png">    </p:cNvPr>
          <p:cNvPicPr>
            <a:picLocks noChangeAspect="1"/>
          </p:cNvPicPr>
          <p:nvPr/>
        </p:nvPicPr>
        <p:blipFill>
          <a:blip r:embed="rId3"/>
          <a:stretch>
            <a:fillRect/>
          </a:stretch>
        </p:blipFill>
        <p:spPr>
          <a:xfrm>
            <a:off x="8562624" y="2231319"/>
            <a:ext cx="365394" cy="365394"/>
          </a:xfrm>
          <a:prstGeom prst="rect">
            <a:avLst/>
          </a:prstGeom>
        </p:spPr>
      </p:pic>
      <p:sp>
        <p:nvSpPr>
          <p:cNvPr id="17" name="Text 12"/>
          <p:cNvSpPr txBox="1"/>
          <p:nvPr/>
        </p:nvSpPr>
        <p:spPr>
          <a:xfrm>
            <a:off x="8406994" y="2898648"/>
            <a:ext cx="2941625" cy="713232"/>
          </a:xfrm>
          <a:prstGeom prst="rect">
            <a:avLst/>
          </a:prstGeom>
          <a:noFill/>
          <a:ln/>
        </p:spPr>
        <p:txBody>
          <a:bodyPr wrap="square" lIns="0" tIns="0" rIns="0" bIns="0" rtlCol="0" anchor="t"/>
          <a:lstStyle/>
          <a:p>
            <a:pPr indent="0" marL="0">
              <a:buNone/>
            </a:pPr>
            <a:r>
              <a:rPr lang="en-US" sz="2000" b="1" dirty="0">
                <a:solidFill>
                  <a:srgbClr val="14201B"/>
                </a:solidFill>
                <a:latin typeface="Calibri" pitchFamily="34" charset="0"/>
                <a:ea typeface="Calibri" pitchFamily="34" charset="-122"/>
                <a:cs typeface="Calibri" pitchFamily="34" charset="-120"/>
              </a:rPr>
              <a:t>Senior-engineer loop</a:t>
            </a:r>
            <a:endParaRPr lang="en-US" sz="2000" dirty="0"/>
          </a:p>
        </p:txBody>
      </p:sp>
      <p:sp>
        <p:nvSpPr>
          <p:cNvPr id="18" name="Text 13"/>
          <p:cNvSpPr txBox="1"/>
          <p:nvPr/>
        </p:nvSpPr>
        <p:spPr>
          <a:xfrm>
            <a:off x="8406994" y="3474720"/>
            <a:ext cx="2941625" cy="1362456"/>
          </a:xfrm>
          <a:prstGeom prst="rect">
            <a:avLst/>
          </a:prstGeom>
          <a:noFill/>
          <a:ln/>
        </p:spPr>
        <p:txBody>
          <a:bodyPr wrap="square" lIns="0" tIns="0" rIns="0" bIns="0" rtlCol="0" anchor="t"/>
          <a:lstStyle/>
          <a:p>
            <a:pPr indent="0" marL="0">
              <a:buNone/>
            </a:pPr>
            <a:r>
              <a:rPr lang="en-US" sz="1350" dirty="0">
                <a:solidFill>
                  <a:srgbClr val="4A5751"/>
                </a:solidFill>
                <a:latin typeface="Calibri" pitchFamily="34" charset="0"/>
                <a:ea typeface="Calibri" pitchFamily="34" charset="-122"/>
                <a:cs typeface="Calibri" pitchFamily="34" charset="-120"/>
              </a:rPr>
              <a:t>The operator escalates mid-case; the senior answers inside the case, logs the check that settles it, and can change a rule's weight — with a reason. It learns from people, not only from data.</a:t>
            </a:r>
            <a:endParaRPr lang="en-US" sz="1350" dirty="0"/>
          </a:p>
        </p:txBody>
      </p:sp>
      <p:sp>
        <p:nvSpPr>
          <p:cNvPr id="19" name="Text 14"/>
          <p:cNvSpPr txBox="1"/>
          <p:nvPr/>
        </p:nvSpPr>
        <p:spPr>
          <a:xfrm>
            <a:off x="548640" y="5257800"/>
            <a:ext cx="3527450" cy="411480"/>
          </a:xfrm>
          <a:prstGeom prst="rect">
            <a:avLst/>
          </a:prstGeom>
          <a:noFill/>
          <a:ln/>
        </p:spPr>
        <p:txBody>
          <a:bodyPr wrap="square" lIns="0" tIns="0" rIns="0" bIns="0" rtlCol="0" anchor="t"/>
          <a:lstStyle/>
          <a:p>
            <a:pPr indent="0" marL="0">
              <a:buNone/>
            </a:pPr>
            <a:r>
              <a:rPr lang="en-US" sz="2600" b="1" dirty="0">
                <a:solidFill>
                  <a:srgbClr val="C8742B"/>
                </a:solidFill>
                <a:latin typeface="Calibri" pitchFamily="34" charset="0"/>
                <a:ea typeface="Calibri" pitchFamily="34" charset="-122"/>
                <a:cs typeface="Calibri" pitchFamily="34" charset="-120"/>
              </a:rPr>
              <a:t>96%</a:t>
            </a:r>
            <a:endParaRPr lang="en-US" sz="2600" dirty="0"/>
          </a:p>
        </p:txBody>
      </p:sp>
      <p:sp>
        <p:nvSpPr>
          <p:cNvPr id="20" name="Text 15"/>
          <p:cNvSpPr txBox="1"/>
          <p:nvPr/>
        </p:nvSpPr>
        <p:spPr>
          <a:xfrm>
            <a:off x="548640" y="5669280"/>
            <a:ext cx="3527450" cy="502920"/>
          </a:xfrm>
          <a:prstGeom prst="rect">
            <a:avLst/>
          </a:prstGeom>
          <a:noFill/>
          <a:ln/>
        </p:spPr>
        <p:txBody>
          <a:bodyPr wrap="square" lIns="0" tIns="0" rIns="0" bIns="0" rtlCol="0" anchor="t"/>
          <a:lstStyle/>
          <a:p>
            <a:pPr indent="0" marL="0">
              <a:buNone/>
            </a:pPr>
            <a:r>
              <a:rPr lang="en-US" sz="1200" dirty="0">
                <a:solidFill>
                  <a:srgbClr val="4A5751"/>
                </a:solidFill>
                <a:latin typeface="Calibri" pitchFamily="34" charset="0"/>
                <a:ea typeface="Calibri" pitchFamily="34" charset="-122"/>
                <a:cs typeface="Calibri" pitchFamily="34" charset="-120"/>
              </a:rPr>
              <a:t>top cause correct when three or more reasons back it — 48% on one reason. The operator can count them on screen.</a:t>
            </a:r>
            <a:endParaRPr lang="en-US" sz="1200" dirty="0"/>
          </a:p>
        </p:txBody>
      </p:sp>
      <p:sp>
        <p:nvSpPr>
          <p:cNvPr id="21" name="Text 16"/>
          <p:cNvSpPr txBox="1"/>
          <p:nvPr/>
        </p:nvSpPr>
        <p:spPr>
          <a:xfrm>
            <a:off x="4332122" y="5257800"/>
            <a:ext cx="3527450" cy="411480"/>
          </a:xfrm>
          <a:prstGeom prst="rect">
            <a:avLst/>
          </a:prstGeom>
          <a:noFill/>
          <a:ln/>
        </p:spPr>
        <p:txBody>
          <a:bodyPr wrap="square" lIns="0" tIns="0" rIns="0" bIns="0" rtlCol="0" anchor="t"/>
          <a:lstStyle/>
          <a:p>
            <a:pPr indent="0" marL="0">
              <a:buNone/>
            </a:pPr>
            <a:r>
              <a:rPr lang="en-US" sz="2600" b="1" dirty="0">
                <a:solidFill>
                  <a:srgbClr val="C8742B"/>
                </a:solidFill>
                <a:latin typeface="Calibri" pitchFamily="34" charset="0"/>
                <a:ea typeface="Calibri" pitchFamily="34" charset="-122"/>
                <a:cs typeface="Calibri" pitchFamily="34" charset="-120"/>
              </a:rPr>
              <a:t>66% vs 14%</a:t>
            </a:r>
            <a:endParaRPr lang="en-US" sz="2600" dirty="0"/>
          </a:p>
        </p:txBody>
      </p:sp>
      <p:sp>
        <p:nvSpPr>
          <p:cNvPr id="22" name="Text 17"/>
          <p:cNvSpPr txBox="1"/>
          <p:nvPr/>
        </p:nvSpPr>
        <p:spPr>
          <a:xfrm>
            <a:off x="4332122" y="5669280"/>
            <a:ext cx="3527450" cy="502920"/>
          </a:xfrm>
          <a:prstGeom prst="rect">
            <a:avLst/>
          </a:prstGeom>
          <a:noFill/>
          <a:ln/>
        </p:spPr>
        <p:txBody>
          <a:bodyPr wrap="square" lIns="0" tIns="0" rIns="0" bIns="0" rtlCol="0" anchor="t"/>
          <a:lstStyle/>
          <a:p>
            <a:pPr indent="0" marL="0">
              <a:buNone/>
            </a:pPr>
            <a:r>
              <a:rPr lang="en-US" sz="1200" dirty="0">
                <a:solidFill>
                  <a:srgbClr val="4A5751"/>
                </a:solidFill>
                <a:latin typeface="Calibri" pitchFamily="34" charset="0"/>
                <a:ea typeface="Calibri" pitchFamily="34" charset="-122"/>
                <a:cs typeface="Calibri" pitchFamily="34" charset="-120"/>
              </a:rPr>
              <a:t>correct from one photo and five answers, with a quarter of the answers wrong — against a chance baseline of 14%.</a:t>
            </a:r>
            <a:endParaRPr lang="en-US" sz="1200" dirty="0"/>
          </a:p>
        </p:txBody>
      </p:sp>
      <p:sp>
        <p:nvSpPr>
          <p:cNvPr id="23" name="Text 18"/>
          <p:cNvSpPr txBox="1"/>
          <p:nvPr/>
        </p:nvSpPr>
        <p:spPr>
          <a:xfrm>
            <a:off x="8115605" y="5257800"/>
            <a:ext cx="3527450" cy="411480"/>
          </a:xfrm>
          <a:prstGeom prst="rect">
            <a:avLst/>
          </a:prstGeom>
          <a:noFill/>
          <a:ln/>
        </p:spPr>
        <p:txBody>
          <a:bodyPr wrap="square" lIns="0" tIns="0" rIns="0" bIns="0" rtlCol="0" anchor="t"/>
          <a:lstStyle/>
          <a:p>
            <a:pPr indent="0" marL="0">
              <a:buNone/>
            </a:pPr>
            <a:r>
              <a:rPr lang="en-US" sz="2600" b="1" dirty="0">
                <a:solidFill>
                  <a:srgbClr val="C8742B"/>
                </a:solidFill>
                <a:latin typeface="Calibri" pitchFamily="34" charset="0"/>
                <a:ea typeface="Calibri" pitchFamily="34" charset="-122"/>
                <a:cs typeface="Calibri" pitchFamily="34" charset="-120"/>
              </a:rPr>
              <a:t>108</a:t>
            </a:r>
            <a:endParaRPr lang="en-US" sz="2600" dirty="0"/>
          </a:p>
        </p:txBody>
      </p:sp>
      <p:sp>
        <p:nvSpPr>
          <p:cNvPr id="24" name="Text 19"/>
          <p:cNvSpPr txBox="1"/>
          <p:nvPr/>
        </p:nvSpPr>
        <p:spPr>
          <a:xfrm>
            <a:off x="8115605" y="5669280"/>
            <a:ext cx="3527450" cy="502920"/>
          </a:xfrm>
          <a:prstGeom prst="rect">
            <a:avLst/>
          </a:prstGeom>
          <a:noFill/>
          <a:ln/>
        </p:spPr>
        <p:txBody>
          <a:bodyPr wrap="square" lIns="0" tIns="0" rIns="0" bIns="0" rtlCol="0" anchor="t"/>
          <a:lstStyle/>
          <a:p>
            <a:pPr indent="0" marL="0">
              <a:buNone/>
            </a:pPr>
            <a:r>
              <a:rPr lang="en-US" sz="1200" dirty="0">
                <a:solidFill>
                  <a:srgbClr val="4A5751"/>
                </a:solidFill>
                <a:latin typeface="Calibri" pitchFamily="34" charset="0"/>
                <a:ea typeface="Calibri" pitchFamily="34" charset="-122"/>
                <a:cs typeface="Calibri" pitchFamily="34" charset="-120"/>
              </a:rPr>
              <a:t>automated checks: 79 backend tests, 27 measurement oracles, 2 end-to-end golden cases.</a:t>
            </a:r>
            <a:endParaRPr lang="en-US" sz="1200" dirty="0"/>
          </a:p>
        </p:txBody>
      </p:sp>
      <p:sp>
        <p:nvSpPr>
          <p:cNvPr id="25" name="Text 20"/>
          <p:cNvSpPr txBox="1"/>
          <p:nvPr/>
        </p:nvSpPr>
        <p:spPr>
          <a:xfrm>
            <a:off x="548640" y="6355080"/>
            <a:ext cx="11094415" cy="320040"/>
          </a:xfrm>
          <a:prstGeom prst="rect">
            <a:avLst/>
          </a:prstGeom>
          <a:noFill/>
          <a:ln/>
        </p:spPr>
        <p:txBody>
          <a:bodyPr wrap="square" lIns="0" tIns="0" rIns="0" bIns="0" rtlCol="0" anchor="b"/>
          <a:lstStyle/>
          <a:p>
            <a:pPr indent="0" marL="0">
              <a:buNone/>
            </a:pPr>
            <a:r>
              <a:rPr lang="en-US" sz="1100" i="1" dirty="0">
                <a:solidFill>
                  <a:srgbClr val="1F7A4D"/>
                </a:solidFill>
                <a:latin typeface="Calibri" pitchFamily="34" charset="0"/>
                <a:ea typeface="Calibri" pitchFamily="34" charset="-122"/>
                <a:cs typeface="Calibri" pitchFamily="34" charset="-120"/>
              </a:rPr>
              <a:t>Precedent can lower confidence, never raise it — so the system cannot talk itself into being right.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C8742B"/>
                </a:solidFill>
                <a:latin typeface="Calibri" pitchFamily="34" charset="0"/>
                <a:ea typeface="Calibri" pitchFamily="34" charset="-122"/>
                <a:cs typeface="Calibri" pitchFamily="34" charset="-120"/>
              </a:rPr>
              <a:t>RULE c.2  ·  THIRD-PARTY DECLARATION</a:t>
            </a:r>
            <a:endParaRPr lang="en-US" sz="1200" dirty="0"/>
          </a:p>
        </p:txBody>
      </p:sp>
      <p:sp>
        <p:nvSpPr>
          <p:cNvPr id="3" name="Text 1"/>
          <p:cNvSpPr txBox="1"/>
          <p:nvPr/>
        </p:nvSpPr>
        <p:spPr>
          <a:xfrm>
            <a:off x="548640" y="658368"/>
            <a:ext cx="11094415" cy="1005840"/>
          </a:xfrm>
          <a:prstGeom prst="rect">
            <a:avLst/>
          </a:prstGeom>
          <a:noFill/>
          <a:ln/>
        </p:spPr>
        <p:txBody>
          <a:bodyPr wrap="square" lIns="0" tIns="0" rIns="0" bIns="0" rtlCol="0" anchor="t">
            <a:normAutofit/>
          </a:bodyPr>
          <a:lstStyle/>
          <a:p>
            <a:pPr indent="0" marL="0">
              <a:buNone/>
            </a:pPr>
            <a:r>
              <a:rPr lang="en-US" sz="3000" b="1" dirty="0">
                <a:solidFill>
                  <a:srgbClr val="14201B"/>
                </a:solidFill>
                <a:latin typeface="Cambria" pitchFamily="34" charset="0"/>
                <a:ea typeface="Cambria" pitchFamily="34" charset="-122"/>
                <a:cs typeface="Cambria" pitchFamily="34" charset="-120"/>
              </a:rPr>
              <a:t>What we built, and what we used</a:t>
            </a:r>
            <a:endParaRPr lang="en-US" sz="3000" dirty="0"/>
          </a:p>
        </p:txBody>
      </p:sp>
      <p:sp>
        <p:nvSpPr>
          <p:cNvPr id="4" name="Shape 2"/>
          <p:cNvSpPr/>
          <p:nvPr/>
        </p:nvSpPr>
        <p:spPr>
          <a:xfrm>
            <a:off x="548640" y="1737360"/>
            <a:ext cx="5349240" cy="4114800"/>
          </a:xfrm>
          <a:prstGeom prst="roundRect">
            <a:avLst>
              <a:gd name="adj" fmla="val 2667"/>
            </a:avLst>
          </a:prstGeom>
          <a:solidFill>
            <a:srgbClr val="EEF5F1"/>
          </a:solidFill>
          <a:ln w="12700">
            <a:solidFill>
              <a:srgbClr val="EEF5F1"/>
            </a:solidFill>
            <a:prstDash val="solid"/>
          </a:ln>
        </p:spPr>
      </p:sp>
      <p:sp>
        <p:nvSpPr>
          <p:cNvPr id="5" name="Text 3"/>
          <p:cNvSpPr txBox="1"/>
          <p:nvPr/>
        </p:nvSpPr>
        <p:spPr>
          <a:xfrm>
            <a:off x="868680" y="1901952"/>
            <a:ext cx="4709160" cy="411480"/>
          </a:xfrm>
          <a:prstGeom prst="rect">
            <a:avLst/>
          </a:prstGeom>
          <a:noFill/>
          <a:ln/>
        </p:spPr>
        <p:txBody>
          <a:bodyPr wrap="square" lIns="0" tIns="0" rIns="0" bIns="0" rtlCol="0" anchor="ctr"/>
          <a:lstStyle/>
          <a:p>
            <a:pPr indent="0" marL="0">
              <a:buNone/>
            </a:pPr>
            <a:r>
              <a:rPr lang="en-US" sz="1900" b="1" dirty="0">
                <a:solidFill>
                  <a:srgbClr val="1F7A4D"/>
                </a:solidFill>
                <a:latin typeface="Calibri" pitchFamily="34" charset="0"/>
                <a:ea typeface="Calibri" pitchFamily="34" charset="-122"/>
                <a:cs typeface="Calibri" pitchFamily="34" charset="-120"/>
              </a:rPr>
              <a:t>Our own work</a:t>
            </a:r>
            <a:endParaRPr lang="en-US" sz="1900" dirty="0"/>
          </a:p>
        </p:txBody>
      </p:sp>
      <p:sp>
        <p:nvSpPr>
          <p:cNvPr id="6" name="Text 4"/>
          <p:cNvSpPr txBox="1"/>
          <p:nvPr/>
        </p:nvSpPr>
        <p:spPr>
          <a:xfrm>
            <a:off x="868680" y="2414016"/>
            <a:ext cx="4709160" cy="329184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rgbClr val="4A5751"/>
                </a:solidFill>
                <a:latin typeface="Calibri" pitchFamily="34" charset="0"/>
                <a:ea typeface="Calibri" pitchFamily="34" charset="-122"/>
                <a:cs typeface="Calibri" pitchFamily="34" charset="-120"/>
              </a:rPr>
              <a:t>The fault tree and its weighted, cited rules</a:t>
            </a:r>
            <a:endParaRPr lang="en-US" sz="1450" dirty="0"/>
          </a:p>
          <a:p>
            <a:pPr marL="342900" indent="-342900">
              <a:spcAft>
                <a:spcPts val="700"/>
              </a:spcAft>
              <a:buSzPct val="100000"/>
              <a:buChar char="•"/>
            </a:pPr>
            <a:r>
              <a:rPr lang="en-US" sz="1450" dirty="0">
                <a:solidFill>
                  <a:srgbClr val="4A5751"/>
                </a:solidFill>
                <a:latin typeface="Calibri" pitchFamily="34" charset="0"/>
                <a:ea typeface="Calibri" pitchFamily="34" charset="-122"/>
                <a:cs typeface="Calibri" pitchFamily="34" charset="-120"/>
              </a:rPr>
              <a:t>Two-pass ranking, the chance and precedent gates, tiers T1–T4</a:t>
            </a:r>
            <a:endParaRPr lang="en-US" sz="1450" dirty="0"/>
          </a:p>
          <a:p>
            <a:pPr marL="342900" indent="-342900">
              <a:spcAft>
                <a:spcPts val="700"/>
              </a:spcAft>
              <a:buSzPct val="100000"/>
              <a:buChar char="•"/>
            </a:pPr>
            <a:r>
              <a:rPr lang="en-US" sz="1450" dirty="0">
                <a:solidFill>
                  <a:srgbClr val="4A5751"/>
                </a:solidFill>
                <a:latin typeface="Calibri" pitchFamily="34" charset="0"/>
                <a:ea typeface="Calibri" pitchFamily="34" charset="-122"/>
                <a:cs typeface="Calibri" pitchFamily="34" charset="-120"/>
              </a:rPr>
              <a:t>The five-condition close rule and the verdicts</a:t>
            </a:r>
            <a:endParaRPr lang="en-US" sz="1450" dirty="0"/>
          </a:p>
          <a:p>
            <a:pPr marL="342900" indent="-342900">
              <a:spcAft>
                <a:spcPts val="700"/>
              </a:spcAft>
              <a:buSzPct val="100000"/>
              <a:buChar char="•"/>
            </a:pPr>
            <a:r>
              <a:rPr lang="en-US" sz="1450" dirty="0">
                <a:solidFill>
                  <a:srgbClr val="4A5751"/>
                </a:solidFill>
                <a:latin typeface="Calibri" pitchFamily="34" charset="0"/>
                <a:ea typeface="Calibri" pitchFamily="34" charset="-122"/>
                <a:cs typeface="Calibri" pitchFamily="34" charset="-120"/>
              </a:rPr>
              <a:t>Five-axis interview and the follow-up selection</a:t>
            </a:r>
            <a:endParaRPr lang="en-US" sz="1450" dirty="0"/>
          </a:p>
          <a:p>
            <a:pPr marL="342900" indent="-342900">
              <a:spcAft>
                <a:spcPts val="700"/>
              </a:spcAft>
              <a:buSzPct val="100000"/>
              <a:buChar char="•"/>
            </a:pPr>
            <a:r>
              <a:rPr lang="en-US" sz="1450" dirty="0">
                <a:solidFill>
                  <a:srgbClr val="4A5751"/>
                </a:solidFill>
                <a:latin typeface="Calibri" pitchFamily="34" charset="0"/>
                <a:ea typeface="Calibri" pitchFamily="34" charset="-122"/>
                <a:cs typeface="Calibri" pitchFamily="34" charset="-120"/>
              </a:rPr>
              <a:t>Retrieval and precedent counting</a:t>
            </a:r>
            <a:endParaRPr lang="en-US" sz="1450" dirty="0"/>
          </a:p>
          <a:p>
            <a:pPr marL="342900" indent="-342900">
              <a:spcAft>
                <a:spcPts val="700"/>
              </a:spcAft>
              <a:buSzPct val="100000"/>
              <a:buChar char="•"/>
            </a:pPr>
            <a:r>
              <a:rPr lang="en-US" sz="1450" dirty="0">
                <a:solidFill>
                  <a:srgbClr val="4A5751"/>
                </a:solidFill>
                <a:latin typeface="Calibri" pitchFamily="34" charset="0"/>
                <a:ea typeface="Calibri" pitchFamily="34" charset="-122"/>
                <a:cs typeface="Calibri" pitchFamily="34" charset="-120"/>
              </a:rPr>
              <a:t>Photo registration, desk masking, all metrology</a:t>
            </a:r>
            <a:endParaRPr lang="en-US" sz="1450" dirty="0"/>
          </a:p>
          <a:p>
            <a:pPr marL="342900" indent="-342900">
              <a:spcAft>
                <a:spcPts val="700"/>
              </a:spcAft>
              <a:buSzPct val="100000"/>
              <a:buChar char="•"/>
            </a:pPr>
            <a:r>
              <a:rPr lang="en-US" sz="1450" dirty="0">
                <a:solidFill>
                  <a:srgbClr val="4A5751"/>
                </a:solidFill>
                <a:latin typeface="Calibri" pitchFamily="34" charset="0"/>
                <a:ea typeface="Calibri" pitchFamily="34" charset="-122"/>
                <a:cs typeface="Calibri" pitchFamily="34" charset="-120"/>
              </a:rPr>
              <a:t>The synthetic defect generator and the evaluation</a:t>
            </a:r>
            <a:endParaRPr lang="en-US" sz="1450" dirty="0"/>
          </a:p>
        </p:txBody>
      </p:sp>
      <p:sp>
        <p:nvSpPr>
          <p:cNvPr id="7" name="Shape 5"/>
          <p:cNvSpPr/>
          <p:nvPr/>
        </p:nvSpPr>
        <p:spPr>
          <a:xfrm>
            <a:off x="6263640" y="1737360"/>
            <a:ext cx="5349240" cy="4114800"/>
          </a:xfrm>
          <a:prstGeom prst="roundRect">
            <a:avLst>
              <a:gd name="adj" fmla="val 2667"/>
            </a:avLst>
          </a:prstGeom>
          <a:solidFill>
            <a:srgbClr val="F4F4F2"/>
          </a:solidFill>
          <a:ln w="12700">
            <a:solidFill>
              <a:srgbClr val="F4F4F2"/>
            </a:solidFill>
            <a:prstDash val="solid"/>
          </a:ln>
        </p:spPr>
      </p:sp>
      <p:sp>
        <p:nvSpPr>
          <p:cNvPr id="8" name="Text 6"/>
          <p:cNvSpPr txBox="1"/>
          <p:nvPr/>
        </p:nvSpPr>
        <p:spPr>
          <a:xfrm>
            <a:off x="6583680" y="1901952"/>
            <a:ext cx="4709160" cy="411480"/>
          </a:xfrm>
          <a:prstGeom prst="rect">
            <a:avLst/>
          </a:prstGeom>
          <a:noFill/>
          <a:ln/>
        </p:spPr>
        <p:txBody>
          <a:bodyPr wrap="square" lIns="0" tIns="0" rIns="0" bIns="0" rtlCol="0" anchor="ctr"/>
          <a:lstStyle/>
          <a:p>
            <a:pPr indent="0" marL="0">
              <a:buNone/>
            </a:pPr>
            <a:r>
              <a:rPr lang="en-US" sz="1900" b="1" dirty="0">
                <a:solidFill>
                  <a:srgbClr val="14201B"/>
                </a:solidFill>
                <a:latin typeface="Calibri" pitchFamily="34" charset="0"/>
                <a:ea typeface="Calibri" pitchFamily="34" charset="-122"/>
                <a:cs typeface="Calibri" pitchFamily="34" charset="-120"/>
              </a:rPr>
              <a:t>Third-party, declared</a:t>
            </a:r>
            <a:endParaRPr lang="en-US" sz="1900" dirty="0"/>
          </a:p>
        </p:txBody>
      </p:sp>
      <p:sp>
        <p:nvSpPr>
          <p:cNvPr id="9" name="Text 7"/>
          <p:cNvSpPr txBox="1"/>
          <p:nvPr/>
        </p:nvSpPr>
        <p:spPr>
          <a:xfrm>
            <a:off x="6583680" y="2414016"/>
            <a:ext cx="4709160" cy="329184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rgbClr val="4A5751"/>
                </a:solidFill>
                <a:latin typeface="Calibri" pitchFamily="34" charset="0"/>
                <a:ea typeface="Calibri" pitchFamily="34" charset="-122"/>
                <a:cs typeface="Calibri" pitchFamily="34" charset="-120"/>
              </a:rPr>
              <a:t>NPL Report MATC(A)82 — Best Practice for Electronic Materials Dispensing (2001), © Crown copyright, cited on screen</a:t>
            </a:r>
            <a:endParaRPr lang="en-US" sz="1450" dirty="0"/>
          </a:p>
          <a:p>
            <a:pPr marL="342900" indent="-342900">
              <a:spcAft>
                <a:spcPts val="700"/>
              </a:spcAft>
              <a:buSzPct val="100000"/>
              <a:buChar char="•"/>
            </a:pPr>
            <a:r>
              <a:rPr lang="en-US" sz="1450" dirty="0">
                <a:solidFill>
                  <a:srgbClr val="4A5751"/>
                </a:solidFill>
                <a:latin typeface="Calibri" pitchFamily="34" charset="0"/>
                <a:ea typeface="Calibri" pitchFamily="34" charset="-122"/>
                <a:cs typeface="Calibri" pitchFamily="34" charset="-120"/>
              </a:rPr>
              <a:t>NSW Automation challenge brief — rules citing “NSW brief p.N”</a:t>
            </a:r>
            <a:endParaRPr lang="en-US" sz="1450" dirty="0"/>
          </a:p>
          <a:p>
            <a:pPr marL="342900" indent="-342900">
              <a:spcAft>
                <a:spcPts val="700"/>
              </a:spcAft>
              <a:buSzPct val="100000"/>
              <a:buChar char="•"/>
            </a:pPr>
            <a:r>
              <a:rPr lang="en-US" sz="1450" dirty="0">
                <a:solidFill>
                  <a:srgbClr val="4A5751"/>
                </a:solidFill>
                <a:latin typeface="Calibri" pitchFamily="34" charset="0"/>
                <a:ea typeface="Calibri" pitchFamily="34" charset="-122"/>
                <a:cs typeface="Calibri" pitchFamily="34" charset="-120"/>
              </a:rPr>
              <a:t>Groq API, openai/gpt-oss-20b — optional critic, free-text mapping, written explanation</a:t>
            </a:r>
            <a:endParaRPr lang="en-US" sz="1450" dirty="0"/>
          </a:p>
          <a:p>
            <a:pPr marL="342900" indent="-342900">
              <a:spcAft>
                <a:spcPts val="700"/>
              </a:spcAft>
              <a:buSzPct val="100000"/>
              <a:buChar char="•"/>
            </a:pPr>
            <a:r>
              <a:rPr lang="en-US" sz="1450" dirty="0">
                <a:solidFill>
                  <a:srgbClr val="4A5751"/>
                </a:solidFill>
                <a:latin typeface="Calibri" pitchFamily="34" charset="0"/>
                <a:ea typeface="Calibri" pitchFamily="34" charset="-122"/>
                <a:cs typeface="Calibri" pitchFamily="34" charset="-120"/>
              </a:rPr>
              <a:t>FastAPI, Pydantic, SQLAlchemy, Alembic · OpenCV, NumPy</a:t>
            </a:r>
            <a:endParaRPr lang="en-US" sz="1450" dirty="0"/>
          </a:p>
          <a:p>
            <a:pPr marL="342900" indent="-342900">
              <a:spcAft>
                <a:spcPts val="700"/>
              </a:spcAft>
              <a:buSzPct val="100000"/>
              <a:buChar char="•"/>
            </a:pPr>
            <a:r>
              <a:rPr lang="en-US" sz="1450" dirty="0">
                <a:solidFill>
                  <a:srgbClr val="4A5751"/>
                </a:solidFill>
                <a:latin typeface="Calibri" pitchFamily="34" charset="0"/>
                <a:ea typeface="Calibri" pitchFamily="34" charset="-122"/>
                <a:cs typeface="Calibri" pitchFamily="34" charset="-120"/>
              </a:rPr>
              <a:t>Next.js, React, Tailwind, shadcn/ui, Base UI, lucide</a:t>
            </a:r>
            <a:endParaRPr lang="en-US" sz="1450" dirty="0"/>
          </a:p>
          <a:p>
            <a:pPr marL="342900" indent="-342900">
              <a:spcAft>
                <a:spcPts val="700"/>
              </a:spcAft>
              <a:buSzPct val="100000"/>
              <a:buChar char="•"/>
            </a:pPr>
            <a:r>
              <a:rPr lang="en-US" sz="1450" dirty="0">
                <a:solidFill>
                  <a:srgbClr val="4A5751"/>
                </a:solidFill>
                <a:latin typeface="Calibri" pitchFamily="34" charset="0"/>
                <a:ea typeface="Calibri" pitchFamily="34" charset="-122"/>
                <a:cs typeface="Calibri" pitchFamily="34" charset="-120"/>
              </a:rPr>
              <a:t>Dev only: pytest, Playwright, matplotlib</a:t>
            </a:r>
            <a:endParaRPr lang="en-US" sz="1450" dirty="0"/>
          </a:p>
        </p:txBody>
      </p:sp>
      <p:sp>
        <p:nvSpPr>
          <p:cNvPr id="10" name="Text 8"/>
          <p:cNvSpPr txBox="1"/>
          <p:nvPr/>
        </p:nvSpPr>
        <p:spPr>
          <a:xfrm>
            <a:off x="548640" y="6035040"/>
            <a:ext cx="11094415" cy="320040"/>
          </a:xfrm>
          <a:prstGeom prst="rect">
            <a:avLst/>
          </a:prstGeom>
          <a:noFill/>
          <a:ln/>
        </p:spPr>
        <p:txBody>
          <a:bodyPr wrap="square" lIns="0" tIns="0" rIns="0" bIns="0" rtlCol="0" anchor="b"/>
          <a:lstStyle/>
          <a:p>
            <a:pPr indent="0" marL="0">
              <a:buNone/>
            </a:pPr>
            <a:r>
              <a:rPr lang="en-US" sz="1100" i="1" dirty="0">
                <a:solidFill>
                  <a:srgbClr val="7B8781"/>
                </a:solidFill>
                <a:latin typeface="Calibri" pitchFamily="34" charset="0"/>
                <a:ea typeface="Calibri" pitchFamily="34" charset="-122"/>
                <a:cs typeface="Calibri" pitchFamily="34" charset="-120"/>
              </a:rPr>
              <a:t>No model was trained or fine-tuned, and the vision uses no training data — it is classical OpenCV, reproducible by an engineer with a microscope.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C8742B"/>
                </a:solidFill>
                <a:latin typeface="Calibri" pitchFamily="34" charset="0"/>
                <a:ea typeface="Calibri" pitchFamily="34" charset="-122"/>
                <a:cs typeface="Calibri" pitchFamily="34" charset="-120"/>
              </a:rPr>
              <a:t>LIMITATIONS</a:t>
            </a:r>
            <a:endParaRPr lang="en-US" sz="1200" dirty="0"/>
          </a:p>
        </p:txBody>
      </p:sp>
      <p:sp>
        <p:nvSpPr>
          <p:cNvPr id="3" name="Text 1"/>
          <p:cNvSpPr txBox="1"/>
          <p:nvPr/>
        </p:nvSpPr>
        <p:spPr>
          <a:xfrm>
            <a:off x="548640" y="658368"/>
            <a:ext cx="11094415" cy="1005840"/>
          </a:xfrm>
          <a:prstGeom prst="rect">
            <a:avLst/>
          </a:prstGeom>
          <a:noFill/>
          <a:ln/>
        </p:spPr>
        <p:txBody>
          <a:bodyPr wrap="square" lIns="0" tIns="0" rIns="0" bIns="0" rtlCol="0" anchor="t">
            <a:normAutofit/>
          </a:bodyPr>
          <a:lstStyle/>
          <a:p>
            <a:pPr indent="0" marL="0">
              <a:buNone/>
            </a:pPr>
            <a:r>
              <a:rPr lang="en-US" sz="3000" b="1" dirty="0">
                <a:solidFill>
                  <a:srgbClr val="14201B"/>
                </a:solidFill>
                <a:latin typeface="Cambria" pitchFamily="34" charset="0"/>
                <a:ea typeface="Cambria" pitchFamily="34" charset="-122"/>
                <a:cs typeface="Cambria" pitchFamily="34" charset="-120"/>
              </a:rPr>
              <a:t>What it doesn't do — stated before you have to find it</a:t>
            </a:r>
            <a:endParaRPr lang="en-US" sz="3000" dirty="0"/>
          </a:p>
        </p:txBody>
      </p:sp>
      <p:sp>
        <p:nvSpPr>
          <p:cNvPr id="4" name="Shape 2"/>
          <p:cNvSpPr/>
          <p:nvPr/>
        </p:nvSpPr>
        <p:spPr>
          <a:xfrm>
            <a:off x="548640" y="1828800"/>
            <a:ext cx="502920" cy="502920"/>
          </a:xfrm>
          <a:prstGeom prst="ellipse">
            <a:avLst/>
          </a:prstGeom>
          <a:solidFill>
            <a:srgbClr val="8A8984"/>
          </a:solidFill>
          <a:ln w="12700">
            <a:solidFill>
              <a:srgbClr val="8A8984"/>
            </a:solidFill>
            <a:prstDash val="solid"/>
          </a:ln>
        </p:spPr>
      </p:sp>
      <p:pic>
        <p:nvPicPr>
          <p:cNvPr id="5" name="Image 0" descr="preencoded.png">    </p:cNvPr>
          <p:cNvPicPr>
            <a:picLocks noChangeAspect="1"/>
          </p:cNvPicPr>
          <p:nvPr/>
        </p:nvPicPr>
        <p:blipFill>
          <a:blip r:embed="rId1"/>
          <a:stretch>
            <a:fillRect/>
          </a:stretch>
        </p:blipFill>
        <p:spPr>
          <a:xfrm>
            <a:off x="664312" y="1944472"/>
            <a:ext cx="271577" cy="271577"/>
          </a:xfrm>
          <a:prstGeom prst="rect">
            <a:avLst/>
          </a:prstGeom>
        </p:spPr>
      </p:pic>
      <p:sp>
        <p:nvSpPr>
          <p:cNvPr id="6" name="Text 3"/>
          <p:cNvSpPr txBox="1"/>
          <p:nvPr/>
        </p:nvSpPr>
        <p:spPr>
          <a:xfrm>
            <a:off x="1280160" y="1783080"/>
            <a:ext cx="3108960" cy="621792"/>
          </a:xfrm>
          <a:prstGeom prst="rect">
            <a:avLst/>
          </a:prstGeom>
          <a:noFill/>
          <a:ln/>
        </p:spPr>
        <p:txBody>
          <a:bodyPr wrap="square" lIns="0" tIns="0" rIns="0" bIns="0" rtlCol="0" anchor="ctr"/>
          <a:lstStyle/>
          <a:p>
            <a:pPr indent="0" marL="0">
              <a:buNone/>
            </a:pPr>
            <a:r>
              <a:rPr lang="en-US" sz="1600" b="1" dirty="0">
                <a:solidFill>
                  <a:srgbClr val="14201B"/>
                </a:solidFill>
                <a:latin typeface="Calibri" pitchFamily="34" charset="0"/>
                <a:ea typeface="Calibri" pitchFamily="34" charset="-122"/>
                <a:cs typeface="Calibri" pitchFamily="34" charset="-120"/>
              </a:rPr>
              <a:t>No real production photos</a:t>
            </a:r>
            <a:endParaRPr lang="en-US" sz="1600" dirty="0"/>
          </a:p>
        </p:txBody>
      </p:sp>
      <p:sp>
        <p:nvSpPr>
          <p:cNvPr id="7" name="Text 4"/>
          <p:cNvSpPr txBox="1"/>
          <p:nvPr/>
        </p:nvSpPr>
        <p:spPr>
          <a:xfrm>
            <a:off x="4526280" y="1783080"/>
            <a:ext cx="7086600" cy="621792"/>
          </a:xfrm>
          <a:prstGeom prst="rect">
            <a:avLst/>
          </a:prstGeom>
          <a:noFill/>
          <a:ln/>
        </p:spPr>
        <p:txBody>
          <a:bodyPr wrap="square" lIns="0" tIns="0" rIns="0" bIns="0" rtlCol="0" anchor="ctr"/>
          <a:lstStyle/>
          <a:p>
            <a:pPr indent="0" marL="0">
              <a:buNone/>
            </a:pPr>
            <a:r>
              <a:rPr lang="en-US" sz="1350" dirty="0">
                <a:solidFill>
                  <a:srgbClr val="4A5751"/>
                </a:solidFill>
                <a:latin typeface="Calibri" pitchFamily="34" charset="0"/>
                <a:ea typeface="Calibri" pitchFamily="34" charset="-122"/>
                <a:cs typeface="Calibri" pitchFamily="34" charset="-120"/>
              </a:rPr>
              <a:t>NSW had none to give us, so every threshold is tuned on synthetic images. Validating on real NSW photos is step one of a pilot. This is our biggest gap.</a:t>
            </a:r>
            <a:endParaRPr lang="en-US" sz="1350" dirty="0"/>
          </a:p>
        </p:txBody>
      </p:sp>
      <p:sp>
        <p:nvSpPr>
          <p:cNvPr id="8" name="Shape 5"/>
          <p:cNvSpPr/>
          <p:nvPr/>
        </p:nvSpPr>
        <p:spPr>
          <a:xfrm>
            <a:off x="548640" y="2715768"/>
            <a:ext cx="502920" cy="502920"/>
          </a:xfrm>
          <a:prstGeom prst="ellipse">
            <a:avLst/>
          </a:prstGeom>
          <a:solidFill>
            <a:srgbClr val="8A8984"/>
          </a:solidFill>
          <a:ln w="12700">
            <a:solidFill>
              <a:srgbClr val="8A8984"/>
            </a:solidFill>
            <a:prstDash val="solid"/>
          </a:ln>
        </p:spPr>
      </p:sp>
      <p:pic>
        <p:nvPicPr>
          <p:cNvPr id="9" name="Image 1" descr="preencoded.png">    </p:cNvPr>
          <p:cNvPicPr>
            <a:picLocks noChangeAspect="1"/>
          </p:cNvPicPr>
          <p:nvPr/>
        </p:nvPicPr>
        <p:blipFill>
          <a:blip r:embed="rId2"/>
          <a:stretch>
            <a:fillRect/>
          </a:stretch>
        </p:blipFill>
        <p:spPr>
          <a:xfrm>
            <a:off x="664312" y="2831440"/>
            <a:ext cx="271577" cy="271577"/>
          </a:xfrm>
          <a:prstGeom prst="rect">
            <a:avLst/>
          </a:prstGeom>
        </p:spPr>
      </p:pic>
      <p:sp>
        <p:nvSpPr>
          <p:cNvPr id="10" name="Text 6"/>
          <p:cNvSpPr txBox="1"/>
          <p:nvPr/>
        </p:nvSpPr>
        <p:spPr>
          <a:xfrm>
            <a:off x="1280160" y="2670048"/>
            <a:ext cx="3108960" cy="621792"/>
          </a:xfrm>
          <a:prstGeom prst="rect">
            <a:avLst/>
          </a:prstGeom>
          <a:noFill/>
          <a:ln/>
        </p:spPr>
        <p:txBody>
          <a:bodyPr wrap="square" lIns="0" tIns="0" rIns="0" bIns="0" rtlCol="0" anchor="ctr"/>
          <a:lstStyle/>
          <a:p>
            <a:pPr indent="0" marL="0">
              <a:buNone/>
            </a:pPr>
            <a:r>
              <a:rPr lang="en-US" sz="1600" b="1" dirty="0">
                <a:solidFill>
                  <a:srgbClr val="14201B"/>
                </a:solidFill>
                <a:latin typeface="Calibri" pitchFamily="34" charset="0"/>
                <a:ea typeface="Calibri" pitchFamily="34" charset="-122"/>
                <a:cs typeface="Calibri" pitchFamily="34" charset="-120"/>
              </a:rPr>
              <a:t>Seven causes</a:t>
            </a:r>
            <a:endParaRPr lang="en-US" sz="1600" dirty="0"/>
          </a:p>
        </p:txBody>
      </p:sp>
      <p:sp>
        <p:nvSpPr>
          <p:cNvPr id="11" name="Text 7"/>
          <p:cNvSpPr txBox="1"/>
          <p:nvPr/>
        </p:nvSpPr>
        <p:spPr>
          <a:xfrm>
            <a:off x="4526280" y="2670048"/>
            <a:ext cx="7086600" cy="621792"/>
          </a:xfrm>
          <a:prstGeom prst="rect">
            <a:avLst/>
          </a:prstGeom>
          <a:noFill/>
          <a:ln/>
        </p:spPr>
        <p:txBody>
          <a:bodyPr wrap="square" lIns="0" tIns="0" rIns="0" bIns="0" rtlCol="0" anchor="ctr"/>
          <a:lstStyle/>
          <a:p>
            <a:pPr indent="0" marL="0">
              <a:buNone/>
            </a:pPr>
            <a:r>
              <a:rPr lang="en-US" sz="1350" dirty="0">
                <a:solidFill>
                  <a:srgbClr val="4A5751"/>
                </a:solidFill>
                <a:latin typeface="Calibri" pitchFamily="34" charset="0"/>
                <a:ea typeface="Calibri" pitchFamily="34" charset="-122"/>
                <a:cs typeface="Calibri" pitchFamily="34" charset="-120"/>
              </a:rPr>
              <a:t>Stringing, smearing and satellites (up height, NPL §3.3) have no cause yet. They're reported as “no cause ahead” and escalated — not guessed.</a:t>
            </a:r>
            <a:endParaRPr lang="en-US" sz="1350" dirty="0"/>
          </a:p>
        </p:txBody>
      </p:sp>
      <p:sp>
        <p:nvSpPr>
          <p:cNvPr id="12" name="Shape 8"/>
          <p:cNvSpPr/>
          <p:nvPr/>
        </p:nvSpPr>
        <p:spPr>
          <a:xfrm>
            <a:off x="548640" y="3602736"/>
            <a:ext cx="502920" cy="502920"/>
          </a:xfrm>
          <a:prstGeom prst="ellipse">
            <a:avLst/>
          </a:prstGeom>
          <a:solidFill>
            <a:srgbClr val="8A8984"/>
          </a:solidFill>
          <a:ln w="12700">
            <a:solidFill>
              <a:srgbClr val="8A8984"/>
            </a:solidFill>
            <a:prstDash val="solid"/>
          </a:ln>
        </p:spPr>
      </p:sp>
      <p:pic>
        <p:nvPicPr>
          <p:cNvPr id="13" name="Image 2" descr="preencoded.png">    </p:cNvPr>
          <p:cNvPicPr>
            <a:picLocks noChangeAspect="1"/>
          </p:cNvPicPr>
          <p:nvPr/>
        </p:nvPicPr>
        <p:blipFill>
          <a:blip r:embed="rId3"/>
          <a:stretch>
            <a:fillRect/>
          </a:stretch>
        </p:blipFill>
        <p:spPr>
          <a:xfrm>
            <a:off x="664312" y="3718408"/>
            <a:ext cx="271577" cy="271577"/>
          </a:xfrm>
          <a:prstGeom prst="rect">
            <a:avLst/>
          </a:prstGeom>
        </p:spPr>
      </p:pic>
      <p:sp>
        <p:nvSpPr>
          <p:cNvPr id="14" name="Text 9"/>
          <p:cNvSpPr txBox="1"/>
          <p:nvPr/>
        </p:nvSpPr>
        <p:spPr>
          <a:xfrm>
            <a:off x="1280160" y="3557016"/>
            <a:ext cx="3108960" cy="621792"/>
          </a:xfrm>
          <a:prstGeom prst="rect">
            <a:avLst/>
          </a:prstGeom>
          <a:noFill/>
          <a:ln/>
        </p:spPr>
        <p:txBody>
          <a:bodyPr wrap="square" lIns="0" tIns="0" rIns="0" bIns="0" rtlCol="0" anchor="ctr"/>
          <a:lstStyle/>
          <a:p>
            <a:pPr indent="0" marL="0">
              <a:buNone/>
            </a:pPr>
            <a:r>
              <a:rPr lang="en-US" sz="1600" b="1" dirty="0">
                <a:solidFill>
                  <a:srgbClr val="14201B"/>
                </a:solidFill>
                <a:latin typeface="Calibri" pitchFamily="34" charset="0"/>
                <a:ea typeface="Calibri" pitchFamily="34" charset="-122"/>
                <a:cs typeface="Calibri" pitchFamily="34" charset="-120"/>
              </a:rPr>
              <a:t>Busy boards</a:t>
            </a:r>
            <a:endParaRPr lang="en-US" sz="1600" dirty="0"/>
          </a:p>
        </p:txBody>
      </p:sp>
      <p:sp>
        <p:nvSpPr>
          <p:cNvPr id="15" name="Text 10"/>
          <p:cNvSpPr txBox="1"/>
          <p:nvPr/>
        </p:nvSpPr>
        <p:spPr>
          <a:xfrm>
            <a:off x="4526280" y="3557016"/>
            <a:ext cx="7086600" cy="621792"/>
          </a:xfrm>
          <a:prstGeom prst="rect">
            <a:avLst/>
          </a:prstGeom>
          <a:noFill/>
          <a:ln/>
        </p:spPr>
        <p:txBody>
          <a:bodyPr wrap="square" lIns="0" tIns="0" rIns="0" bIns="0" rtlCol="0" anchor="ctr"/>
          <a:lstStyle/>
          <a:p>
            <a:pPr indent="0" marL="0">
              <a:buNone/>
            </a:pPr>
            <a:r>
              <a:rPr lang="en-US" sz="1350" dirty="0">
                <a:solidFill>
                  <a:srgbClr val="4A5751"/>
                </a:solidFill>
                <a:latin typeface="Calibri" pitchFamily="34" charset="0"/>
                <a:ea typeface="Calibri" pitchFamily="34" charset="-122"/>
                <a:cs typeface="Calibri" pitchFamily="34" charset="-120"/>
              </a:rPr>
              <a:t>A trace touching a deposit can read as a distorted shape: 9% false alarms under light clutter. The fix is a bare-board reference photo.</a:t>
            </a:r>
            <a:endParaRPr lang="en-US" sz="1350" dirty="0"/>
          </a:p>
        </p:txBody>
      </p:sp>
      <p:sp>
        <p:nvSpPr>
          <p:cNvPr id="16" name="Shape 11"/>
          <p:cNvSpPr/>
          <p:nvPr/>
        </p:nvSpPr>
        <p:spPr>
          <a:xfrm>
            <a:off x="548640" y="4489704"/>
            <a:ext cx="502920" cy="502920"/>
          </a:xfrm>
          <a:prstGeom prst="ellipse">
            <a:avLst/>
          </a:prstGeom>
          <a:solidFill>
            <a:srgbClr val="8A8984"/>
          </a:solidFill>
          <a:ln w="12700">
            <a:solidFill>
              <a:srgbClr val="8A8984"/>
            </a:solidFill>
            <a:prstDash val="solid"/>
          </a:ln>
        </p:spPr>
      </p:sp>
      <p:pic>
        <p:nvPicPr>
          <p:cNvPr id="17" name="Image 3" descr="preencoded.png">    </p:cNvPr>
          <p:cNvPicPr>
            <a:picLocks noChangeAspect="1"/>
          </p:cNvPicPr>
          <p:nvPr/>
        </p:nvPicPr>
        <p:blipFill>
          <a:blip r:embed="rId4"/>
          <a:stretch>
            <a:fillRect/>
          </a:stretch>
        </p:blipFill>
        <p:spPr>
          <a:xfrm>
            <a:off x="664312" y="4605376"/>
            <a:ext cx="271577" cy="271577"/>
          </a:xfrm>
          <a:prstGeom prst="rect">
            <a:avLst/>
          </a:prstGeom>
        </p:spPr>
      </p:pic>
      <p:sp>
        <p:nvSpPr>
          <p:cNvPr id="18" name="Text 12"/>
          <p:cNvSpPr txBox="1"/>
          <p:nvPr/>
        </p:nvSpPr>
        <p:spPr>
          <a:xfrm>
            <a:off x="1280160" y="4443984"/>
            <a:ext cx="3108960" cy="621792"/>
          </a:xfrm>
          <a:prstGeom prst="rect">
            <a:avLst/>
          </a:prstGeom>
          <a:noFill/>
          <a:ln/>
        </p:spPr>
        <p:txBody>
          <a:bodyPr wrap="square" lIns="0" tIns="0" rIns="0" bIns="0" rtlCol="0" anchor="ctr"/>
          <a:lstStyle/>
          <a:p>
            <a:pPr indent="0" marL="0">
              <a:buNone/>
            </a:pPr>
            <a:r>
              <a:rPr lang="en-US" sz="1600" b="1" dirty="0">
                <a:solidFill>
                  <a:srgbClr val="14201B"/>
                </a:solidFill>
                <a:latin typeface="Calibri" pitchFamily="34" charset="0"/>
                <a:ea typeface="Calibri" pitchFamily="34" charset="-122"/>
                <a:cs typeface="Calibri" pitchFamily="34" charset="-120"/>
              </a:rPr>
              <a:t>Pixels, not microns</a:t>
            </a:r>
            <a:endParaRPr lang="en-US" sz="1600" dirty="0"/>
          </a:p>
        </p:txBody>
      </p:sp>
      <p:sp>
        <p:nvSpPr>
          <p:cNvPr id="19" name="Text 13"/>
          <p:cNvSpPr txBox="1"/>
          <p:nvPr/>
        </p:nvSpPr>
        <p:spPr>
          <a:xfrm>
            <a:off x="4526280" y="4443984"/>
            <a:ext cx="7086600" cy="621792"/>
          </a:xfrm>
          <a:prstGeom prst="rect">
            <a:avLst/>
          </a:prstGeom>
          <a:noFill/>
          <a:ln/>
        </p:spPr>
        <p:txBody>
          <a:bodyPr wrap="square" lIns="0" tIns="0" rIns="0" bIns="0" rtlCol="0" anchor="ctr"/>
          <a:lstStyle/>
          <a:p>
            <a:pPr indent="0" marL="0">
              <a:buNone/>
            </a:pPr>
            <a:r>
              <a:rPr lang="en-US" sz="1350" dirty="0">
                <a:solidFill>
                  <a:srgbClr val="4A5751"/>
                </a:solidFill>
                <a:latin typeface="Calibri" pitchFamily="34" charset="0"/>
                <a:ea typeface="Calibri" pitchFamily="34" charset="-122"/>
                <a:cs typeface="Calibri" pitchFamily="34" charset="-120"/>
              </a:rPr>
              <a:t>Everything is relative to the recipe; absolute volume needs a scale reference or a known pitch.</a:t>
            </a:r>
            <a:endParaRPr lang="en-US" sz="1350" dirty="0"/>
          </a:p>
        </p:txBody>
      </p:sp>
      <p:sp>
        <p:nvSpPr>
          <p:cNvPr id="20" name="Shape 14"/>
          <p:cNvSpPr/>
          <p:nvPr/>
        </p:nvSpPr>
        <p:spPr>
          <a:xfrm>
            <a:off x="548640" y="5376672"/>
            <a:ext cx="502920" cy="502920"/>
          </a:xfrm>
          <a:prstGeom prst="ellipse">
            <a:avLst/>
          </a:prstGeom>
          <a:solidFill>
            <a:srgbClr val="8A8984"/>
          </a:solidFill>
          <a:ln w="12700">
            <a:solidFill>
              <a:srgbClr val="8A8984"/>
            </a:solidFill>
            <a:prstDash val="solid"/>
          </a:ln>
        </p:spPr>
      </p:sp>
      <p:pic>
        <p:nvPicPr>
          <p:cNvPr id="21" name="Image 4" descr="preencoded.png">    </p:cNvPr>
          <p:cNvPicPr>
            <a:picLocks noChangeAspect="1"/>
          </p:cNvPicPr>
          <p:nvPr/>
        </p:nvPicPr>
        <p:blipFill>
          <a:blip r:embed="rId5"/>
          <a:stretch>
            <a:fillRect/>
          </a:stretch>
        </p:blipFill>
        <p:spPr>
          <a:xfrm>
            <a:off x="664312" y="5492344"/>
            <a:ext cx="271577" cy="271577"/>
          </a:xfrm>
          <a:prstGeom prst="rect">
            <a:avLst/>
          </a:prstGeom>
        </p:spPr>
      </p:pic>
      <p:sp>
        <p:nvSpPr>
          <p:cNvPr id="22" name="Text 15"/>
          <p:cNvSpPr txBox="1"/>
          <p:nvPr/>
        </p:nvSpPr>
        <p:spPr>
          <a:xfrm>
            <a:off x="1280160" y="5330952"/>
            <a:ext cx="3108960" cy="621792"/>
          </a:xfrm>
          <a:prstGeom prst="rect">
            <a:avLst/>
          </a:prstGeom>
          <a:noFill/>
          <a:ln/>
        </p:spPr>
        <p:txBody>
          <a:bodyPr wrap="square" lIns="0" tIns="0" rIns="0" bIns="0" rtlCol="0" anchor="ctr"/>
          <a:lstStyle/>
          <a:p>
            <a:pPr indent="0" marL="0">
              <a:buNone/>
            </a:pPr>
            <a:r>
              <a:rPr lang="en-US" sz="1600" b="1" dirty="0">
                <a:solidFill>
                  <a:srgbClr val="14201B"/>
                </a:solidFill>
                <a:latin typeface="Calibri" pitchFamily="34" charset="0"/>
                <a:ea typeface="Calibri" pitchFamily="34" charset="-122"/>
                <a:cs typeface="Calibri" pitchFamily="34" charset="-120"/>
              </a:rPr>
              <a:t>The LLM isn't reproducible</a:t>
            </a:r>
            <a:endParaRPr lang="en-US" sz="1600" dirty="0"/>
          </a:p>
        </p:txBody>
      </p:sp>
      <p:sp>
        <p:nvSpPr>
          <p:cNvPr id="23" name="Text 16"/>
          <p:cNvSpPr txBox="1"/>
          <p:nvPr/>
        </p:nvSpPr>
        <p:spPr>
          <a:xfrm>
            <a:off x="4526280" y="5330952"/>
            <a:ext cx="7086600" cy="621792"/>
          </a:xfrm>
          <a:prstGeom prst="rect">
            <a:avLst/>
          </a:prstGeom>
          <a:noFill/>
          <a:ln/>
        </p:spPr>
        <p:txBody>
          <a:bodyPr wrap="square" lIns="0" tIns="0" rIns="0" bIns="0" rtlCol="0" anchor="ctr"/>
          <a:lstStyle/>
          <a:p>
            <a:pPr indent="0" marL="0">
              <a:buNone/>
            </a:pPr>
            <a:r>
              <a:rPr lang="en-US" sz="1350" dirty="0">
                <a:solidFill>
                  <a:srgbClr val="4A5751"/>
                </a:solidFill>
                <a:latin typeface="Calibri" pitchFamily="34" charset="0"/>
                <a:ea typeface="Calibri" pitchFamily="34" charset="-122"/>
                <a:cs typeface="Calibri" pitchFamily="34" charset="-120"/>
              </a:rPr>
              <a:t>Critic and explanation can vary between runs — which is exactly why neither is allowed to change a likelihood.</a:t>
            </a:r>
            <a:endParaRPr lang="en-US" sz="1350" dirty="0"/>
          </a:p>
        </p:txBody>
      </p:sp>
      <p:sp>
        <p:nvSpPr>
          <p:cNvPr id="24" name="Text 17"/>
          <p:cNvSpPr txBox="1"/>
          <p:nvPr/>
        </p:nvSpPr>
        <p:spPr>
          <a:xfrm>
            <a:off x="548640" y="6355080"/>
            <a:ext cx="11094415" cy="320040"/>
          </a:xfrm>
          <a:prstGeom prst="rect">
            <a:avLst/>
          </a:prstGeom>
          <a:noFill/>
          <a:ln/>
        </p:spPr>
        <p:txBody>
          <a:bodyPr wrap="square" lIns="0" tIns="0" rIns="0" bIns="0" rtlCol="0" anchor="b"/>
          <a:lstStyle/>
          <a:p>
            <a:pPr indent="0" marL="0">
              <a:buNone/>
            </a:pPr>
            <a:r>
              <a:rPr lang="en-US" sz="1100" i="1" dirty="0">
                <a:solidFill>
                  <a:srgbClr val="7B8781"/>
                </a:solidFill>
                <a:latin typeface="Calibri" pitchFamily="34" charset="0"/>
                <a:ea typeface="Calibri" pitchFamily="34" charset="-122"/>
                <a:cs typeface="Calibri" pitchFamily="34" charset="-120"/>
              </a:rPr>
              <a:t>The measurement oracle deliberately includes cases the system fails, asserted as failures rather than hidden.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3B2E"/>
        </a:solidFill>
      </p:bgPr>
    </p:bg>
    <p:spTree>
      <p:nvGrpSpPr>
        <p:cNvPr id="1" name=""/>
        <p:cNvGrpSpPr/>
        <p:nvPr/>
      </p:nvGrpSpPr>
      <p:grpSpPr>
        <a:xfrm>
          <a:off x="0" y="0"/>
          <a:ext cx="0" cy="0"/>
          <a:chOff x="0" y="0"/>
          <a:chExt cx="0" cy="0"/>
        </a:xfrm>
      </p:grpSpPr>
      <p:sp>
        <p:nvSpPr>
          <p:cNvPr id="2" name="Text 0"/>
          <p:cNvSpPr txBox="1"/>
          <p:nvPr/>
        </p:nvSpPr>
        <p:spPr>
          <a:xfrm>
            <a:off x="640080" y="1600200"/>
            <a:ext cx="7863840" cy="2651760"/>
          </a:xfrm>
          <a:prstGeom prst="rect">
            <a:avLst/>
          </a:prstGeom>
          <a:noFill/>
          <a:ln/>
        </p:spPr>
        <p:txBody>
          <a:bodyPr wrap="square" lIns="0" tIns="0" rIns="0" bIns="0" rtlCol="0" anchor="t"/>
          <a:lstStyle/>
          <a:p>
            <a:pPr indent="0" marL="0">
              <a:lnSpc>
                <a:spcPct val="125000"/>
              </a:lnSpc>
              <a:buNone/>
            </a:pPr>
            <a:r>
              <a:rPr lang="en-US" sz="3600" b="1" dirty="0">
                <a:solidFill>
                  <a:srgbClr val="FFFFFF"/>
                </a:solidFill>
                <a:latin typeface="Cambria" pitchFamily="34" charset="0"/>
                <a:ea typeface="Cambria" pitchFamily="34" charset="-122"/>
                <a:cs typeface="Cambria" pitchFamily="34" charset="-120"/>
              </a:rPr>
              <a:t>Faster first checks.</a:t>
            </a:r>
            <a:endParaRPr lang="en-US" sz="3600" dirty="0"/>
          </a:p>
          <a:p>
            <a:pPr indent="0" marL="0">
              <a:lnSpc>
                <a:spcPct val="125000"/>
              </a:lnSpc>
              <a:buNone/>
            </a:pPr>
            <a:r>
              <a:rPr lang="en-US" sz="3600" b="1" dirty="0">
                <a:solidFill>
                  <a:srgbClr val="FFFFFF"/>
                </a:solidFill>
                <a:latin typeface="Cambria" pitchFamily="34" charset="0"/>
                <a:ea typeface="Cambria" pitchFamily="34" charset="-122"/>
                <a:cs typeface="Cambria" pitchFamily="34" charset="-120"/>
              </a:rPr>
              <a:t>An auditable record.</a:t>
            </a:r>
            <a:endParaRPr lang="en-US" sz="3600" dirty="0"/>
          </a:p>
          <a:p>
            <a:pPr indent="0" marL="0">
              <a:lnSpc>
                <a:spcPct val="125000"/>
              </a:lnSpc>
              <a:buNone/>
            </a:pPr>
            <a:r>
              <a:rPr lang="en-US" sz="3600" b="1" dirty="0">
                <a:solidFill>
                  <a:srgbClr val="FFFFFF"/>
                </a:solidFill>
                <a:latin typeface="Cambria" pitchFamily="34" charset="0"/>
                <a:ea typeface="Cambria" pitchFamily="34" charset="-122"/>
                <a:cs typeface="Cambria" pitchFamily="34" charset="-120"/>
              </a:rPr>
              <a:t>A history that only learns from proved fixes.</a:t>
            </a:r>
            <a:endParaRPr lang="en-US" sz="3600" dirty="0"/>
          </a:p>
        </p:txBody>
      </p:sp>
      <p:sp>
        <p:nvSpPr>
          <p:cNvPr id="3" name="Text 1"/>
          <p:cNvSpPr txBox="1"/>
          <p:nvPr/>
        </p:nvSpPr>
        <p:spPr>
          <a:xfrm>
            <a:off x="640080" y="4572000"/>
            <a:ext cx="7863840" cy="640080"/>
          </a:xfrm>
          <a:prstGeom prst="rect">
            <a:avLst/>
          </a:prstGeom>
          <a:noFill/>
          <a:ln/>
        </p:spPr>
        <p:txBody>
          <a:bodyPr wrap="square" lIns="0" tIns="0" rIns="0" bIns="0" rtlCol="0" anchor="ctr"/>
          <a:lstStyle/>
          <a:p>
            <a:pPr indent="0" marL="0">
              <a:buNone/>
            </a:pPr>
            <a:r>
              <a:rPr lang="en-US" sz="3000" b="1" dirty="0">
                <a:solidFill>
                  <a:srgbClr val="E9B07C"/>
                </a:solidFill>
                <a:latin typeface="Cambria" pitchFamily="34" charset="0"/>
                <a:ea typeface="Cambria" pitchFamily="34" charset="-122"/>
                <a:cs typeface="Cambria" pitchFamily="34" charset="-120"/>
              </a:rPr>
              <a:t>Live demo  →</a:t>
            </a:r>
            <a:endParaRPr lang="en-US" sz="3000" dirty="0"/>
          </a:p>
        </p:txBody>
      </p:sp>
      <p:sp>
        <p:nvSpPr>
          <p:cNvPr id="4" name="Text 2"/>
          <p:cNvSpPr txBox="1"/>
          <p:nvPr/>
        </p:nvSpPr>
        <p:spPr>
          <a:xfrm>
            <a:off x="640080" y="5943600"/>
            <a:ext cx="10058400" cy="320040"/>
          </a:xfrm>
          <a:prstGeom prst="rect">
            <a:avLst/>
          </a:prstGeom>
          <a:noFill/>
          <a:ln/>
        </p:spPr>
        <p:txBody>
          <a:bodyPr wrap="square" lIns="0" tIns="0" rIns="0" bIns="0" rtlCol="0" anchor="ctr"/>
          <a:lstStyle/>
          <a:p>
            <a:pPr indent="0" marL="0">
              <a:buNone/>
            </a:pPr>
            <a:r>
              <a:rPr lang="en-US" sz="1300" dirty="0">
                <a:solidFill>
                  <a:srgbClr val="9CC9B1"/>
                </a:solidFill>
                <a:latin typeface="Calibri" pitchFamily="34" charset="0"/>
                <a:ea typeface="Calibri" pitchFamily="34" charset="-122"/>
                <a:cs typeface="Calibri" pitchFamily="34" charset="-120"/>
              </a:rPr>
              <a:t>Team Lithium  ·  Universiti Sains Malaysia  ·  AI Dispensing Defect Detective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7B8781"/>
                </a:solidFill>
                <a:latin typeface="Calibri" pitchFamily="34" charset="0"/>
                <a:ea typeface="Calibri" pitchFamily="34" charset="-122"/>
                <a:cs typeface="Calibri" pitchFamily="34" charset="-120"/>
              </a:rPr>
              <a:t>BACKUP · EVIDENCE</a:t>
            </a:r>
            <a:endParaRPr lang="en-US" sz="1200" dirty="0"/>
          </a:p>
        </p:txBody>
      </p:sp>
      <p:sp>
        <p:nvSpPr>
          <p:cNvPr id="3" name="Text 1"/>
          <p:cNvSpPr txBox="1"/>
          <p:nvPr/>
        </p:nvSpPr>
        <p:spPr>
          <a:xfrm>
            <a:off x="548640" y="658368"/>
            <a:ext cx="11094415" cy="1005840"/>
          </a:xfrm>
          <a:prstGeom prst="rect">
            <a:avLst/>
          </a:prstGeom>
          <a:noFill/>
          <a:ln/>
        </p:spPr>
        <p:txBody>
          <a:bodyPr wrap="square" lIns="0" tIns="0" rIns="0" bIns="0" rtlCol="0" anchor="t">
            <a:normAutofit/>
          </a:bodyPr>
          <a:lstStyle/>
          <a:p>
            <a:pPr indent="0" marL="0">
              <a:buNone/>
            </a:pPr>
            <a:r>
              <a:rPr lang="en-US" sz="3000" b="1" dirty="0">
                <a:solidFill>
                  <a:srgbClr val="14201B"/>
                </a:solidFill>
                <a:latin typeface="Cambria" pitchFamily="34" charset="0"/>
                <a:ea typeface="Cambria" pitchFamily="34" charset="-122"/>
                <a:cs typeface="Cambria" pitchFamily="34" charset="-120"/>
              </a:rPr>
              <a:t>The more reasons behind it, the more often it's right</a:t>
            </a:r>
            <a:endParaRPr lang="en-US" sz="3000" dirty="0"/>
          </a:p>
        </p:txBody>
      </p:sp>
      <p:graphicFrame>
        <p:nvGraphicFramePr>
          <p:cNvPr id="4" name="Chart 0" descr=""/>
          <p:cNvGraphicFramePr/>
          <p:nvPr/>
        </p:nvGraphicFramePr>
        <p:xfrm>
          <a:off x="548640" y="1645920"/>
          <a:ext cx="6126480" cy="4160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833872"/>
            <a:ext cx="6126480" cy="274320"/>
          </a:xfrm>
          <a:prstGeom prst="rect">
            <a:avLst/>
          </a:prstGeom>
          <a:noFill/>
          <a:ln/>
        </p:spPr>
        <p:txBody>
          <a:bodyPr wrap="square" lIns="0" tIns="0" rIns="0" bIns="0" rtlCol="0" anchor="ctr"/>
          <a:lstStyle/>
          <a:p>
            <a:pPr algn="ctr" indent="0" marL="0">
              <a:buNone/>
            </a:pPr>
            <a:r>
              <a:rPr lang="en-US" sz="1200" dirty="0">
                <a:solidFill>
                  <a:srgbClr val="7B8781"/>
                </a:solidFill>
                <a:latin typeface="Calibri" pitchFamily="34" charset="0"/>
                <a:ea typeface="Calibri" pitchFamily="34" charset="-122"/>
                <a:cs typeface="Calibri" pitchFamily="34" charset="-120"/>
              </a:rPr>
              <a:t>Photo + answers · 420 simulated cases at three answer-reliability levels · chance = 14%</a:t>
            </a:r>
            <a:endParaRPr lang="en-US" sz="1200" dirty="0"/>
          </a:p>
        </p:txBody>
      </p:sp>
      <p:sp>
        <p:nvSpPr>
          <p:cNvPr id="6" name="Text 3"/>
          <p:cNvSpPr txBox="1"/>
          <p:nvPr/>
        </p:nvSpPr>
        <p:spPr>
          <a:xfrm>
            <a:off x="7086600" y="1783080"/>
            <a:ext cx="4526280" cy="658368"/>
          </a:xfrm>
          <a:prstGeom prst="rect">
            <a:avLst/>
          </a:prstGeom>
          <a:noFill/>
          <a:ln/>
        </p:spPr>
        <p:txBody>
          <a:bodyPr wrap="square" lIns="0" tIns="0" rIns="0" bIns="0" rtlCol="0" anchor="t"/>
          <a:lstStyle/>
          <a:p>
            <a:pPr indent="0" marL="0">
              <a:buNone/>
            </a:pPr>
            <a:r>
              <a:rPr lang="en-US" sz="4400" b="1" dirty="0">
                <a:solidFill>
                  <a:srgbClr val="C8742B"/>
                </a:solidFill>
                <a:latin typeface="Calibri" pitchFamily="34" charset="0"/>
                <a:ea typeface="Calibri" pitchFamily="34" charset="-122"/>
                <a:cs typeface="Calibri" pitchFamily="34" charset="-120"/>
              </a:rPr>
              <a:t>66%</a:t>
            </a:r>
            <a:endParaRPr lang="en-US" sz="4400" dirty="0"/>
          </a:p>
        </p:txBody>
      </p:sp>
      <p:sp>
        <p:nvSpPr>
          <p:cNvPr id="7" name="Text 4"/>
          <p:cNvSpPr txBox="1"/>
          <p:nvPr/>
        </p:nvSpPr>
        <p:spPr>
          <a:xfrm>
            <a:off x="7086600" y="2441448"/>
            <a:ext cx="4526280" cy="640080"/>
          </a:xfrm>
          <a:prstGeom prst="rect">
            <a:avLst/>
          </a:prstGeom>
          <a:noFill/>
          <a:ln/>
        </p:spPr>
        <p:txBody>
          <a:bodyPr wrap="square" lIns="0" tIns="0" rIns="0" bIns="0" rtlCol="0" anchor="t"/>
          <a:lstStyle/>
          <a:p>
            <a:pPr indent="0" marL="0">
              <a:buNone/>
            </a:pPr>
            <a:r>
              <a:rPr lang="en-US" sz="1350" dirty="0">
                <a:solidFill>
                  <a:srgbClr val="4A5751"/>
                </a:solidFill>
                <a:latin typeface="Calibri" pitchFamily="34" charset="0"/>
                <a:ea typeface="Calibri" pitchFamily="34" charset="-122"/>
                <a:cs typeface="Calibri" pitchFamily="34" charset="-120"/>
              </a:rPr>
              <a:t>top cause right from one photo and five answers, with an operator whose answers are only 75% reliable — chance is 14%</a:t>
            </a:r>
            <a:endParaRPr lang="en-US" sz="1350" dirty="0"/>
          </a:p>
        </p:txBody>
      </p:sp>
      <p:sp>
        <p:nvSpPr>
          <p:cNvPr id="8" name="Text 5"/>
          <p:cNvSpPr txBox="1"/>
          <p:nvPr/>
        </p:nvSpPr>
        <p:spPr>
          <a:xfrm>
            <a:off x="7086600" y="3154680"/>
            <a:ext cx="4526280" cy="658368"/>
          </a:xfrm>
          <a:prstGeom prst="rect">
            <a:avLst/>
          </a:prstGeom>
          <a:noFill/>
          <a:ln/>
        </p:spPr>
        <p:txBody>
          <a:bodyPr wrap="square" lIns="0" tIns="0" rIns="0" bIns="0" rtlCol="0" anchor="t"/>
          <a:lstStyle/>
          <a:p>
            <a:pPr indent="0" marL="0">
              <a:buNone/>
            </a:pPr>
            <a:r>
              <a:rPr lang="en-US" sz="4400" b="1" dirty="0">
                <a:solidFill>
                  <a:srgbClr val="C8742B"/>
                </a:solidFill>
                <a:latin typeface="Calibri" pitchFamily="34" charset="0"/>
                <a:ea typeface="Calibri" pitchFamily="34" charset="-122"/>
                <a:cs typeface="Calibri" pitchFamily="34" charset="-120"/>
              </a:rPr>
              <a:t>6,600</a:t>
            </a:r>
            <a:endParaRPr lang="en-US" sz="4400" dirty="0"/>
          </a:p>
        </p:txBody>
      </p:sp>
      <p:sp>
        <p:nvSpPr>
          <p:cNvPr id="9" name="Text 6"/>
          <p:cNvSpPr txBox="1"/>
          <p:nvPr/>
        </p:nvSpPr>
        <p:spPr>
          <a:xfrm>
            <a:off x="7086600" y="3813048"/>
            <a:ext cx="4526280" cy="640080"/>
          </a:xfrm>
          <a:prstGeom prst="rect">
            <a:avLst/>
          </a:prstGeom>
          <a:noFill/>
          <a:ln/>
        </p:spPr>
        <p:txBody>
          <a:bodyPr wrap="square" lIns="0" tIns="0" rIns="0" bIns="0" rtlCol="0" anchor="t"/>
          <a:lstStyle/>
          <a:p>
            <a:pPr indent="0" marL="0">
              <a:buNone/>
            </a:pPr>
            <a:r>
              <a:rPr lang="en-US" sz="1350" dirty="0">
                <a:solidFill>
                  <a:srgbClr val="4A5751"/>
                </a:solidFill>
                <a:latin typeface="Calibri" pitchFamily="34" charset="0"/>
                <a:ea typeface="Calibri" pitchFamily="34" charset="-122"/>
                <a:cs typeface="Calibri" pitchFamily="34" charset="-120"/>
              </a:rPr>
              <a:t>synthetic photos and 420 simulated cases through the real code, in every evaluation run (about a minute)</a:t>
            </a:r>
            <a:endParaRPr lang="en-US" sz="1350" dirty="0"/>
          </a:p>
        </p:txBody>
      </p:sp>
      <p:sp>
        <p:nvSpPr>
          <p:cNvPr id="10" name="Text 7"/>
          <p:cNvSpPr txBox="1"/>
          <p:nvPr/>
        </p:nvSpPr>
        <p:spPr>
          <a:xfrm>
            <a:off x="7086600" y="4526280"/>
            <a:ext cx="4526280" cy="658368"/>
          </a:xfrm>
          <a:prstGeom prst="rect">
            <a:avLst/>
          </a:prstGeom>
          <a:noFill/>
          <a:ln/>
        </p:spPr>
        <p:txBody>
          <a:bodyPr wrap="square" lIns="0" tIns="0" rIns="0" bIns="0" rtlCol="0" anchor="t"/>
          <a:lstStyle/>
          <a:p>
            <a:pPr indent="0" marL="0">
              <a:buNone/>
            </a:pPr>
            <a:r>
              <a:rPr lang="en-US" sz="4400" b="1" dirty="0">
                <a:solidFill>
                  <a:srgbClr val="C8742B"/>
                </a:solidFill>
                <a:latin typeface="Calibri" pitchFamily="34" charset="0"/>
                <a:ea typeface="Calibri" pitchFamily="34" charset="-122"/>
                <a:cs typeface="Calibri" pitchFamily="34" charset="-120"/>
              </a:rPr>
              <a:t>108</a:t>
            </a:r>
            <a:endParaRPr lang="en-US" sz="4400" dirty="0"/>
          </a:p>
        </p:txBody>
      </p:sp>
      <p:sp>
        <p:nvSpPr>
          <p:cNvPr id="11" name="Text 8"/>
          <p:cNvSpPr txBox="1"/>
          <p:nvPr/>
        </p:nvSpPr>
        <p:spPr>
          <a:xfrm>
            <a:off x="7086600" y="5184648"/>
            <a:ext cx="4526280" cy="640080"/>
          </a:xfrm>
          <a:prstGeom prst="rect">
            <a:avLst/>
          </a:prstGeom>
          <a:noFill/>
          <a:ln/>
        </p:spPr>
        <p:txBody>
          <a:bodyPr wrap="square" lIns="0" tIns="0" rIns="0" bIns="0" rtlCol="0" anchor="t"/>
          <a:lstStyle/>
          <a:p>
            <a:pPr indent="0" marL="0">
              <a:buNone/>
            </a:pPr>
            <a:r>
              <a:rPr lang="en-US" sz="1350" dirty="0">
                <a:solidFill>
                  <a:srgbClr val="4A5751"/>
                </a:solidFill>
                <a:latin typeface="Calibri" pitchFamily="34" charset="0"/>
                <a:ea typeface="Calibri" pitchFamily="34" charset="-122"/>
                <a:cs typeface="Calibri" pitchFamily="34" charset="-120"/>
              </a:rPr>
              <a:t>automated checks — 79 backend tests, 27 measurement oracles, 2 golden cases — plus a browser run of the whole wizard</a:t>
            </a:r>
            <a:endParaRPr lang="en-US" sz="1350" dirty="0"/>
          </a:p>
        </p:txBody>
      </p:sp>
      <p:sp>
        <p:nvSpPr>
          <p:cNvPr id="12" name="Text 9"/>
          <p:cNvSpPr txBox="1"/>
          <p:nvPr/>
        </p:nvSpPr>
        <p:spPr>
          <a:xfrm>
            <a:off x="548640" y="6355080"/>
            <a:ext cx="11094415" cy="320040"/>
          </a:xfrm>
          <a:prstGeom prst="rect">
            <a:avLst/>
          </a:prstGeom>
          <a:noFill/>
          <a:ln/>
        </p:spPr>
        <p:txBody>
          <a:bodyPr wrap="square" lIns="0" tIns="0" rIns="0" bIns="0" rtlCol="0" anchor="b"/>
          <a:lstStyle/>
          <a:p>
            <a:pPr indent="0" marL="0">
              <a:buNone/>
            </a:pPr>
            <a:r>
              <a:rPr lang="en-US" sz="1100" i="1" dirty="0">
                <a:solidFill>
                  <a:srgbClr val="7B8781"/>
                </a:solidFill>
                <a:latin typeface="Calibri" pitchFamily="34" charset="0"/>
                <a:ea typeface="Calibri" pitchFamily="34" charset="-122"/>
                <a:cs typeface="Calibri" pitchFamily="34" charset="-120"/>
              </a:rPr>
              <a:t>All test images are synthetic — NSW provided no production photos. Method, limits and every table: evaluation/README.md.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7B8781"/>
                </a:solidFill>
                <a:latin typeface="Calibri" pitchFamily="34" charset="0"/>
                <a:ea typeface="Calibri" pitchFamily="34" charset="-122"/>
                <a:cs typeface="Calibri" pitchFamily="34" charset="-120"/>
              </a:rPr>
              <a:t>BACKUP · FEASIBILITY</a:t>
            </a:r>
            <a:endParaRPr lang="en-US" sz="1200" dirty="0"/>
          </a:p>
        </p:txBody>
      </p:sp>
      <p:sp>
        <p:nvSpPr>
          <p:cNvPr id="3" name="Text 1"/>
          <p:cNvSpPr txBox="1"/>
          <p:nvPr/>
        </p:nvSpPr>
        <p:spPr>
          <a:xfrm>
            <a:off x="548640" y="658368"/>
            <a:ext cx="11094415" cy="1005840"/>
          </a:xfrm>
          <a:prstGeom prst="rect">
            <a:avLst/>
          </a:prstGeom>
          <a:noFill/>
          <a:ln/>
        </p:spPr>
        <p:txBody>
          <a:bodyPr wrap="square" lIns="0" tIns="0" rIns="0" bIns="0" rtlCol="0" anchor="t">
            <a:normAutofit/>
          </a:bodyPr>
          <a:lstStyle/>
          <a:p>
            <a:pPr indent="0" marL="0">
              <a:buNone/>
            </a:pPr>
            <a:r>
              <a:rPr lang="en-US" sz="3000" b="1" dirty="0">
                <a:solidFill>
                  <a:srgbClr val="14201B"/>
                </a:solidFill>
                <a:latin typeface="Cambria" pitchFamily="34" charset="0"/>
                <a:ea typeface="Cambria" pitchFamily="34" charset="-122"/>
                <a:cs typeface="Cambria" pitchFamily="34" charset="-120"/>
              </a:rPr>
              <a:t>Works on the photo an operator actually takes</a:t>
            </a:r>
            <a:endParaRPr lang="en-US" sz="3000" dirty="0"/>
          </a:p>
        </p:txBody>
      </p:sp>
      <p:pic>
        <p:nvPicPr>
          <p:cNvPr id="4" name="Image 0" descr="/home/calvinkhoo/Documents/GitHub/AiHorizon/docs/final/deck/assets/phone_input.jpg">    </p:cNvPr>
          <p:cNvPicPr>
            <a:picLocks noChangeAspect="1"/>
          </p:cNvPicPr>
          <p:nvPr/>
        </p:nvPicPr>
        <p:blipFill>
          <a:blip r:embed="rId1"/>
          <a:stretch>
            <a:fillRect/>
          </a:stretch>
        </p:blipFill>
        <p:spPr>
          <a:xfrm>
            <a:off x="548640" y="1874520"/>
            <a:ext cx="3931920" cy="2798520"/>
          </a:xfrm>
          <a:prstGeom prst="rect">
            <a:avLst/>
          </a:prstGeom>
          <a:effectLst>
            <a:outerShdw sx="100000" sy="100000" kx="0" ky="0" algn="bl" rotWithShape="0" blurRad="127000" dist="25400" dir="5400000">
              <a:srgbClr val="000000">
                <a:alpha val="16000"/>
              </a:srgbClr>
            </a:outerShdw>
          </a:effectLst>
        </p:spPr>
      </p:pic>
      <p:sp>
        <p:nvSpPr>
          <p:cNvPr id="5" name="Shape 2"/>
          <p:cNvSpPr/>
          <p:nvPr/>
        </p:nvSpPr>
        <p:spPr>
          <a:xfrm>
            <a:off x="4645152" y="3017748"/>
            <a:ext cx="566928" cy="512064"/>
          </a:xfrm>
          <a:prstGeom prst="rightArrow">
            <a:avLst/>
          </a:prstGeom>
          <a:solidFill>
            <a:srgbClr val="C8742B"/>
          </a:solidFill>
          <a:ln w="12700">
            <a:solidFill>
              <a:srgbClr val="C8742B"/>
            </a:solidFill>
            <a:prstDash val="solid"/>
          </a:ln>
        </p:spPr>
      </p:sp>
      <p:pic>
        <p:nvPicPr>
          <p:cNvPr id="6" name="Image 1" descr="/home/calvinkhoo/Documents/GitHub/AiHorizon/docs/final/deck/assets/phone_annotated_slide.png">    </p:cNvPr>
          <p:cNvPicPr>
            <a:picLocks noChangeAspect="1"/>
          </p:cNvPicPr>
          <p:nvPr/>
        </p:nvPicPr>
        <p:blipFill>
          <a:blip r:embed="rId2"/>
          <a:stretch>
            <a:fillRect/>
          </a:stretch>
        </p:blipFill>
        <p:spPr>
          <a:xfrm>
            <a:off x="5376672" y="1874520"/>
            <a:ext cx="3931920" cy="2798520"/>
          </a:xfrm>
          <a:prstGeom prst="rect">
            <a:avLst/>
          </a:prstGeom>
          <a:effectLst>
            <a:outerShdw sx="100000" sy="100000" kx="0" ky="0" algn="bl" rotWithShape="0" blurRad="127000" dist="25400" dir="5400000">
              <a:srgbClr val="000000">
                <a:alpha val="16000"/>
              </a:srgbClr>
            </a:outerShdw>
          </a:effectLst>
        </p:spPr>
      </p:pic>
      <p:sp>
        <p:nvSpPr>
          <p:cNvPr id="7" name="Text 3"/>
          <p:cNvSpPr txBox="1"/>
          <p:nvPr/>
        </p:nvSpPr>
        <p:spPr>
          <a:xfrm>
            <a:off x="548640" y="4810200"/>
            <a:ext cx="3931920" cy="548640"/>
          </a:xfrm>
          <a:prstGeom prst="rect">
            <a:avLst/>
          </a:prstGeom>
          <a:noFill/>
          <a:ln/>
        </p:spPr>
        <p:txBody>
          <a:bodyPr wrap="square" lIns="0" tIns="0" rIns="0" bIns="0" rtlCol="0" anchor="t"/>
          <a:lstStyle/>
          <a:p>
            <a:pPr indent="0" marL="0">
              <a:buNone/>
            </a:pPr>
            <a:r>
              <a:rPr lang="en-US" sz="1300" dirty="0">
                <a:solidFill>
                  <a:srgbClr val="4A5751"/>
                </a:solidFill>
                <a:latin typeface="Calibri" pitchFamily="34" charset="0"/>
                <a:ea typeface="Calibri" pitchFamily="34" charset="-122"/>
                <a:cs typeface="Calibri" pitchFamily="34" charset="-120"/>
              </a:rPr>
              <a:t>Phone photo: card on a desk, camera tilted and off-centre</a:t>
            </a:r>
            <a:endParaRPr lang="en-US" sz="1300" dirty="0"/>
          </a:p>
        </p:txBody>
      </p:sp>
      <p:sp>
        <p:nvSpPr>
          <p:cNvPr id="8" name="Text 4"/>
          <p:cNvSpPr txBox="1"/>
          <p:nvPr/>
        </p:nvSpPr>
        <p:spPr>
          <a:xfrm>
            <a:off x="5376672" y="4810200"/>
            <a:ext cx="3931920" cy="548640"/>
          </a:xfrm>
          <a:prstGeom prst="rect">
            <a:avLst/>
          </a:prstGeom>
          <a:noFill/>
          <a:ln/>
        </p:spPr>
        <p:txBody>
          <a:bodyPr wrap="square" lIns="0" tIns="0" rIns="0" bIns="0" rtlCol="0" anchor="t"/>
          <a:lstStyle/>
          <a:p>
            <a:pPr indent="0" marL="0">
              <a:buNone/>
            </a:pPr>
            <a:r>
              <a:rPr lang="en-US" sz="1300" dirty="0">
                <a:solidFill>
                  <a:srgbClr val="4A5751"/>
                </a:solidFill>
                <a:latin typeface="Calibri" pitchFamily="34" charset="0"/>
                <a:ea typeface="Calibri" pitchFamily="34" charset="-122"/>
                <a:cs typeface="Calibri" pitchFamily="34" charset="-120"/>
              </a:rPr>
              <a:t>Recipe lined up (scale, rotation, perspective), then measured: 3 missing, 3 oversized, carryover p = 0.010</a:t>
            </a:r>
            <a:endParaRPr lang="en-US" sz="1300" dirty="0"/>
          </a:p>
        </p:txBody>
      </p:sp>
      <p:sp>
        <p:nvSpPr>
          <p:cNvPr id="9" name="Text 5"/>
          <p:cNvSpPr txBox="1"/>
          <p:nvPr/>
        </p:nvSpPr>
        <p:spPr>
          <a:xfrm>
            <a:off x="9628632" y="1828800"/>
            <a:ext cx="2014423" cy="594360"/>
          </a:xfrm>
          <a:prstGeom prst="rect">
            <a:avLst/>
          </a:prstGeom>
          <a:noFill/>
          <a:ln/>
        </p:spPr>
        <p:txBody>
          <a:bodyPr wrap="square" lIns="0" tIns="0" rIns="0" bIns="0" rtlCol="0" anchor="ctr"/>
          <a:lstStyle/>
          <a:p>
            <a:pPr indent="0" marL="0">
              <a:buNone/>
            </a:pPr>
            <a:r>
              <a:rPr lang="en-US" sz="3000" b="1" dirty="0">
                <a:solidFill>
                  <a:srgbClr val="C8742B"/>
                </a:solidFill>
                <a:latin typeface="Calibri" pitchFamily="34" charset="0"/>
                <a:ea typeface="Calibri" pitchFamily="34" charset="-122"/>
                <a:cs typeface="Calibri" pitchFamily="34" charset="-120"/>
              </a:rPr>
              <a:t>0% → 89%</a:t>
            </a:r>
            <a:endParaRPr lang="en-US" sz="3000" dirty="0"/>
          </a:p>
        </p:txBody>
      </p:sp>
      <p:sp>
        <p:nvSpPr>
          <p:cNvPr id="10" name="Text 6"/>
          <p:cNvSpPr txBox="1"/>
          <p:nvPr/>
        </p:nvSpPr>
        <p:spPr>
          <a:xfrm>
            <a:off x="9628632" y="2423160"/>
            <a:ext cx="2014423" cy="1325880"/>
          </a:xfrm>
          <a:prstGeom prst="rect">
            <a:avLst/>
          </a:prstGeom>
          <a:noFill/>
          <a:ln/>
        </p:spPr>
        <p:txBody>
          <a:bodyPr wrap="square" lIns="0" tIns="0" rIns="0" bIns="0" rtlCol="0" anchor="t"/>
          <a:lstStyle/>
          <a:p>
            <a:pPr indent="0" marL="0">
              <a:buNone/>
            </a:pPr>
            <a:r>
              <a:rPr lang="en-US" sz="1300" dirty="0">
                <a:solidFill>
                  <a:srgbClr val="4A5751"/>
                </a:solidFill>
                <a:latin typeface="Calibri" pitchFamily="34" charset="0"/>
                <a:ea typeface="Calibri" pitchFamily="34" charset="-122"/>
                <a:cs typeface="Calibri" pitchFamily="34" charset="-120"/>
              </a:rPr>
              <a:t>of phone-style photos measured correctly, before → after registration — the same as perfectly framed ones</a:t>
            </a:r>
            <a:endParaRPr lang="en-US" sz="1300" dirty="0"/>
          </a:p>
        </p:txBody>
      </p:sp>
      <p:sp>
        <p:nvSpPr>
          <p:cNvPr id="11" name="Text 7"/>
          <p:cNvSpPr txBox="1"/>
          <p:nvPr/>
        </p:nvSpPr>
        <p:spPr>
          <a:xfrm>
            <a:off x="9628632" y="3794760"/>
            <a:ext cx="2014423" cy="594360"/>
          </a:xfrm>
          <a:prstGeom prst="rect">
            <a:avLst/>
          </a:prstGeom>
          <a:noFill/>
          <a:ln/>
        </p:spPr>
        <p:txBody>
          <a:bodyPr wrap="square" lIns="0" tIns="0" rIns="0" bIns="0" rtlCol="0" anchor="ctr"/>
          <a:lstStyle/>
          <a:p>
            <a:pPr indent="0" marL="0">
              <a:buNone/>
            </a:pPr>
            <a:r>
              <a:rPr lang="en-US" sz="3000" b="1" dirty="0">
                <a:solidFill>
                  <a:srgbClr val="C8742B"/>
                </a:solidFill>
                <a:latin typeface="Calibri" pitchFamily="34" charset="0"/>
                <a:ea typeface="Calibri" pitchFamily="34" charset="-122"/>
                <a:cs typeface="Calibri" pitchFamily="34" charset="-120"/>
              </a:rPr>
              <a:t>0</a:t>
            </a:r>
            <a:endParaRPr lang="en-US" sz="3000" dirty="0"/>
          </a:p>
        </p:txBody>
      </p:sp>
      <p:sp>
        <p:nvSpPr>
          <p:cNvPr id="12" name="Text 8"/>
          <p:cNvSpPr txBox="1"/>
          <p:nvPr/>
        </p:nvSpPr>
        <p:spPr>
          <a:xfrm>
            <a:off x="9628632" y="4389120"/>
            <a:ext cx="2014423" cy="822960"/>
          </a:xfrm>
          <a:prstGeom prst="rect">
            <a:avLst/>
          </a:prstGeom>
          <a:noFill/>
          <a:ln/>
        </p:spPr>
        <p:txBody>
          <a:bodyPr wrap="square" lIns="0" tIns="0" rIns="0" bIns="0" rtlCol="0" anchor="t"/>
          <a:lstStyle/>
          <a:p>
            <a:pPr indent="0" marL="0">
              <a:buNone/>
            </a:pPr>
            <a:r>
              <a:rPr lang="en-US" sz="1300" dirty="0">
                <a:solidFill>
                  <a:srgbClr val="4A5751"/>
                </a:solidFill>
                <a:latin typeface="Calibri" pitchFamily="34" charset="0"/>
                <a:ea typeface="Calibri" pitchFamily="34" charset="-122"/>
                <a:cs typeface="Calibri" pitchFamily="34" charset="-120"/>
              </a:rPr>
              <a:t>false alarms from zoom, framing, tilt or a desk in shot</a:t>
            </a:r>
            <a:endParaRPr lang="en-US" sz="1300" dirty="0"/>
          </a:p>
        </p:txBody>
      </p:sp>
      <p:sp>
        <p:nvSpPr>
          <p:cNvPr id="13" name="Text 9"/>
          <p:cNvSpPr txBox="1"/>
          <p:nvPr/>
        </p:nvSpPr>
        <p:spPr>
          <a:xfrm>
            <a:off x="548640" y="6355080"/>
            <a:ext cx="11094415" cy="320040"/>
          </a:xfrm>
          <a:prstGeom prst="rect">
            <a:avLst/>
          </a:prstGeom>
          <a:noFill/>
          <a:ln/>
        </p:spPr>
        <p:txBody>
          <a:bodyPr wrap="square" lIns="0" tIns="0" rIns="0" bIns="0" rtlCol="0" anchor="b"/>
          <a:lstStyle/>
          <a:p>
            <a:pPr indent="0" marL="0">
              <a:buNone/>
            </a:pPr>
            <a:r>
              <a:rPr lang="en-US" sz="1100" i="1" dirty="0">
                <a:solidFill>
                  <a:srgbClr val="7B8781"/>
                </a:solidFill>
                <a:latin typeface="Calibri" pitchFamily="34" charset="0"/>
                <a:ea typeface="Calibri" pitchFamily="34" charset="-122"/>
                <a:cs typeface="Calibri" pitchFamily="34" charset="-120"/>
              </a:rPr>
              <a:t>Photo simulated from a printed sample card (the evaluation's 'on desk' condition). Validating on real NSW photos is step one of the pilot.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7B8781"/>
                </a:solidFill>
                <a:latin typeface="Calibri" pitchFamily="34" charset="0"/>
                <a:ea typeface="Calibri" pitchFamily="34" charset="-122"/>
                <a:cs typeface="Calibri" pitchFamily="34" charset="-120"/>
              </a:rPr>
              <a:t>BACKUP · TRUST</a:t>
            </a:r>
            <a:endParaRPr lang="en-US" sz="1200" dirty="0"/>
          </a:p>
        </p:txBody>
      </p:sp>
      <p:sp>
        <p:nvSpPr>
          <p:cNvPr id="3" name="Text 1"/>
          <p:cNvSpPr txBox="1"/>
          <p:nvPr/>
        </p:nvSpPr>
        <p:spPr>
          <a:xfrm>
            <a:off x="548640" y="658368"/>
            <a:ext cx="11094415" cy="1005840"/>
          </a:xfrm>
          <a:prstGeom prst="rect">
            <a:avLst/>
          </a:prstGeom>
          <a:noFill/>
          <a:ln/>
        </p:spPr>
        <p:txBody>
          <a:bodyPr wrap="square" lIns="0" tIns="0" rIns="0" bIns="0" rtlCol="0" anchor="t">
            <a:normAutofit/>
          </a:bodyPr>
          <a:lstStyle/>
          <a:p>
            <a:pPr indent="0" marL="0">
              <a:buNone/>
            </a:pPr>
            <a:r>
              <a:rPr lang="en-US" sz="3000" b="1" dirty="0">
                <a:solidFill>
                  <a:srgbClr val="14201B"/>
                </a:solidFill>
                <a:latin typeface="Cambria" pitchFamily="34" charset="0"/>
                <a:ea typeface="Cambria" pitchFamily="34" charset="-122"/>
                <a:cs typeface="Cambria" pitchFamily="34" charset="-120"/>
              </a:rPr>
              <a:t>Closing a case is not the same as fixing it</a:t>
            </a:r>
            <a:endParaRPr lang="en-US" sz="3000" dirty="0"/>
          </a:p>
        </p:txBody>
      </p:sp>
      <p:sp>
        <p:nvSpPr>
          <p:cNvPr id="4" name="Shape 2"/>
          <p:cNvSpPr/>
          <p:nvPr/>
        </p:nvSpPr>
        <p:spPr>
          <a:xfrm>
            <a:off x="548640" y="1783080"/>
            <a:ext cx="3520440" cy="3611880"/>
          </a:xfrm>
          <a:prstGeom prst="roundRect">
            <a:avLst>
              <a:gd name="adj" fmla="val 3117"/>
            </a:avLst>
          </a:prstGeom>
          <a:solidFill>
            <a:srgbClr val="EEF5F1"/>
          </a:solidFill>
          <a:ln w="12700">
            <a:solidFill>
              <a:srgbClr val="EEF5F1"/>
            </a:solidFill>
            <a:prstDash val="solid"/>
          </a:ln>
        </p:spPr>
      </p:sp>
      <p:sp>
        <p:nvSpPr>
          <p:cNvPr id="5" name="Shape 3"/>
          <p:cNvSpPr/>
          <p:nvPr/>
        </p:nvSpPr>
        <p:spPr>
          <a:xfrm>
            <a:off x="868680" y="2103120"/>
            <a:ext cx="1783080" cy="420624"/>
          </a:xfrm>
          <a:prstGeom prst="roundRect">
            <a:avLst>
              <a:gd name="adj" fmla="val 50000"/>
            </a:avLst>
          </a:prstGeom>
          <a:solidFill>
            <a:srgbClr val="0CA30C"/>
          </a:solidFill>
          <a:ln w="12700">
            <a:solidFill>
              <a:srgbClr val="0CA30C"/>
            </a:solidFill>
            <a:prstDash val="solid"/>
          </a:ln>
        </p:spPr>
      </p:sp>
      <p:sp>
        <p:nvSpPr>
          <p:cNvPr id="6" name="Text 4"/>
          <p:cNvSpPr txBox="1"/>
          <p:nvPr/>
        </p:nvSpPr>
        <p:spPr>
          <a:xfrm>
            <a:off x="868680" y="2103120"/>
            <a:ext cx="1783080" cy="420624"/>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CONFIRMED</a:t>
            </a:r>
            <a:endParaRPr lang="en-US" sz="1300" dirty="0"/>
          </a:p>
        </p:txBody>
      </p:sp>
      <p:sp>
        <p:nvSpPr>
          <p:cNvPr id="7" name="Text 5"/>
          <p:cNvSpPr txBox="1"/>
          <p:nvPr/>
        </p:nvSpPr>
        <p:spPr>
          <a:xfrm>
            <a:off x="868680" y="2697480"/>
            <a:ext cx="2880360" cy="411480"/>
          </a:xfrm>
          <a:prstGeom prst="rect">
            <a:avLst/>
          </a:prstGeom>
          <a:noFill/>
          <a:ln/>
        </p:spPr>
        <p:txBody>
          <a:bodyPr wrap="square" lIns="0" tIns="0" rIns="0" bIns="0" rtlCol="0" anchor="ctr"/>
          <a:lstStyle/>
          <a:p>
            <a:pPr indent="0" marL="0">
              <a:buNone/>
            </a:pPr>
            <a:r>
              <a:rPr lang="en-US" sz="2000" b="1" dirty="0">
                <a:solidFill>
                  <a:srgbClr val="14201B"/>
                </a:solidFill>
                <a:latin typeface="Calibri" pitchFamily="34" charset="0"/>
                <a:ea typeface="Calibri" pitchFamily="34" charset="-122"/>
                <a:cs typeface="Calibri" pitchFamily="34" charset="-120"/>
              </a:rPr>
              <a:t>All five proved</a:t>
            </a:r>
            <a:endParaRPr lang="en-US" sz="2000" dirty="0"/>
          </a:p>
        </p:txBody>
      </p:sp>
      <p:sp>
        <p:nvSpPr>
          <p:cNvPr id="8" name="Text 6"/>
          <p:cNvSpPr txBox="1"/>
          <p:nvPr/>
        </p:nvSpPr>
        <p:spPr>
          <a:xfrm>
            <a:off x="868680" y="3200400"/>
            <a:ext cx="2880360" cy="160020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4A5751"/>
                </a:solidFill>
                <a:latin typeface="Calibri" pitchFamily="34" charset="0"/>
                <a:ea typeface="Calibri" pitchFamily="34" charset="-122"/>
                <a:cs typeface="Calibri" pitchFamily="34" charset="-120"/>
              </a:rPr>
              <a:t>a check confirmed one cause</a:t>
            </a:r>
            <a:endParaRPr lang="en-US" sz="1400" dirty="0"/>
          </a:p>
          <a:p>
            <a:pPr marL="342900" indent="-342900">
              <a:spcAft>
                <a:spcPts val="300"/>
              </a:spcAft>
              <a:buSzPct val="100000"/>
              <a:buChar char="•"/>
            </a:pPr>
            <a:r>
              <a:rPr lang="en-US" sz="1400" dirty="0">
                <a:solidFill>
                  <a:srgbClr val="4A5751"/>
                </a:solidFill>
                <a:latin typeface="Calibri" pitchFamily="34" charset="0"/>
                <a:ea typeface="Calibri" pitchFamily="34" charset="-122"/>
                <a:cs typeface="Calibri" pitchFamily="34" charset="-120"/>
              </a:rPr>
              <a:t>exactly one change, aimed at it</a:t>
            </a:r>
            <a:endParaRPr lang="en-US" sz="1400" dirty="0"/>
          </a:p>
          <a:p>
            <a:pPr marL="342900" indent="-342900">
              <a:spcAft>
                <a:spcPts val="300"/>
              </a:spcAft>
              <a:buSzPct val="100000"/>
              <a:buChar char="•"/>
            </a:pPr>
            <a:r>
              <a:rPr lang="en-US" sz="1400" dirty="0">
                <a:solidFill>
                  <a:srgbClr val="4A5751"/>
                </a:solidFill>
                <a:latin typeface="Calibri" pitchFamily="34" charset="0"/>
                <a:ea typeface="Calibri" pitchFamily="34" charset="-122"/>
                <a:cs typeface="Calibri" pitchFamily="34" charset="-120"/>
              </a:rPr>
              <a:t>re-measured against a 'before' photo</a:t>
            </a:r>
            <a:endParaRPr lang="en-US" sz="1400" dirty="0"/>
          </a:p>
          <a:p>
            <a:pPr marL="342900" indent="-342900">
              <a:spcAft>
                <a:spcPts val="300"/>
              </a:spcAft>
              <a:buSzPct val="100000"/>
              <a:buChar char="•"/>
            </a:pPr>
            <a:r>
              <a:rPr lang="en-US" sz="1400" dirty="0">
                <a:solidFill>
                  <a:srgbClr val="4A5751"/>
                </a:solidFill>
                <a:latin typeface="Calibri" pitchFamily="34" charset="0"/>
                <a:ea typeface="Calibri" pitchFamily="34" charset="-122"/>
                <a:cs typeface="Calibri" pitchFamily="34" charset="-120"/>
              </a:rPr>
              <a:t>in spec on every check</a:t>
            </a:r>
            <a:endParaRPr lang="en-US" sz="1400" dirty="0"/>
          </a:p>
          <a:p>
            <a:pPr marL="342900" indent="-342900">
              <a:spcAft>
                <a:spcPts val="300"/>
              </a:spcAft>
              <a:buSzPct val="100000"/>
              <a:buChar char="•"/>
            </a:pPr>
            <a:r>
              <a:rPr lang="en-US" sz="1400" dirty="0">
                <a:solidFill>
                  <a:srgbClr val="4A5751"/>
                </a:solidFill>
                <a:latin typeface="Calibri" pitchFamily="34" charset="0"/>
                <a:ea typeface="Calibri" pitchFamily="34" charset="-122"/>
                <a:cs typeface="Calibri" pitchFamily="34" charset="-120"/>
              </a:rPr>
              <a:t>held 20+ shots</a:t>
            </a:r>
            <a:endParaRPr lang="en-US" sz="1400" dirty="0"/>
          </a:p>
        </p:txBody>
      </p:sp>
      <p:sp>
        <p:nvSpPr>
          <p:cNvPr id="9" name="Text 7"/>
          <p:cNvSpPr txBox="1"/>
          <p:nvPr/>
        </p:nvSpPr>
        <p:spPr>
          <a:xfrm>
            <a:off x="868680" y="4846320"/>
            <a:ext cx="2880360" cy="365760"/>
          </a:xfrm>
          <a:prstGeom prst="rect">
            <a:avLst/>
          </a:prstGeom>
          <a:noFill/>
          <a:ln/>
        </p:spPr>
        <p:txBody>
          <a:bodyPr wrap="square" lIns="0" tIns="0" rIns="0" bIns="0" rtlCol="0" anchor="ctr"/>
          <a:lstStyle/>
          <a:p>
            <a:pPr indent="0" marL="0">
              <a:buNone/>
            </a:pPr>
            <a:r>
              <a:rPr lang="en-US" sz="1400" b="1" dirty="0">
                <a:solidFill>
                  <a:srgbClr val="14201B"/>
                </a:solidFill>
                <a:latin typeface="Calibri" pitchFamily="34" charset="0"/>
                <a:ea typeface="Calibri" pitchFamily="34" charset="-122"/>
                <a:cs typeface="Calibri" pitchFamily="34" charset="-120"/>
              </a:rPr>
              <a:t>The only cases future rankings learn from</a:t>
            </a:r>
            <a:endParaRPr lang="en-US" sz="1400" dirty="0"/>
          </a:p>
        </p:txBody>
      </p:sp>
      <p:sp>
        <p:nvSpPr>
          <p:cNvPr id="10" name="Shape 8"/>
          <p:cNvSpPr/>
          <p:nvPr/>
        </p:nvSpPr>
        <p:spPr>
          <a:xfrm>
            <a:off x="4325112" y="1783080"/>
            <a:ext cx="3520440" cy="3611880"/>
          </a:xfrm>
          <a:prstGeom prst="roundRect">
            <a:avLst>
              <a:gd name="adj" fmla="val 3117"/>
            </a:avLst>
          </a:prstGeom>
          <a:solidFill>
            <a:srgbClr val="EEF5F1"/>
          </a:solidFill>
          <a:ln w="12700">
            <a:solidFill>
              <a:srgbClr val="EEF5F1"/>
            </a:solidFill>
            <a:prstDash val="solid"/>
          </a:ln>
        </p:spPr>
      </p:sp>
      <p:sp>
        <p:nvSpPr>
          <p:cNvPr id="11" name="Shape 9"/>
          <p:cNvSpPr/>
          <p:nvPr/>
        </p:nvSpPr>
        <p:spPr>
          <a:xfrm>
            <a:off x="4645152" y="2103120"/>
            <a:ext cx="1783080" cy="420624"/>
          </a:xfrm>
          <a:prstGeom prst="roundRect">
            <a:avLst>
              <a:gd name="adj" fmla="val 50000"/>
            </a:avLst>
          </a:prstGeom>
          <a:solidFill>
            <a:srgbClr val="D08A00"/>
          </a:solidFill>
          <a:ln w="12700">
            <a:solidFill>
              <a:srgbClr val="D08A00"/>
            </a:solidFill>
            <a:prstDash val="solid"/>
          </a:ln>
        </p:spPr>
      </p:sp>
      <p:sp>
        <p:nvSpPr>
          <p:cNvPr id="12" name="Text 10"/>
          <p:cNvSpPr txBox="1"/>
          <p:nvPr/>
        </p:nvSpPr>
        <p:spPr>
          <a:xfrm>
            <a:off x="4645152" y="2103120"/>
            <a:ext cx="1783080" cy="420624"/>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PLAUSIBLE</a:t>
            </a:r>
            <a:endParaRPr lang="en-US" sz="1300" dirty="0"/>
          </a:p>
        </p:txBody>
      </p:sp>
      <p:sp>
        <p:nvSpPr>
          <p:cNvPr id="13" name="Text 11"/>
          <p:cNvSpPr txBox="1"/>
          <p:nvPr/>
        </p:nvSpPr>
        <p:spPr>
          <a:xfrm>
            <a:off x="4645152" y="2697480"/>
            <a:ext cx="2880360" cy="411480"/>
          </a:xfrm>
          <a:prstGeom prst="rect">
            <a:avLst/>
          </a:prstGeom>
          <a:noFill/>
          <a:ln/>
        </p:spPr>
        <p:txBody>
          <a:bodyPr wrap="square" lIns="0" tIns="0" rIns="0" bIns="0" rtlCol="0" anchor="ctr"/>
          <a:lstStyle/>
          <a:p>
            <a:pPr indent="0" marL="0">
              <a:buNone/>
            </a:pPr>
            <a:r>
              <a:rPr lang="en-US" sz="2000" b="1" dirty="0">
                <a:solidFill>
                  <a:srgbClr val="14201B"/>
                </a:solidFill>
                <a:latin typeface="Calibri" pitchFamily="34" charset="0"/>
                <a:ea typeface="Calibri" pitchFamily="34" charset="-122"/>
                <a:cs typeface="Calibri" pitchFamily="34" charset="-120"/>
              </a:rPr>
              <a:t>Some proved</a:t>
            </a:r>
            <a:endParaRPr lang="en-US" sz="2000" dirty="0"/>
          </a:p>
        </p:txBody>
      </p:sp>
      <p:sp>
        <p:nvSpPr>
          <p:cNvPr id="14" name="Text 12"/>
          <p:cNvSpPr txBox="1"/>
          <p:nvPr/>
        </p:nvSpPr>
        <p:spPr>
          <a:xfrm>
            <a:off x="4645152" y="3200400"/>
            <a:ext cx="2880360" cy="160020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4A5751"/>
                </a:solidFill>
                <a:latin typeface="Calibri" pitchFamily="34" charset="0"/>
                <a:ea typeface="Calibri" pitchFamily="34" charset="-122"/>
                <a:cs typeface="Calibri" pitchFamily="34" charset="-120"/>
              </a:rPr>
              <a:t>e.g. cause certain (tier T1) — but one deposit is still missing after the fix</a:t>
            </a:r>
            <a:endParaRPr lang="en-US" sz="1400" dirty="0"/>
          </a:p>
        </p:txBody>
      </p:sp>
      <p:sp>
        <p:nvSpPr>
          <p:cNvPr id="15" name="Text 13"/>
          <p:cNvSpPr txBox="1"/>
          <p:nvPr/>
        </p:nvSpPr>
        <p:spPr>
          <a:xfrm>
            <a:off x="4645152" y="4846320"/>
            <a:ext cx="2880360" cy="365760"/>
          </a:xfrm>
          <a:prstGeom prst="rect">
            <a:avLst/>
          </a:prstGeom>
          <a:noFill/>
          <a:ln/>
        </p:spPr>
        <p:txBody>
          <a:bodyPr wrap="square" lIns="0" tIns="0" rIns="0" bIns="0" rtlCol="0" anchor="ctr"/>
          <a:lstStyle/>
          <a:p>
            <a:pPr indent="0" marL="0">
              <a:buNone/>
            </a:pPr>
            <a:r>
              <a:rPr lang="en-US" sz="1400" b="1" dirty="0">
                <a:solidFill>
                  <a:srgbClr val="14201B"/>
                </a:solidFill>
                <a:latin typeface="Calibri" pitchFamily="34" charset="0"/>
                <a:ea typeface="Calibri" pitchFamily="34" charset="-122"/>
                <a:cs typeface="Calibri" pitchFamily="34" charset="-120"/>
              </a:rPr>
              <a:t>Shown as context; adjusts nothing</a:t>
            </a:r>
            <a:endParaRPr lang="en-US" sz="1400" dirty="0"/>
          </a:p>
        </p:txBody>
      </p:sp>
      <p:sp>
        <p:nvSpPr>
          <p:cNvPr id="16" name="Shape 14"/>
          <p:cNvSpPr/>
          <p:nvPr/>
        </p:nvSpPr>
        <p:spPr>
          <a:xfrm>
            <a:off x="8101584" y="1783080"/>
            <a:ext cx="3520440" cy="3611880"/>
          </a:xfrm>
          <a:prstGeom prst="roundRect">
            <a:avLst>
              <a:gd name="adj" fmla="val 3117"/>
            </a:avLst>
          </a:prstGeom>
          <a:solidFill>
            <a:srgbClr val="EEF5F1"/>
          </a:solidFill>
          <a:ln w="12700">
            <a:solidFill>
              <a:srgbClr val="EEF5F1"/>
            </a:solidFill>
            <a:prstDash val="solid"/>
          </a:ln>
        </p:spPr>
      </p:sp>
      <p:sp>
        <p:nvSpPr>
          <p:cNvPr id="17" name="Shape 15"/>
          <p:cNvSpPr/>
          <p:nvPr/>
        </p:nvSpPr>
        <p:spPr>
          <a:xfrm>
            <a:off x="8421624" y="2103120"/>
            <a:ext cx="1783080" cy="420624"/>
          </a:xfrm>
          <a:prstGeom prst="roundRect">
            <a:avLst>
              <a:gd name="adj" fmla="val 50000"/>
            </a:avLst>
          </a:prstGeom>
          <a:solidFill>
            <a:srgbClr val="8A8984"/>
          </a:solidFill>
          <a:ln w="12700">
            <a:solidFill>
              <a:srgbClr val="8A8984"/>
            </a:solidFill>
            <a:prstDash val="solid"/>
          </a:ln>
        </p:spPr>
      </p:sp>
      <p:sp>
        <p:nvSpPr>
          <p:cNvPr id="18" name="Text 16"/>
          <p:cNvSpPr txBox="1"/>
          <p:nvPr/>
        </p:nvSpPr>
        <p:spPr>
          <a:xfrm>
            <a:off x="8421624" y="2103120"/>
            <a:ext cx="1783080" cy="420624"/>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UNVERIFIED</a:t>
            </a:r>
            <a:endParaRPr lang="en-US" sz="1300" dirty="0"/>
          </a:p>
        </p:txBody>
      </p:sp>
      <p:sp>
        <p:nvSpPr>
          <p:cNvPr id="19" name="Text 17"/>
          <p:cNvSpPr txBox="1"/>
          <p:nvPr/>
        </p:nvSpPr>
        <p:spPr>
          <a:xfrm>
            <a:off x="8421624" y="2697480"/>
            <a:ext cx="2880360" cy="411480"/>
          </a:xfrm>
          <a:prstGeom prst="rect">
            <a:avLst/>
          </a:prstGeom>
          <a:noFill/>
          <a:ln/>
        </p:spPr>
        <p:txBody>
          <a:bodyPr wrap="square" lIns="0" tIns="0" rIns="0" bIns="0" rtlCol="0" anchor="ctr"/>
          <a:lstStyle/>
          <a:p>
            <a:pPr indent="0" marL="0">
              <a:buNone/>
            </a:pPr>
            <a:r>
              <a:rPr lang="en-US" sz="2000" b="1" dirty="0">
                <a:solidFill>
                  <a:srgbClr val="14201B"/>
                </a:solidFill>
                <a:latin typeface="Calibri" pitchFamily="34" charset="0"/>
                <a:ea typeface="Calibri" pitchFamily="34" charset="-122"/>
                <a:cs typeface="Calibri" pitchFamily="34" charset="-120"/>
              </a:rPr>
              <a:t>Nothing proved</a:t>
            </a:r>
            <a:endParaRPr lang="en-US" sz="2000" dirty="0"/>
          </a:p>
        </p:txBody>
      </p:sp>
      <p:sp>
        <p:nvSpPr>
          <p:cNvPr id="20" name="Text 18"/>
          <p:cNvSpPr txBox="1"/>
          <p:nvPr/>
        </p:nvSpPr>
        <p:spPr>
          <a:xfrm>
            <a:off x="8421624" y="3200400"/>
            <a:ext cx="2880360" cy="160020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4A5751"/>
                </a:solidFill>
                <a:latin typeface="Calibri" pitchFamily="34" charset="0"/>
                <a:ea typeface="Calibri" pitchFamily="34" charset="-122"/>
                <a:cs typeface="Calibri" pitchFamily="34" charset="-120"/>
              </a:rPr>
              <a:t>filed with the gaps named — e.g. '3 things changed at once: no way to say which one worked'</a:t>
            </a:r>
            <a:endParaRPr lang="en-US" sz="1400" dirty="0"/>
          </a:p>
        </p:txBody>
      </p:sp>
      <p:sp>
        <p:nvSpPr>
          <p:cNvPr id="21" name="Text 19"/>
          <p:cNvSpPr txBox="1"/>
          <p:nvPr/>
        </p:nvSpPr>
        <p:spPr>
          <a:xfrm>
            <a:off x="8421624" y="4846320"/>
            <a:ext cx="2880360" cy="365760"/>
          </a:xfrm>
          <a:prstGeom prst="rect">
            <a:avLst/>
          </a:prstGeom>
          <a:noFill/>
          <a:ln/>
        </p:spPr>
        <p:txBody>
          <a:bodyPr wrap="square" lIns="0" tIns="0" rIns="0" bIns="0" rtlCol="0" anchor="ctr"/>
          <a:lstStyle/>
          <a:p>
            <a:pPr indent="0" marL="0">
              <a:buNone/>
            </a:pPr>
            <a:r>
              <a:rPr lang="en-US" sz="1400" b="1" dirty="0">
                <a:solidFill>
                  <a:srgbClr val="14201B"/>
                </a:solidFill>
                <a:latin typeface="Calibri" pitchFamily="34" charset="0"/>
                <a:ea typeface="Calibri" pitchFamily="34" charset="-122"/>
                <a:cs typeface="Calibri" pitchFamily="34" charset="-120"/>
              </a:rPr>
              <a:t>Adjusts nothing</a:t>
            </a:r>
            <a:endParaRPr lang="en-US" sz="1400" dirty="0"/>
          </a:p>
        </p:txBody>
      </p:sp>
      <p:sp>
        <p:nvSpPr>
          <p:cNvPr id="22" name="Text 20"/>
          <p:cNvSpPr txBox="1"/>
          <p:nvPr/>
        </p:nvSpPr>
        <p:spPr>
          <a:xfrm>
            <a:off x="548640" y="5669280"/>
            <a:ext cx="11094415" cy="411480"/>
          </a:xfrm>
          <a:prstGeom prst="rect">
            <a:avLst/>
          </a:prstGeom>
          <a:noFill/>
          <a:ln/>
        </p:spPr>
        <p:txBody>
          <a:bodyPr wrap="square" lIns="0" tIns="0" rIns="0" bIns="0" rtlCol="0" anchor="ctr"/>
          <a:lstStyle/>
          <a:p>
            <a:pPr indent="0" marL="0">
              <a:buNone/>
            </a:pPr>
            <a:r>
              <a:rPr lang="en-US" sz="1800" i="1" dirty="0">
                <a:solidFill>
                  <a:srgbClr val="1F7A4D"/>
                </a:solidFill>
                <a:latin typeface="Cambria" pitchFamily="34" charset="0"/>
                <a:ea typeface="Cambria" pitchFamily="34" charset="-122"/>
                <a:cs typeface="Cambria" pitchFamily="34" charset="-120"/>
              </a:rPr>
              <a:t>T1 says how sure the ranking is. CONFIRMED says the fix was proved.</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7B8781"/>
                </a:solidFill>
                <a:latin typeface="Calibri" pitchFamily="34" charset="0"/>
                <a:ea typeface="Calibri" pitchFamily="34" charset="-122"/>
                <a:cs typeface="Calibri" pitchFamily="34" charset="-120"/>
              </a:rPr>
              <a:t>BACKUP · CONFIDENCE TIERS</a:t>
            </a:r>
            <a:endParaRPr lang="en-US" sz="1200" dirty="0"/>
          </a:p>
        </p:txBody>
      </p:sp>
      <p:sp>
        <p:nvSpPr>
          <p:cNvPr id="3" name="Text 1"/>
          <p:cNvSpPr txBox="1"/>
          <p:nvPr/>
        </p:nvSpPr>
        <p:spPr>
          <a:xfrm>
            <a:off x="548640" y="658368"/>
            <a:ext cx="11094415" cy="1005840"/>
          </a:xfrm>
          <a:prstGeom prst="rect">
            <a:avLst/>
          </a:prstGeom>
          <a:noFill/>
          <a:ln/>
        </p:spPr>
        <p:txBody>
          <a:bodyPr wrap="square" lIns="0" tIns="0" rIns="0" bIns="0" rtlCol="0" anchor="t">
            <a:normAutofit/>
          </a:bodyPr>
          <a:lstStyle/>
          <a:p>
            <a:pPr indent="0" marL="0">
              <a:buNone/>
            </a:pPr>
            <a:r>
              <a:rPr lang="en-US" sz="3000" b="1" dirty="0">
                <a:solidFill>
                  <a:srgbClr val="14201B"/>
                </a:solidFill>
                <a:latin typeface="Cambria" pitchFamily="34" charset="0"/>
                <a:ea typeface="Cambria" pitchFamily="34" charset="-122"/>
                <a:cs typeface="Cambria" pitchFamily="34" charset="-120"/>
              </a:rPr>
              <a:t>Four confidence tiers — and agreement never raises one</a:t>
            </a:r>
            <a:endParaRPr lang="en-US" sz="3000" dirty="0"/>
          </a:p>
        </p:txBody>
      </p:sp>
      <p:sp>
        <p:nvSpPr>
          <p:cNvPr id="4" name="Shape 2"/>
          <p:cNvSpPr/>
          <p:nvPr/>
        </p:nvSpPr>
        <p:spPr>
          <a:xfrm>
            <a:off x="548640" y="1600200"/>
            <a:ext cx="11094415" cy="566928"/>
          </a:xfrm>
          <a:prstGeom prst="roundRect">
            <a:avLst>
              <a:gd name="adj" fmla="val 16129"/>
            </a:avLst>
          </a:prstGeom>
          <a:solidFill>
            <a:srgbClr val="EEF5F1"/>
          </a:solidFill>
          <a:ln w="12700">
            <a:solidFill>
              <a:srgbClr val="EEF5F1"/>
            </a:solidFill>
            <a:prstDash val="solid"/>
          </a:ln>
        </p:spPr>
      </p:sp>
      <p:sp>
        <p:nvSpPr>
          <p:cNvPr id="5" name="Shape 3"/>
          <p:cNvSpPr/>
          <p:nvPr/>
        </p:nvSpPr>
        <p:spPr>
          <a:xfrm>
            <a:off x="749808" y="1673352"/>
            <a:ext cx="420624" cy="420624"/>
          </a:xfrm>
          <a:prstGeom prst="ellipse">
            <a:avLst/>
          </a:prstGeom>
          <a:solidFill>
            <a:srgbClr val="1F7A4D"/>
          </a:solidFill>
          <a:ln w="12700">
            <a:solidFill>
              <a:srgbClr val="1F7A4D"/>
            </a:solidFill>
            <a:prstDash val="solid"/>
          </a:ln>
        </p:spPr>
      </p:sp>
      <p:pic>
        <p:nvPicPr>
          <p:cNvPr id="6" name="Image 0" descr="preencoded.png">    </p:cNvPr>
          <p:cNvPicPr>
            <a:picLocks noChangeAspect="1"/>
          </p:cNvPicPr>
          <p:nvPr/>
        </p:nvPicPr>
        <p:blipFill>
          <a:blip r:embed="rId1"/>
          <a:stretch>
            <a:fillRect/>
          </a:stretch>
        </p:blipFill>
        <p:spPr>
          <a:xfrm>
            <a:off x="846552" y="1770096"/>
            <a:ext cx="227137" cy="227137"/>
          </a:xfrm>
          <a:prstGeom prst="rect">
            <a:avLst/>
          </a:prstGeom>
        </p:spPr>
      </p:pic>
      <p:sp>
        <p:nvSpPr>
          <p:cNvPr id="7" name="Text 4"/>
          <p:cNvSpPr txBox="1"/>
          <p:nvPr/>
        </p:nvSpPr>
        <p:spPr>
          <a:xfrm>
            <a:off x="1371600" y="1600200"/>
            <a:ext cx="8991295" cy="566928"/>
          </a:xfrm>
          <a:prstGeom prst="rect">
            <a:avLst/>
          </a:prstGeom>
          <a:noFill/>
          <a:ln/>
        </p:spPr>
        <p:txBody>
          <a:bodyPr wrap="square" lIns="0" tIns="0" rIns="0" bIns="0" rtlCol="0" anchor="ctr"/>
          <a:lstStyle/>
          <a:p>
            <a:pPr indent="0" marL="0">
              <a:buNone/>
            </a:pPr>
            <a:r>
              <a:rPr lang="en-US" sz="1400" b="1" dirty="0">
                <a:solidFill>
                  <a:srgbClr val="14201B"/>
                </a:solidFill>
                <a:latin typeface="Calibri" pitchFamily="34" charset="0"/>
                <a:ea typeface="Calibri" pitchFamily="34" charset="-122"/>
                <a:cs typeface="Calibri" pitchFamily="34" charset="-120"/>
              </a:rPr>
              <a:t>First: did a check on the machine confirm the top cause? </a:t>
            </a:r>
            <a:pPr indent="0" marL="0">
              <a:buNone/>
            </a:pPr>
            <a:r>
              <a:rPr lang="en-US" sz="1400" dirty="0">
                <a:solidFill>
                  <a:srgbClr val="4A5751"/>
                </a:solidFill>
                <a:latin typeface="Calibri" pitchFamily="34" charset="0"/>
                <a:ea typeface="Calibri" pitchFamily="34" charset="-122"/>
                <a:cs typeface="Calibri" pitchFamily="34" charset="-120"/>
              </a:rPr>
              <a:t>Then it's T1, whatever the brains or gates say.</a:t>
            </a:r>
            <a:endParaRPr lang="en-US" sz="1400" dirty="0"/>
          </a:p>
        </p:txBody>
      </p:sp>
      <p:sp>
        <p:nvSpPr>
          <p:cNvPr id="8" name="Shape 5"/>
          <p:cNvSpPr/>
          <p:nvPr/>
        </p:nvSpPr>
        <p:spPr>
          <a:xfrm>
            <a:off x="10545775" y="1700784"/>
            <a:ext cx="868680" cy="365760"/>
          </a:xfrm>
          <a:prstGeom prst="roundRect">
            <a:avLst>
              <a:gd name="adj" fmla="val 50000"/>
            </a:avLst>
          </a:prstGeom>
          <a:solidFill>
            <a:srgbClr val="1F7A4D"/>
          </a:solidFill>
          <a:ln w="12700">
            <a:solidFill>
              <a:srgbClr val="1F7A4D"/>
            </a:solidFill>
            <a:prstDash val="solid"/>
          </a:ln>
        </p:spPr>
      </p:sp>
      <p:sp>
        <p:nvSpPr>
          <p:cNvPr id="9" name="Text 6"/>
          <p:cNvSpPr txBox="1"/>
          <p:nvPr/>
        </p:nvSpPr>
        <p:spPr>
          <a:xfrm>
            <a:off x="10545775" y="1700784"/>
            <a:ext cx="868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T1</a:t>
            </a:r>
            <a:endParaRPr lang="en-US" sz="1400" dirty="0"/>
          </a:p>
        </p:txBody>
      </p:sp>
      <p:sp>
        <p:nvSpPr>
          <p:cNvPr id="10" name="Text 7"/>
          <p:cNvSpPr txBox="1"/>
          <p:nvPr/>
        </p:nvSpPr>
        <p:spPr>
          <a:xfrm>
            <a:off x="2788920" y="2286000"/>
            <a:ext cx="4358488" cy="548640"/>
          </a:xfrm>
          <a:prstGeom prst="rect">
            <a:avLst/>
          </a:prstGeom>
          <a:noFill/>
          <a:ln/>
        </p:spPr>
        <p:txBody>
          <a:bodyPr wrap="square" lIns="0" tIns="0" rIns="0" bIns="0" rtlCol="0" anchor="b"/>
          <a:lstStyle/>
          <a:p>
            <a:pPr algn="ctr" indent="0" marL="0">
              <a:buNone/>
            </a:pPr>
            <a:r>
              <a:rPr lang="en-US" sz="1500" b="1" dirty="0">
                <a:solidFill>
                  <a:srgbClr val="14201B"/>
                </a:solidFill>
                <a:latin typeface="Calibri" pitchFamily="34" charset="0"/>
                <a:ea typeface="Calibri" pitchFamily="34" charset="-122"/>
                <a:cs typeface="Calibri" pitchFamily="34" charset="-120"/>
              </a:rPr>
              <a:t>Measured pattern beats chance</a:t>
            </a:r>
            <a:endParaRPr lang="en-US" sz="1500" dirty="0"/>
          </a:p>
          <a:p>
            <a:pPr algn="ctr" indent="0" marL="0">
              <a:buNone/>
            </a:pPr>
            <a:r>
              <a:rPr lang="en-US" sz="1150" dirty="0">
                <a:solidFill>
                  <a:srgbClr val="7B8781"/>
                </a:solidFill>
                <a:latin typeface="Calibri" pitchFamily="34" charset="0"/>
                <a:ea typeface="Calibri" pitchFamily="34" charset="-122"/>
                <a:cs typeface="Calibri" pitchFamily="34" charset="-120"/>
              </a:rPr>
              <a:t>Gate A · small-then-big pattern, p &lt; 0.05</a:t>
            </a:r>
            <a:endParaRPr lang="en-US" sz="1500" dirty="0"/>
          </a:p>
        </p:txBody>
      </p:sp>
      <p:sp>
        <p:nvSpPr>
          <p:cNvPr id="11" name="Text 8"/>
          <p:cNvSpPr txBox="1"/>
          <p:nvPr/>
        </p:nvSpPr>
        <p:spPr>
          <a:xfrm>
            <a:off x="7284568" y="2286000"/>
            <a:ext cx="4358488" cy="548640"/>
          </a:xfrm>
          <a:prstGeom prst="rect">
            <a:avLst/>
          </a:prstGeom>
          <a:noFill/>
          <a:ln/>
        </p:spPr>
        <p:txBody>
          <a:bodyPr wrap="square" lIns="0" tIns="0" rIns="0" bIns="0" rtlCol="0" anchor="b"/>
          <a:lstStyle/>
          <a:p>
            <a:pPr algn="ctr" indent="0" marL="0">
              <a:buNone/>
            </a:pPr>
            <a:r>
              <a:rPr lang="en-US" sz="1500" b="1" dirty="0">
                <a:solidFill>
                  <a:srgbClr val="14201B"/>
                </a:solidFill>
                <a:latin typeface="Calibri" pitchFamily="34" charset="0"/>
                <a:ea typeface="Calibri" pitchFamily="34" charset="-122"/>
                <a:cs typeface="Calibri" pitchFamily="34" charset="-120"/>
              </a:rPr>
              <a:t>Nothing measured decides</a:t>
            </a:r>
            <a:endParaRPr lang="en-US" sz="1500" dirty="0"/>
          </a:p>
          <a:p>
            <a:pPr algn="ctr" indent="0" marL="0">
              <a:buNone/>
            </a:pPr>
            <a:r>
              <a:rPr lang="en-US" sz="1150" dirty="0">
                <a:solidFill>
                  <a:srgbClr val="7B8781"/>
                </a:solidFill>
                <a:latin typeface="Calibri" pitchFamily="34" charset="0"/>
                <a:ea typeface="Calibri" pitchFamily="34" charset="-122"/>
                <a:cs typeface="Calibri" pitchFamily="34" charset="-120"/>
              </a:rPr>
              <a:t>a size spread alone is shared by several causes</a:t>
            </a:r>
            <a:endParaRPr lang="en-US" sz="1500" dirty="0"/>
          </a:p>
        </p:txBody>
      </p:sp>
      <p:sp>
        <p:nvSpPr>
          <p:cNvPr id="12" name="Text 9"/>
          <p:cNvSpPr txBox="1"/>
          <p:nvPr/>
        </p:nvSpPr>
        <p:spPr>
          <a:xfrm>
            <a:off x="548640" y="2926080"/>
            <a:ext cx="2103120" cy="1463040"/>
          </a:xfrm>
          <a:prstGeom prst="rect">
            <a:avLst/>
          </a:prstGeom>
          <a:noFill/>
          <a:ln/>
        </p:spPr>
        <p:txBody>
          <a:bodyPr wrap="square" lIns="0" tIns="0" rIns="0" bIns="0" rtlCol="0" anchor="ctr"/>
          <a:lstStyle/>
          <a:p>
            <a:pPr indent="0" marL="0">
              <a:buNone/>
            </a:pPr>
            <a:r>
              <a:rPr lang="en-US" sz="1500" b="1" dirty="0">
                <a:solidFill>
                  <a:srgbClr val="14201B"/>
                </a:solidFill>
                <a:latin typeface="Calibri" pitchFamily="34" charset="0"/>
                <a:ea typeface="Calibri" pitchFamily="34" charset="-122"/>
                <a:cs typeface="Calibri" pitchFamily="34" charset="-120"/>
              </a:rPr>
              <a:t>Brain 2: no objection</a:t>
            </a:r>
            <a:endParaRPr lang="en-US" sz="1500" dirty="0"/>
          </a:p>
          <a:p>
            <a:pPr indent="0" marL="0">
              <a:buNone/>
            </a:pPr>
            <a:r>
              <a:rPr lang="en-US" sz="1150" dirty="0">
                <a:solidFill>
                  <a:srgbClr val="7B8781"/>
                </a:solidFill>
                <a:latin typeface="Calibri" pitchFamily="34" charset="0"/>
                <a:ea typeface="Calibri" pitchFamily="34" charset="-122"/>
                <a:cs typeface="Calibri" pitchFamily="34" charset="-120"/>
              </a:rPr>
              <a:t>agrees, isn't sure,</a:t>
            </a:r>
            <a:endParaRPr lang="en-US" sz="1500" dirty="0"/>
          </a:p>
          <a:p>
            <a:pPr indent="0" marL="0">
              <a:buNone/>
            </a:pPr>
            <a:r>
              <a:rPr lang="en-US" sz="1150" dirty="0">
                <a:solidFill>
                  <a:srgbClr val="7B8781"/>
                </a:solidFill>
                <a:latin typeface="Calibri" pitchFamily="34" charset="0"/>
                <a:ea typeface="Calibri" pitchFamily="34" charset="-122"/>
                <a:cs typeface="Calibri" pitchFamily="34" charset="-120"/>
              </a:rPr>
              <a:t>or has no LLM key</a:t>
            </a:r>
            <a:endParaRPr lang="en-US" sz="1500" dirty="0"/>
          </a:p>
        </p:txBody>
      </p:sp>
      <p:sp>
        <p:nvSpPr>
          <p:cNvPr id="13" name="Shape 10"/>
          <p:cNvSpPr/>
          <p:nvPr/>
        </p:nvSpPr>
        <p:spPr>
          <a:xfrm>
            <a:off x="2788920" y="2926080"/>
            <a:ext cx="4358488" cy="1463040"/>
          </a:xfrm>
          <a:prstGeom prst="roundRect">
            <a:avLst>
              <a:gd name="adj" fmla="val 6250"/>
            </a:avLst>
          </a:prstGeom>
          <a:solidFill>
            <a:srgbClr val="E4F1E9"/>
          </a:solidFill>
          <a:ln w="12700">
            <a:solidFill>
              <a:srgbClr val="E4F1E9"/>
            </a:solidFill>
            <a:prstDash val="solid"/>
          </a:ln>
        </p:spPr>
      </p:sp>
      <p:sp>
        <p:nvSpPr>
          <p:cNvPr id="14" name="Shape 11"/>
          <p:cNvSpPr/>
          <p:nvPr/>
        </p:nvSpPr>
        <p:spPr>
          <a:xfrm>
            <a:off x="3017520" y="3108960"/>
            <a:ext cx="658368" cy="384048"/>
          </a:xfrm>
          <a:prstGeom prst="roundRect">
            <a:avLst>
              <a:gd name="adj" fmla="val 50000"/>
            </a:avLst>
          </a:prstGeom>
          <a:solidFill>
            <a:srgbClr val="1F7A4D"/>
          </a:solidFill>
          <a:ln w="12700">
            <a:solidFill>
              <a:srgbClr val="1F7A4D"/>
            </a:solidFill>
            <a:prstDash val="solid"/>
          </a:ln>
        </p:spPr>
      </p:sp>
      <p:sp>
        <p:nvSpPr>
          <p:cNvPr id="15" name="Text 12"/>
          <p:cNvSpPr txBox="1"/>
          <p:nvPr/>
        </p:nvSpPr>
        <p:spPr>
          <a:xfrm>
            <a:off x="3017520" y="3108960"/>
            <a:ext cx="65836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T1</a:t>
            </a:r>
            <a:endParaRPr lang="en-US" sz="1500" dirty="0"/>
          </a:p>
        </p:txBody>
      </p:sp>
      <p:sp>
        <p:nvSpPr>
          <p:cNvPr id="16" name="Text 13"/>
          <p:cNvSpPr txBox="1"/>
          <p:nvPr/>
        </p:nvSpPr>
        <p:spPr>
          <a:xfrm>
            <a:off x="3813048" y="3108960"/>
            <a:ext cx="3078328" cy="384048"/>
          </a:xfrm>
          <a:prstGeom prst="rect">
            <a:avLst/>
          </a:prstGeom>
          <a:noFill/>
          <a:ln/>
        </p:spPr>
        <p:txBody>
          <a:bodyPr wrap="square" lIns="0" tIns="0" rIns="0" bIns="0" rtlCol="0" anchor="ctr"/>
          <a:lstStyle/>
          <a:p>
            <a:pPr indent="0" marL="0">
              <a:buNone/>
            </a:pPr>
            <a:r>
              <a:rPr lang="en-US" sz="1800" b="1" dirty="0">
                <a:solidFill>
                  <a:srgbClr val="14201B"/>
                </a:solidFill>
                <a:latin typeface="Calibri" pitchFamily="34" charset="0"/>
                <a:ea typeface="Calibri" pitchFamily="34" charset="-122"/>
                <a:cs typeface="Calibri" pitchFamily="34" charset="-120"/>
              </a:rPr>
              <a:t>Strong</a:t>
            </a:r>
            <a:endParaRPr lang="en-US" sz="1800" dirty="0"/>
          </a:p>
        </p:txBody>
      </p:sp>
      <p:sp>
        <p:nvSpPr>
          <p:cNvPr id="17" name="Text 14"/>
          <p:cNvSpPr txBox="1"/>
          <p:nvPr/>
        </p:nvSpPr>
        <p:spPr>
          <a:xfrm>
            <a:off x="3017520" y="3602736"/>
            <a:ext cx="3901288" cy="676656"/>
          </a:xfrm>
          <a:prstGeom prst="rect">
            <a:avLst/>
          </a:prstGeom>
          <a:noFill/>
          <a:ln/>
        </p:spPr>
        <p:txBody>
          <a:bodyPr wrap="square" lIns="0" tIns="0" rIns="0" bIns="0" rtlCol="0" anchor="t"/>
          <a:lstStyle/>
          <a:p>
            <a:pPr indent="0" marL="0">
              <a:spcAft>
                <a:spcPts val="400"/>
              </a:spcAft>
              <a:buNone/>
            </a:pPr>
            <a:r>
              <a:rPr lang="en-US" sz="1300" dirty="0">
                <a:solidFill>
                  <a:srgbClr val="4A5751"/>
                </a:solidFill>
                <a:latin typeface="Calibri" pitchFamily="34" charset="0"/>
                <a:ea typeface="Calibri" pitchFamily="34" charset="-122"/>
                <a:cs typeface="Calibri" pitchFamily="34" charset="-120"/>
              </a:rPr>
              <a:t>Plus 3+ matching confirmed cases, none disagreeing (Gate B). Otherwise T2.</a:t>
            </a:r>
            <a:endParaRPr lang="en-US" sz="1300" dirty="0"/>
          </a:p>
          <a:p>
            <a:pPr indent="0" marL="0">
              <a:spcAft>
                <a:spcPts val="400"/>
              </a:spcAft>
              <a:buNone/>
            </a:pPr>
            <a:r>
              <a:rPr lang="en-US" sz="1300" b="1" dirty="0">
                <a:solidFill>
                  <a:srgbClr val="14201B"/>
                </a:solidFill>
                <a:latin typeface="Calibri" pitchFamily="34" charset="0"/>
                <a:ea typeface="Calibri" pitchFamily="34" charset="-122"/>
                <a:cs typeface="Calibri" pitchFamily="34" charset="-120"/>
              </a:rPr>
              <a:t>Shows: </a:t>
            </a:r>
            <a:pPr indent="0" marL="0">
              <a:spcAft>
                <a:spcPts val="400"/>
              </a:spcAft>
              <a:buNone/>
            </a:pPr>
            <a:r>
              <a:rPr lang="en-US" sz="1300" dirty="0">
                <a:solidFill>
                  <a:srgbClr val="4A5751"/>
                </a:solidFill>
                <a:latin typeface="Calibri" pitchFamily="34" charset="0"/>
                <a:ea typeface="Calibri" pitchFamily="34" charset="-122"/>
                <a:cs typeface="Calibri" pitchFamily="34" charset="-120"/>
              </a:rPr>
              <a:t>one lead cause, with its evidence</a:t>
            </a:r>
            <a:endParaRPr lang="en-US" sz="1300" dirty="0"/>
          </a:p>
        </p:txBody>
      </p:sp>
      <p:sp>
        <p:nvSpPr>
          <p:cNvPr id="18" name="Shape 15"/>
          <p:cNvSpPr/>
          <p:nvPr/>
        </p:nvSpPr>
        <p:spPr>
          <a:xfrm>
            <a:off x="7284568" y="2926080"/>
            <a:ext cx="4358488" cy="1463040"/>
          </a:xfrm>
          <a:prstGeom prst="roundRect">
            <a:avLst>
              <a:gd name="adj" fmla="val 6250"/>
            </a:avLst>
          </a:prstGeom>
          <a:solidFill>
            <a:srgbClr val="FBF0D9"/>
          </a:solidFill>
          <a:ln w="12700">
            <a:solidFill>
              <a:srgbClr val="FBF0D9"/>
            </a:solidFill>
            <a:prstDash val="solid"/>
          </a:ln>
        </p:spPr>
      </p:sp>
      <p:sp>
        <p:nvSpPr>
          <p:cNvPr id="19" name="Shape 16"/>
          <p:cNvSpPr/>
          <p:nvPr/>
        </p:nvSpPr>
        <p:spPr>
          <a:xfrm>
            <a:off x="7513168" y="3108960"/>
            <a:ext cx="658368" cy="384048"/>
          </a:xfrm>
          <a:prstGeom prst="roundRect">
            <a:avLst>
              <a:gd name="adj" fmla="val 50000"/>
            </a:avLst>
          </a:prstGeom>
          <a:solidFill>
            <a:srgbClr val="D08A00"/>
          </a:solidFill>
          <a:ln w="12700">
            <a:solidFill>
              <a:srgbClr val="D08A00"/>
            </a:solidFill>
            <a:prstDash val="solid"/>
          </a:ln>
        </p:spPr>
      </p:sp>
      <p:sp>
        <p:nvSpPr>
          <p:cNvPr id="20" name="Text 17"/>
          <p:cNvSpPr txBox="1"/>
          <p:nvPr/>
        </p:nvSpPr>
        <p:spPr>
          <a:xfrm>
            <a:off x="7513168" y="3108960"/>
            <a:ext cx="65836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T2</a:t>
            </a:r>
            <a:endParaRPr lang="en-US" sz="1500" dirty="0"/>
          </a:p>
        </p:txBody>
      </p:sp>
      <p:sp>
        <p:nvSpPr>
          <p:cNvPr id="21" name="Text 18"/>
          <p:cNvSpPr txBox="1"/>
          <p:nvPr/>
        </p:nvSpPr>
        <p:spPr>
          <a:xfrm>
            <a:off x="8308696" y="3108960"/>
            <a:ext cx="3078328" cy="384048"/>
          </a:xfrm>
          <a:prstGeom prst="rect">
            <a:avLst/>
          </a:prstGeom>
          <a:noFill/>
          <a:ln/>
        </p:spPr>
        <p:txBody>
          <a:bodyPr wrap="square" lIns="0" tIns="0" rIns="0" bIns="0" rtlCol="0" anchor="ctr"/>
          <a:lstStyle/>
          <a:p>
            <a:pPr indent="0" marL="0">
              <a:buNone/>
            </a:pPr>
            <a:r>
              <a:rPr lang="en-US" sz="1800" b="1" dirty="0">
                <a:solidFill>
                  <a:srgbClr val="14201B"/>
                </a:solidFill>
                <a:latin typeface="Calibri" pitchFamily="34" charset="0"/>
                <a:ea typeface="Calibri" pitchFamily="34" charset="-122"/>
                <a:cs typeface="Calibri" pitchFamily="34" charset="-120"/>
              </a:rPr>
              <a:t>Provisional</a:t>
            </a:r>
            <a:endParaRPr lang="en-US" sz="1800" dirty="0"/>
          </a:p>
        </p:txBody>
      </p:sp>
      <p:sp>
        <p:nvSpPr>
          <p:cNvPr id="22" name="Text 19"/>
          <p:cNvSpPr txBox="1"/>
          <p:nvPr/>
        </p:nvSpPr>
        <p:spPr>
          <a:xfrm>
            <a:off x="7513168" y="3602736"/>
            <a:ext cx="3901288" cy="676656"/>
          </a:xfrm>
          <a:prstGeom prst="rect">
            <a:avLst/>
          </a:prstGeom>
          <a:noFill/>
          <a:ln/>
        </p:spPr>
        <p:txBody>
          <a:bodyPr wrap="square" lIns="0" tIns="0" rIns="0" bIns="0" rtlCol="0" anchor="t"/>
          <a:lstStyle/>
          <a:p>
            <a:pPr indent="0" marL="0">
              <a:spcAft>
                <a:spcPts val="400"/>
              </a:spcAft>
              <a:buNone/>
            </a:pPr>
            <a:r>
              <a:rPr lang="en-US" sz="1300" dirty="0">
                <a:solidFill>
                  <a:srgbClr val="4A5751"/>
                </a:solidFill>
                <a:latin typeface="Calibri" pitchFamily="34" charset="0"/>
                <a:ea typeface="Calibri" pitchFamily="34" charset="-122"/>
                <a:cs typeface="Calibri" pitchFamily="34" charset="-120"/>
              </a:rPr>
              <a:t>No measurement singles the lead out.</a:t>
            </a:r>
            <a:endParaRPr lang="en-US" sz="1300" dirty="0"/>
          </a:p>
          <a:p>
            <a:pPr indent="0" marL="0">
              <a:spcAft>
                <a:spcPts val="400"/>
              </a:spcAft>
              <a:buNone/>
            </a:pPr>
            <a:r>
              <a:rPr lang="en-US" sz="1300" b="1" dirty="0">
                <a:solidFill>
                  <a:srgbClr val="14201B"/>
                </a:solidFill>
                <a:latin typeface="Calibri" pitchFamily="34" charset="0"/>
                <a:ea typeface="Calibri" pitchFamily="34" charset="-122"/>
                <a:cs typeface="Calibri" pitchFamily="34" charset="-120"/>
              </a:rPr>
              <a:t>Shows: </a:t>
            </a:r>
            <a:pPr indent="0" marL="0">
              <a:spcAft>
                <a:spcPts val="400"/>
              </a:spcAft>
              <a:buNone/>
            </a:pPr>
            <a:r>
              <a:rPr lang="en-US" sz="1300" dirty="0">
                <a:solidFill>
                  <a:srgbClr val="4A5751"/>
                </a:solidFill>
                <a:latin typeface="Calibri" pitchFamily="34" charset="0"/>
                <a:ea typeface="Calibri" pitchFamily="34" charset="-122"/>
                <a:cs typeface="Calibri" pitchFamily="34" charset="-120"/>
              </a:rPr>
              <a:t>the lead, marked provisional, and the check to confirm it</a:t>
            </a:r>
            <a:endParaRPr lang="en-US" sz="1300" dirty="0"/>
          </a:p>
        </p:txBody>
      </p:sp>
      <p:sp>
        <p:nvSpPr>
          <p:cNvPr id="23" name="Text 20"/>
          <p:cNvSpPr txBox="1"/>
          <p:nvPr/>
        </p:nvSpPr>
        <p:spPr>
          <a:xfrm>
            <a:off x="548640" y="4526280"/>
            <a:ext cx="2103120" cy="1463040"/>
          </a:xfrm>
          <a:prstGeom prst="rect">
            <a:avLst/>
          </a:prstGeom>
          <a:noFill/>
          <a:ln/>
        </p:spPr>
        <p:txBody>
          <a:bodyPr wrap="square" lIns="0" tIns="0" rIns="0" bIns="0" rtlCol="0" anchor="ctr"/>
          <a:lstStyle/>
          <a:p>
            <a:pPr indent="0" marL="0">
              <a:buNone/>
            </a:pPr>
            <a:r>
              <a:rPr lang="en-US" sz="1500" b="1" dirty="0">
                <a:solidFill>
                  <a:srgbClr val="14201B"/>
                </a:solidFill>
                <a:latin typeface="Calibri" pitchFamily="34" charset="0"/>
                <a:ea typeface="Calibri" pitchFamily="34" charset="-122"/>
                <a:cs typeface="Calibri" pitchFamily="34" charset="-120"/>
              </a:rPr>
              <a:t>Brain 2 objects</a:t>
            </a:r>
            <a:endParaRPr lang="en-US" sz="1500" dirty="0"/>
          </a:p>
          <a:p>
            <a:pPr indent="0" marL="0">
              <a:buNone/>
            </a:pPr>
            <a:r>
              <a:rPr lang="en-US" sz="1150" dirty="0">
                <a:solidFill>
                  <a:srgbClr val="7B8781"/>
                </a:solidFill>
                <a:latin typeface="Calibri" pitchFamily="34" charset="0"/>
                <a:ea typeface="Calibri" pitchFamily="34" charset="-122"/>
                <a:cs typeface="Calibri" pitchFamily="34" charset="-120"/>
              </a:rPr>
              <a:t>a clear, different top pick</a:t>
            </a:r>
            <a:endParaRPr lang="en-US" sz="1500" dirty="0"/>
          </a:p>
        </p:txBody>
      </p:sp>
      <p:sp>
        <p:nvSpPr>
          <p:cNvPr id="24" name="Shape 21"/>
          <p:cNvSpPr/>
          <p:nvPr/>
        </p:nvSpPr>
        <p:spPr>
          <a:xfrm>
            <a:off x="2788920" y="4526280"/>
            <a:ext cx="4358488" cy="1463040"/>
          </a:xfrm>
          <a:prstGeom prst="roundRect">
            <a:avLst>
              <a:gd name="adj" fmla="val 6250"/>
            </a:avLst>
          </a:prstGeom>
          <a:solidFill>
            <a:srgbClr val="FCE8DC"/>
          </a:solidFill>
          <a:ln w="12700">
            <a:solidFill>
              <a:srgbClr val="FCE8DC"/>
            </a:solidFill>
            <a:prstDash val="solid"/>
          </a:ln>
        </p:spPr>
      </p:sp>
      <p:sp>
        <p:nvSpPr>
          <p:cNvPr id="25" name="Shape 22"/>
          <p:cNvSpPr/>
          <p:nvPr/>
        </p:nvSpPr>
        <p:spPr>
          <a:xfrm>
            <a:off x="3017520" y="4709160"/>
            <a:ext cx="658368" cy="384048"/>
          </a:xfrm>
          <a:prstGeom prst="roundRect">
            <a:avLst>
              <a:gd name="adj" fmla="val 50000"/>
            </a:avLst>
          </a:prstGeom>
          <a:solidFill>
            <a:srgbClr val="E0662B"/>
          </a:solidFill>
          <a:ln w="12700">
            <a:solidFill>
              <a:srgbClr val="E0662B"/>
            </a:solidFill>
            <a:prstDash val="solid"/>
          </a:ln>
        </p:spPr>
      </p:sp>
      <p:sp>
        <p:nvSpPr>
          <p:cNvPr id="26" name="Text 23"/>
          <p:cNvSpPr txBox="1"/>
          <p:nvPr/>
        </p:nvSpPr>
        <p:spPr>
          <a:xfrm>
            <a:off x="3017520" y="4709160"/>
            <a:ext cx="65836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T3</a:t>
            </a:r>
            <a:endParaRPr lang="en-US" sz="1500" dirty="0"/>
          </a:p>
        </p:txBody>
      </p:sp>
      <p:sp>
        <p:nvSpPr>
          <p:cNvPr id="27" name="Text 24"/>
          <p:cNvSpPr txBox="1"/>
          <p:nvPr/>
        </p:nvSpPr>
        <p:spPr>
          <a:xfrm>
            <a:off x="3813048" y="4709160"/>
            <a:ext cx="3078328" cy="384048"/>
          </a:xfrm>
          <a:prstGeom prst="rect">
            <a:avLst/>
          </a:prstGeom>
          <a:noFill/>
          <a:ln/>
        </p:spPr>
        <p:txBody>
          <a:bodyPr wrap="square" lIns="0" tIns="0" rIns="0" bIns="0" rtlCol="0" anchor="ctr"/>
          <a:lstStyle/>
          <a:p>
            <a:pPr indent="0" marL="0">
              <a:buNone/>
            </a:pPr>
            <a:r>
              <a:rPr lang="en-US" sz="1800" b="1" dirty="0">
                <a:solidFill>
                  <a:srgbClr val="14201B"/>
                </a:solidFill>
                <a:latin typeface="Calibri" pitchFamily="34" charset="0"/>
                <a:ea typeface="Calibri" pitchFamily="34" charset="-122"/>
                <a:cs typeface="Calibri" pitchFamily="34" charset="-120"/>
              </a:rPr>
              <a:t>Disagreement</a:t>
            </a:r>
            <a:endParaRPr lang="en-US" sz="1800" dirty="0"/>
          </a:p>
        </p:txBody>
      </p:sp>
      <p:sp>
        <p:nvSpPr>
          <p:cNvPr id="28" name="Text 25"/>
          <p:cNvSpPr txBox="1"/>
          <p:nvPr/>
        </p:nvSpPr>
        <p:spPr>
          <a:xfrm>
            <a:off x="3017520" y="5202936"/>
            <a:ext cx="3901288" cy="676656"/>
          </a:xfrm>
          <a:prstGeom prst="rect">
            <a:avLst/>
          </a:prstGeom>
          <a:noFill/>
          <a:ln/>
        </p:spPr>
        <p:txBody>
          <a:bodyPr wrap="square" lIns="0" tIns="0" rIns="0" bIns="0" rtlCol="0" anchor="t"/>
          <a:lstStyle/>
          <a:p>
            <a:pPr indent="0" marL="0">
              <a:spcAft>
                <a:spcPts val="400"/>
              </a:spcAft>
              <a:buNone/>
            </a:pPr>
            <a:r>
              <a:rPr lang="en-US" sz="1300" dirty="0">
                <a:solidFill>
                  <a:srgbClr val="4A5751"/>
                </a:solidFill>
                <a:latin typeface="Calibri" pitchFamily="34" charset="0"/>
                <a:ea typeface="Calibri" pitchFamily="34" charset="-122"/>
                <a:cs typeface="Calibri" pitchFamily="34" charset="-120"/>
              </a:rPr>
              <a:t>The measurement still backs Brain 1's cause.</a:t>
            </a:r>
            <a:endParaRPr lang="en-US" sz="1300" dirty="0"/>
          </a:p>
          <a:p>
            <a:pPr indent="0" marL="0">
              <a:spcAft>
                <a:spcPts val="400"/>
              </a:spcAft>
              <a:buNone/>
            </a:pPr>
            <a:r>
              <a:rPr lang="en-US" sz="1300" b="1" dirty="0">
                <a:solidFill>
                  <a:srgbClr val="14201B"/>
                </a:solidFill>
                <a:latin typeface="Calibri" pitchFamily="34" charset="0"/>
                <a:ea typeface="Calibri" pitchFamily="34" charset="-122"/>
                <a:cs typeface="Calibri" pitchFamily="34" charset="-120"/>
              </a:rPr>
              <a:t>Shows: </a:t>
            </a:r>
            <a:pPr indent="0" marL="0">
              <a:spcAft>
                <a:spcPts val="400"/>
              </a:spcAft>
              <a:buNone/>
            </a:pPr>
            <a:r>
              <a:rPr lang="en-US" sz="1300" dirty="0">
                <a:solidFill>
                  <a:srgbClr val="4A5751"/>
                </a:solidFill>
                <a:latin typeface="Calibri" pitchFamily="34" charset="0"/>
                <a:ea typeface="Calibri" pitchFamily="34" charset="-122"/>
                <a:cs typeface="Calibri" pitchFamily="34" charset="-120"/>
              </a:rPr>
              <a:t>both candidates, Brain 1's on top</a:t>
            </a:r>
            <a:endParaRPr lang="en-US" sz="1300" dirty="0"/>
          </a:p>
        </p:txBody>
      </p:sp>
      <p:sp>
        <p:nvSpPr>
          <p:cNvPr id="29" name="Shape 26"/>
          <p:cNvSpPr/>
          <p:nvPr/>
        </p:nvSpPr>
        <p:spPr>
          <a:xfrm>
            <a:off x="7284568" y="4526280"/>
            <a:ext cx="4358488" cy="1463040"/>
          </a:xfrm>
          <a:prstGeom prst="roundRect">
            <a:avLst>
              <a:gd name="adj" fmla="val 6250"/>
            </a:avLst>
          </a:prstGeom>
          <a:solidFill>
            <a:srgbClr val="FAE3E3"/>
          </a:solidFill>
          <a:ln w="12700">
            <a:solidFill>
              <a:srgbClr val="FAE3E3"/>
            </a:solidFill>
            <a:prstDash val="solid"/>
          </a:ln>
        </p:spPr>
      </p:sp>
      <p:sp>
        <p:nvSpPr>
          <p:cNvPr id="30" name="Shape 27"/>
          <p:cNvSpPr/>
          <p:nvPr/>
        </p:nvSpPr>
        <p:spPr>
          <a:xfrm>
            <a:off x="7513168" y="4709160"/>
            <a:ext cx="658368" cy="384048"/>
          </a:xfrm>
          <a:prstGeom prst="roundRect">
            <a:avLst>
              <a:gd name="adj" fmla="val 50000"/>
            </a:avLst>
          </a:prstGeom>
          <a:solidFill>
            <a:srgbClr val="D03B3B"/>
          </a:solidFill>
          <a:ln w="12700">
            <a:solidFill>
              <a:srgbClr val="D03B3B"/>
            </a:solidFill>
            <a:prstDash val="solid"/>
          </a:ln>
        </p:spPr>
      </p:sp>
      <p:sp>
        <p:nvSpPr>
          <p:cNvPr id="31" name="Text 28"/>
          <p:cNvSpPr txBox="1"/>
          <p:nvPr/>
        </p:nvSpPr>
        <p:spPr>
          <a:xfrm>
            <a:off x="7513168" y="4709160"/>
            <a:ext cx="65836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T4</a:t>
            </a:r>
            <a:endParaRPr lang="en-US" sz="1500" dirty="0"/>
          </a:p>
        </p:txBody>
      </p:sp>
      <p:sp>
        <p:nvSpPr>
          <p:cNvPr id="32" name="Text 29"/>
          <p:cNvSpPr txBox="1"/>
          <p:nvPr/>
        </p:nvSpPr>
        <p:spPr>
          <a:xfrm>
            <a:off x="8308696" y="4709160"/>
            <a:ext cx="3078328" cy="384048"/>
          </a:xfrm>
          <a:prstGeom prst="rect">
            <a:avLst/>
          </a:prstGeom>
          <a:noFill/>
          <a:ln/>
        </p:spPr>
        <p:txBody>
          <a:bodyPr wrap="square" lIns="0" tIns="0" rIns="0" bIns="0" rtlCol="0" anchor="ctr"/>
          <a:lstStyle/>
          <a:p>
            <a:pPr indent="0" marL="0">
              <a:buNone/>
            </a:pPr>
            <a:r>
              <a:rPr lang="en-US" sz="1800" b="1" dirty="0">
                <a:solidFill>
                  <a:srgbClr val="14201B"/>
                </a:solidFill>
                <a:latin typeface="Calibri" pitchFamily="34" charset="0"/>
                <a:ea typeface="Calibri" pitchFamily="34" charset="-122"/>
                <a:cs typeface="Calibri" pitchFamily="34" charset="-120"/>
              </a:rPr>
              <a:t>Don't force it</a:t>
            </a:r>
            <a:endParaRPr lang="en-US" sz="1800" dirty="0"/>
          </a:p>
        </p:txBody>
      </p:sp>
      <p:sp>
        <p:nvSpPr>
          <p:cNvPr id="33" name="Text 30"/>
          <p:cNvSpPr txBox="1"/>
          <p:nvPr/>
        </p:nvSpPr>
        <p:spPr>
          <a:xfrm>
            <a:off x="7513168" y="5202936"/>
            <a:ext cx="3901288" cy="676656"/>
          </a:xfrm>
          <a:prstGeom prst="rect">
            <a:avLst/>
          </a:prstGeom>
          <a:noFill/>
          <a:ln/>
        </p:spPr>
        <p:txBody>
          <a:bodyPr wrap="square" lIns="0" tIns="0" rIns="0" bIns="0" rtlCol="0" anchor="t"/>
          <a:lstStyle/>
          <a:p>
            <a:pPr indent="0" marL="0">
              <a:spcAft>
                <a:spcPts val="400"/>
              </a:spcAft>
              <a:buNone/>
            </a:pPr>
            <a:r>
              <a:rPr lang="en-US" sz="1300" dirty="0">
                <a:solidFill>
                  <a:srgbClr val="4A5751"/>
                </a:solidFill>
                <a:latin typeface="Calibri" pitchFamily="34" charset="0"/>
                <a:ea typeface="Calibri" pitchFamily="34" charset="-122"/>
                <a:cs typeface="Calibri" pitchFamily="34" charset="-120"/>
              </a:rPr>
              <a:t>Nothing measured separates the two causes.</a:t>
            </a:r>
            <a:endParaRPr lang="en-US" sz="1300" dirty="0"/>
          </a:p>
          <a:p>
            <a:pPr indent="0" marL="0">
              <a:spcAft>
                <a:spcPts val="400"/>
              </a:spcAft>
              <a:buNone/>
            </a:pPr>
            <a:r>
              <a:rPr lang="en-US" sz="1300" b="1" dirty="0">
                <a:solidFill>
                  <a:srgbClr val="14201B"/>
                </a:solidFill>
                <a:latin typeface="Calibri" pitchFamily="34" charset="0"/>
                <a:ea typeface="Calibri" pitchFamily="34" charset="-122"/>
                <a:cs typeface="Calibri" pitchFamily="34" charset="-120"/>
              </a:rPr>
              <a:t>Shows: </a:t>
            </a:r>
            <a:pPr indent="0" marL="0">
              <a:spcAft>
                <a:spcPts val="400"/>
              </a:spcAft>
              <a:buNone/>
            </a:pPr>
            <a:r>
              <a:rPr lang="en-US" sz="1300" dirty="0">
                <a:solidFill>
                  <a:srgbClr val="4A5751"/>
                </a:solidFill>
                <a:latin typeface="Calibri" pitchFamily="34" charset="0"/>
                <a:ea typeface="Calibri" pitchFamily="34" charset="-122"/>
                <a:cs typeface="Calibri" pitchFamily="34" charset="-120"/>
              </a:rPr>
              <a:t>no lead cause, just the check that settles it</a:t>
            </a:r>
            <a:endParaRPr lang="en-US" sz="1300" dirty="0"/>
          </a:p>
        </p:txBody>
      </p:sp>
      <p:sp>
        <p:nvSpPr>
          <p:cNvPr id="34" name="Text 31"/>
          <p:cNvSpPr txBox="1"/>
          <p:nvPr/>
        </p:nvSpPr>
        <p:spPr>
          <a:xfrm>
            <a:off x="548640" y="6117336"/>
            <a:ext cx="11094415" cy="411480"/>
          </a:xfrm>
          <a:prstGeom prst="rect">
            <a:avLst/>
          </a:prstGeom>
          <a:noFill/>
          <a:ln/>
        </p:spPr>
        <p:txBody>
          <a:bodyPr wrap="square" lIns="0" tIns="0" rIns="0" bIns="0" rtlCol="0" anchor="t"/>
          <a:lstStyle/>
          <a:p>
            <a:pPr indent="0" marL="0">
              <a:buNone/>
            </a:pPr>
            <a:r>
              <a:rPr lang="en-US" sz="1350" b="1" dirty="0">
                <a:solidFill>
                  <a:srgbClr val="1F7A4D"/>
                </a:solidFill>
                <a:latin typeface="Calibri" pitchFamily="34" charset="0"/>
                <a:ea typeface="Calibri" pitchFamily="34" charset="-122"/>
                <a:cs typeface="Calibri" pitchFamily="34" charset="-120"/>
              </a:rPr>
              <a:t>Every tier says why on screen: </a:t>
            </a:r>
            <a:pPr indent="0" marL="0">
              <a:buNone/>
            </a:pPr>
            <a:r>
              <a:rPr lang="en-US" sz="1350" i="1" dirty="0">
                <a:solidFill>
                  <a:srgbClr val="1F7A4D"/>
                </a:solidFill>
                <a:latin typeface="Calibri" pitchFamily="34" charset="0"/>
                <a:ea typeface="Calibri" pitchFamily="34" charset="-122"/>
                <a:cs typeface="Calibri" pitchFamily="34" charset="-120"/>
              </a:rPr>
              <a:t>“Provisional: fewer than 3 matching confirmed cases back it. A check that confirms it would settle it.”</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7B8781"/>
                </a:solidFill>
                <a:latin typeface="Calibri" pitchFamily="34" charset="0"/>
                <a:ea typeface="Calibri" pitchFamily="34" charset="-122"/>
                <a:cs typeface="Calibri" pitchFamily="34" charset="-120"/>
              </a:rPr>
              <a:t>BACKUP · EVALUATION</a:t>
            </a:r>
            <a:endParaRPr lang="en-US" sz="1200" dirty="0"/>
          </a:p>
        </p:txBody>
      </p:sp>
      <p:sp>
        <p:nvSpPr>
          <p:cNvPr id="3" name="Text 1"/>
          <p:cNvSpPr txBox="1"/>
          <p:nvPr/>
        </p:nvSpPr>
        <p:spPr>
          <a:xfrm>
            <a:off x="548640" y="658368"/>
            <a:ext cx="11094415" cy="1005840"/>
          </a:xfrm>
          <a:prstGeom prst="rect">
            <a:avLst/>
          </a:prstGeom>
          <a:noFill/>
          <a:ln/>
        </p:spPr>
        <p:txBody>
          <a:bodyPr wrap="square" lIns="0" tIns="0" rIns="0" bIns="0" rtlCol="0" anchor="t">
            <a:normAutofit/>
          </a:bodyPr>
          <a:lstStyle/>
          <a:p>
            <a:pPr indent="0" marL="0">
              <a:buNone/>
            </a:pPr>
            <a:r>
              <a:rPr lang="en-US" sz="3000" b="1" dirty="0">
                <a:solidFill>
                  <a:srgbClr val="14201B"/>
                </a:solidFill>
                <a:latin typeface="Cambria" pitchFamily="34" charset="0"/>
                <a:ea typeface="Cambria" pitchFamily="34" charset="-122"/>
                <a:cs typeface="Cambria" pitchFamily="34" charset="-120"/>
              </a:rPr>
              <a:t>The photo matters most when the answers are worst</a:t>
            </a:r>
            <a:endParaRPr lang="en-US" sz="3000" dirty="0"/>
          </a:p>
        </p:txBody>
      </p:sp>
      <p:graphicFrame>
        <p:nvGraphicFramePr>
          <p:cNvPr id="4" name="Chart 0" descr=""/>
          <p:cNvGraphicFramePr/>
          <p:nvPr/>
        </p:nvGraphicFramePr>
        <p:xfrm>
          <a:off x="548640" y="1645920"/>
          <a:ext cx="7498080" cy="42976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412480" y="1828800"/>
            <a:ext cx="3246120" cy="3657600"/>
          </a:xfrm>
          <a:prstGeom prst="rect">
            <a:avLst/>
          </a:prstGeom>
          <a:noFill/>
          <a:ln/>
        </p:spPr>
        <p:txBody>
          <a:bodyPr wrap="square" lIns="0" tIns="0" rIns="0" bIns="0" rtlCol="0" anchor="t"/>
          <a:lstStyle/>
          <a:p>
            <a:pPr indent="0" marL="0">
              <a:buNone/>
            </a:pPr>
            <a:r>
              <a:rPr lang="en-US" sz="3000" b="1" dirty="0">
                <a:solidFill>
                  <a:srgbClr val="C8742B"/>
                </a:solidFill>
                <a:latin typeface="Calibri" pitchFamily="34" charset="0"/>
                <a:ea typeface="Calibri" pitchFamily="34" charset="-122"/>
                <a:cs typeface="Calibri" pitchFamily="34" charset="-120"/>
              </a:rPr>
              <a:t>57% vs 40%</a:t>
            </a:r>
            <a:endParaRPr lang="en-US" sz="1400" dirty="0"/>
          </a:p>
          <a:p>
            <a:pPr indent="0" marL="0">
              <a:buNone/>
            </a:pPr>
            <a:r>
              <a:rPr lang="en-US" sz="1400" dirty="0">
                <a:solidFill>
                  <a:srgbClr val="4A5751"/>
                </a:solidFill>
                <a:latin typeface="Calibri" pitchFamily="34" charset="0"/>
                <a:ea typeface="Calibri" pitchFamily="34" charset="-122"/>
                <a:cs typeface="Calibri" pitchFamily="34" charset="-120"/>
              </a:rPr>
              <a:t>top cause right when half the answers are guesses — with the photo, and without it.</a:t>
            </a:r>
            <a:endParaRPr lang="en-US" sz="1400" dirty="0"/>
          </a:p>
          <a:p>
            <a:pPr indent="0" marL="0">
              <a:buNone/>
            </a:pPr>
            <a:r>
              <a:rPr lang="en-US" sz="1400" dirty="0">
                <a:solidFill>
                  <a:srgbClr val="4A5751"/>
                </a:solidFill>
                <a:latin typeface="Calibri" pitchFamily="34" charset="0"/>
                <a:ea typeface="Calibri" pitchFamily="34" charset="-122"/>
                <a:cs typeface="Calibri" pitchFamily="34" charset="-120"/>
              </a:rPr>
              <a:t> </a:t>
            </a:r>
            <a:endParaRPr lang="en-US" sz="1400" dirty="0"/>
          </a:p>
          <a:p>
            <a:pPr indent="0" marL="0">
              <a:buNone/>
            </a:pPr>
            <a:r>
              <a:rPr lang="en-US" sz="1400" dirty="0">
                <a:solidFill>
                  <a:srgbClr val="1F7A4D"/>
                </a:solidFill>
                <a:latin typeface="Calibri" pitchFamily="34" charset="0"/>
                <a:ea typeface="Calibri" pitchFamily="34" charset="-122"/>
                <a:cs typeface="Calibri" pitchFamily="34" charset="-120"/>
              </a:rPr>
              <a:t>● </a:t>
            </a:r>
            <a:pPr indent="0" marL="0">
              <a:buNone/>
            </a:pPr>
            <a:r>
              <a:rPr lang="en-US" sz="1400" b="1" dirty="0">
                <a:solidFill>
                  <a:srgbClr val="14201B"/>
                </a:solidFill>
                <a:latin typeface="Calibri" pitchFamily="34" charset="0"/>
                <a:ea typeface="Calibri" pitchFamily="34" charset="-122"/>
                <a:cs typeface="Calibri" pitchFamily="34" charset="-120"/>
              </a:rPr>
              <a:t>With the photo: 81% → 66% → 57%</a:t>
            </a:r>
            <a:endParaRPr lang="en-US" sz="1400" dirty="0"/>
          </a:p>
          <a:p>
            <a:pPr indent="0" marL="0">
              <a:buNone/>
            </a:pPr>
            <a:r>
              <a:rPr lang="en-US" sz="1400" dirty="0">
                <a:solidFill>
                  <a:srgbClr val="8A958F"/>
                </a:solidFill>
                <a:latin typeface="Calibri" pitchFamily="34" charset="0"/>
                <a:ea typeface="Calibri" pitchFamily="34" charset="-122"/>
                <a:cs typeface="Calibri" pitchFamily="34" charset="-120"/>
              </a:rPr>
              <a:t>● </a:t>
            </a:r>
            <a:pPr indent="0" marL="0">
              <a:buNone/>
            </a:pPr>
            <a:r>
              <a:rPr lang="en-US" sz="1400" b="1" dirty="0">
                <a:solidFill>
                  <a:srgbClr val="14201B"/>
                </a:solidFill>
                <a:latin typeface="Calibri" pitchFamily="34" charset="0"/>
                <a:ea typeface="Calibri" pitchFamily="34" charset="-122"/>
                <a:cs typeface="Calibri" pitchFamily="34" charset="-120"/>
              </a:rPr>
              <a:t>Questions only: 71% → 54% → 40%</a:t>
            </a:r>
            <a:endParaRPr lang="en-US" sz="1400" dirty="0"/>
          </a:p>
          <a:p>
            <a:pPr indent="0" marL="0">
              <a:buNone/>
            </a:pPr>
            <a:r>
              <a:rPr lang="en-US" sz="1400" dirty="0">
                <a:solidFill>
                  <a:srgbClr val="4A5751"/>
                </a:solidFill>
                <a:latin typeface="Calibri" pitchFamily="34" charset="0"/>
                <a:ea typeface="Calibri" pitchFamily="34" charset="-122"/>
                <a:cs typeface="Calibri" pitchFamily="34" charset="-120"/>
              </a:rPr>
              <a:t> </a:t>
            </a:r>
            <a:endParaRPr lang="en-US" sz="1400" dirty="0"/>
          </a:p>
          <a:p>
            <a:pPr indent="0" marL="0">
              <a:buNone/>
            </a:pPr>
            <a:r>
              <a:rPr lang="en-US" sz="1400" dirty="0">
                <a:solidFill>
                  <a:srgbClr val="4A5751"/>
                </a:solidFill>
                <a:latin typeface="Calibri" pitchFamily="34" charset="0"/>
                <a:ea typeface="Calibri" pitchFamily="34" charset="-122"/>
                <a:cs typeface="Calibri" pitchFamily="34" charset="-120"/>
              </a:rPr>
              <a:t>Chance is 14% (one in seven). 420 simulated cases per point; answers from scenario cards written from the NPL guide, not from the rules.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7B8781"/>
                </a:solidFill>
                <a:latin typeface="Calibri" pitchFamily="34" charset="0"/>
                <a:ea typeface="Calibri" pitchFamily="34" charset="-122"/>
                <a:cs typeface="Calibri" pitchFamily="34" charset="-120"/>
              </a:rPr>
              <a:t>BACKUP · EVALUATION</a:t>
            </a:r>
            <a:endParaRPr lang="en-US" sz="1200" dirty="0"/>
          </a:p>
        </p:txBody>
      </p:sp>
      <p:sp>
        <p:nvSpPr>
          <p:cNvPr id="3" name="Text 1"/>
          <p:cNvSpPr txBox="1"/>
          <p:nvPr/>
        </p:nvSpPr>
        <p:spPr>
          <a:xfrm>
            <a:off x="548640" y="658368"/>
            <a:ext cx="11094415" cy="1005840"/>
          </a:xfrm>
          <a:prstGeom prst="rect">
            <a:avLst/>
          </a:prstGeom>
          <a:noFill/>
          <a:ln/>
        </p:spPr>
        <p:txBody>
          <a:bodyPr wrap="square" lIns="0" tIns="0" rIns="0" bIns="0" rtlCol="0" anchor="t">
            <a:normAutofit/>
          </a:bodyPr>
          <a:lstStyle/>
          <a:p>
            <a:pPr indent="0" marL="0">
              <a:buNone/>
            </a:pPr>
            <a:r>
              <a:rPr lang="en-US" sz="3000" b="1" dirty="0">
                <a:solidFill>
                  <a:srgbClr val="14201B"/>
                </a:solidFill>
                <a:latin typeface="Cambria" pitchFamily="34" charset="0"/>
                <a:ea typeface="Cambria" pitchFamily="34" charset="-122"/>
                <a:cs typeface="Cambria" pitchFamily="34" charset="-120"/>
              </a:rPr>
              <a:t>It refuses rather than misleads</a:t>
            </a:r>
            <a:endParaRPr lang="en-US" sz="3000" dirty="0"/>
          </a:p>
        </p:txBody>
      </p:sp>
      <p:graphicFrame>
        <p:nvGraphicFramePr>
          <p:cNvPr id="4" name="Chart 0" descr=""/>
          <p:cNvGraphicFramePr/>
          <p:nvPr/>
        </p:nvGraphicFramePr>
        <p:xfrm>
          <a:off x="548640" y="1600200"/>
          <a:ext cx="8229600" cy="4526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9006840" y="1828800"/>
            <a:ext cx="2651760" cy="4206240"/>
          </a:xfrm>
          <a:prstGeom prst="rect">
            <a:avLst/>
          </a:prstGeom>
          <a:noFill/>
          <a:ln/>
        </p:spPr>
        <p:txBody>
          <a:bodyPr wrap="square" lIns="0" tIns="0" rIns="0" bIns="0" rtlCol="0" anchor="t"/>
          <a:lstStyle/>
          <a:p>
            <a:pPr indent="0" marL="0">
              <a:buNone/>
            </a:pPr>
            <a:r>
              <a:rPr lang="en-US" sz="3000" b="1" dirty="0">
                <a:solidFill>
                  <a:srgbClr val="D03B3B"/>
                </a:solidFill>
                <a:latin typeface="Calibri" pitchFamily="34" charset="0"/>
                <a:ea typeface="Calibri" pitchFamily="34" charset="-122"/>
                <a:cs typeface="Calibri" pitchFamily="34" charset="-120"/>
              </a:rPr>
              <a:t>9%</a:t>
            </a:r>
            <a:endParaRPr lang="en-US" sz="1300" dirty="0"/>
          </a:p>
          <a:p>
            <a:pPr indent="0" marL="0">
              <a:buNone/>
            </a:pPr>
            <a:r>
              <a:rPr lang="en-US" sz="1300" dirty="0">
                <a:solidFill>
                  <a:srgbClr val="4A5751"/>
                </a:solidFill>
                <a:latin typeface="Calibri" pitchFamily="34" charset="0"/>
                <a:ea typeface="Calibri" pitchFamily="34" charset="-122"/>
                <a:cs typeface="Calibri" pitchFamily="34" charset="-120"/>
              </a:rPr>
              <a:t>false alarms under light board clutter — the only tested fault that misleads. The fix is a bare-board reference photo.</a:t>
            </a:r>
            <a:endParaRPr lang="en-US" sz="1300" dirty="0"/>
          </a:p>
          <a:p>
            <a:pPr indent="0" marL="0">
              <a:buNone/>
            </a:pPr>
            <a:r>
              <a:rPr lang="en-US" sz="1300" dirty="0">
                <a:solidFill>
                  <a:srgbClr val="4A5751"/>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4A5751"/>
                </a:solidFill>
                <a:latin typeface="Calibri" pitchFamily="34" charset="0"/>
                <a:ea typeface="Calibri" pitchFamily="34" charset="-122"/>
                <a:cs typeface="Calibri" pitchFamily="34" charset="-120"/>
              </a:rPr>
              <a:t>Everything else measures correctly or is refused with a reason. 'Missed' is the dispense-order pattern found in about half of carryover photos — the interview then carries it.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3B2E"/>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E9B07C"/>
                </a:solidFill>
                <a:latin typeface="Calibri" pitchFamily="34" charset="0"/>
                <a:ea typeface="Calibri" pitchFamily="34" charset="-122"/>
                <a:cs typeface="Calibri" pitchFamily="34" charset="-120"/>
              </a:rPr>
              <a:t>BACKUP · INDUSTRY IMPACT</a:t>
            </a:r>
            <a:endParaRPr lang="en-US" sz="1200" dirty="0"/>
          </a:p>
        </p:txBody>
      </p:sp>
      <p:sp>
        <p:nvSpPr>
          <p:cNvPr id="3" name="Text 1"/>
          <p:cNvSpPr txBox="1"/>
          <p:nvPr/>
        </p:nvSpPr>
        <p:spPr>
          <a:xfrm>
            <a:off x="548640" y="658368"/>
            <a:ext cx="11094415" cy="1005840"/>
          </a:xfrm>
          <a:prstGeom prst="rect">
            <a:avLst/>
          </a:prstGeom>
          <a:noFill/>
          <a:ln/>
        </p:spPr>
        <p:txBody>
          <a:bodyPr wrap="square" lIns="0" tIns="0" rIns="0" bIns="0" rtlCol="0" anchor="t">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Ready to pilot on an NSW line</a:t>
            </a:r>
            <a:endParaRPr lang="en-US" sz="3000" dirty="0"/>
          </a:p>
        </p:txBody>
      </p:sp>
      <p:sp>
        <p:nvSpPr>
          <p:cNvPr id="4" name="Text 2"/>
          <p:cNvSpPr txBox="1"/>
          <p:nvPr/>
        </p:nvSpPr>
        <p:spPr>
          <a:xfrm>
            <a:off x="548640" y="1691640"/>
            <a:ext cx="5303520" cy="365760"/>
          </a:xfrm>
          <a:prstGeom prst="rect">
            <a:avLst/>
          </a:prstGeom>
          <a:noFill/>
          <a:ln/>
        </p:spPr>
        <p:txBody>
          <a:bodyPr wrap="square" lIns="0" tIns="0" rIns="0" bIns="0" rtlCol="0" anchor="ctr"/>
          <a:lstStyle/>
          <a:p>
            <a:pPr indent="0" marL="0">
              <a:buNone/>
            </a:pPr>
            <a:r>
              <a:rPr lang="en-US" sz="1800" b="1" dirty="0">
                <a:solidFill>
                  <a:srgbClr val="9CC9B1"/>
                </a:solidFill>
                <a:latin typeface="Calibri" pitchFamily="34" charset="0"/>
                <a:ea typeface="Calibri" pitchFamily="34" charset="-122"/>
                <a:cs typeface="Calibri" pitchFamily="34" charset="-120"/>
              </a:rPr>
              <a:t>Value on day one</a:t>
            </a:r>
            <a:endParaRPr lang="en-US" sz="1800" dirty="0"/>
          </a:p>
        </p:txBody>
      </p:sp>
      <p:sp>
        <p:nvSpPr>
          <p:cNvPr id="5" name="Shape 3"/>
          <p:cNvSpPr/>
          <p:nvPr/>
        </p:nvSpPr>
        <p:spPr>
          <a:xfrm>
            <a:off x="548640" y="2240280"/>
            <a:ext cx="566928" cy="566928"/>
          </a:xfrm>
          <a:prstGeom prst="ellipse">
            <a:avLst/>
          </a:prstGeom>
          <a:solidFill>
            <a:srgbClr val="1F7A4D"/>
          </a:solidFill>
          <a:ln w="12700">
            <a:solidFill>
              <a:srgbClr val="1F7A4D"/>
            </a:solidFill>
            <a:prstDash val="solid"/>
          </a:ln>
        </p:spPr>
      </p:sp>
      <p:pic>
        <p:nvPicPr>
          <p:cNvPr id="6" name="Image 0" descr="preencoded.png">    </p:cNvPr>
          <p:cNvPicPr>
            <a:picLocks noChangeAspect="1"/>
          </p:cNvPicPr>
          <p:nvPr/>
        </p:nvPicPr>
        <p:blipFill>
          <a:blip r:embed="rId1"/>
          <a:stretch>
            <a:fillRect/>
          </a:stretch>
        </p:blipFill>
        <p:spPr>
          <a:xfrm>
            <a:off x="679033" y="2370673"/>
            <a:ext cx="306141" cy="306141"/>
          </a:xfrm>
          <a:prstGeom prst="rect">
            <a:avLst/>
          </a:prstGeom>
        </p:spPr>
      </p:pic>
      <p:sp>
        <p:nvSpPr>
          <p:cNvPr id="7" name="Text 4"/>
          <p:cNvSpPr txBox="1"/>
          <p:nvPr/>
        </p:nvSpPr>
        <p:spPr>
          <a:xfrm>
            <a:off x="1325880" y="2240280"/>
            <a:ext cx="457200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 new technician's first check — ranked, with reasons</a:t>
            </a:r>
            <a:endParaRPr lang="en-US" sz="1600" dirty="0"/>
          </a:p>
        </p:txBody>
      </p:sp>
      <p:sp>
        <p:nvSpPr>
          <p:cNvPr id="8" name="Shape 5"/>
          <p:cNvSpPr/>
          <p:nvPr/>
        </p:nvSpPr>
        <p:spPr>
          <a:xfrm>
            <a:off x="548640" y="3108960"/>
            <a:ext cx="566928" cy="566928"/>
          </a:xfrm>
          <a:prstGeom prst="ellipse">
            <a:avLst/>
          </a:prstGeom>
          <a:solidFill>
            <a:srgbClr val="1F7A4D"/>
          </a:solidFill>
          <a:ln w="12700">
            <a:solidFill>
              <a:srgbClr val="1F7A4D"/>
            </a:solidFill>
            <a:prstDash val="solid"/>
          </a:ln>
        </p:spPr>
      </p:sp>
      <p:pic>
        <p:nvPicPr>
          <p:cNvPr id="9" name="Image 1" descr="preencoded.png">    </p:cNvPr>
          <p:cNvPicPr>
            <a:picLocks noChangeAspect="1"/>
          </p:cNvPicPr>
          <p:nvPr/>
        </p:nvPicPr>
        <p:blipFill>
          <a:blip r:embed="rId2"/>
          <a:stretch>
            <a:fillRect/>
          </a:stretch>
        </p:blipFill>
        <p:spPr>
          <a:xfrm>
            <a:off x="679033" y="3239353"/>
            <a:ext cx="306141" cy="306141"/>
          </a:xfrm>
          <a:prstGeom prst="rect">
            <a:avLst/>
          </a:prstGeom>
        </p:spPr>
      </p:pic>
      <p:sp>
        <p:nvSpPr>
          <p:cNvPr id="10" name="Text 6"/>
          <p:cNvSpPr txBox="1"/>
          <p:nvPr/>
        </p:nvSpPr>
        <p:spPr>
          <a:xfrm>
            <a:off x="1325880" y="3108960"/>
            <a:ext cx="457200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An audit-ready report for every case, printable as PDF</a:t>
            </a:r>
            <a:endParaRPr lang="en-US" sz="1600" dirty="0"/>
          </a:p>
        </p:txBody>
      </p:sp>
      <p:sp>
        <p:nvSpPr>
          <p:cNvPr id="11" name="Shape 7"/>
          <p:cNvSpPr/>
          <p:nvPr/>
        </p:nvSpPr>
        <p:spPr>
          <a:xfrm>
            <a:off x="548640" y="3977640"/>
            <a:ext cx="566928" cy="566928"/>
          </a:xfrm>
          <a:prstGeom prst="ellipse">
            <a:avLst/>
          </a:prstGeom>
          <a:solidFill>
            <a:srgbClr val="1F7A4D"/>
          </a:solidFill>
          <a:ln w="12700">
            <a:solidFill>
              <a:srgbClr val="1F7A4D"/>
            </a:solidFill>
            <a:prstDash val="solid"/>
          </a:ln>
        </p:spPr>
      </p:sp>
      <p:pic>
        <p:nvPicPr>
          <p:cNvPr id="12" name="Image 2" descr="preencoded.png">    </p:cNvPr>
          <p:cNvPicPr>
            <a:picLocks noChangeAspect="1"/>
          </p:cNvPicPr>
          <p:nvPr/>
        </p:nvPicPr>
        <p:blipFill>
          <a:blip r:embed="rId3"/>
          <a:stretch>
            <a:fillRect/>
          </a:stretch>
        </p:blipFill>
        <p:spPr>
          <a:xfrm>
            <a:off x="679033" y="4108033"/>
            <a:ext cx="306141" cy="306141"/>
          </a:xfrm>
          <a:prstGeom prst="rect">
            <a:avLst/>
          </a:prstGeom>
        </p:spPr>
      </p:pic>
      <p:sp>
        <p:nvSpPr>
          <p:cNvPr id="13" name="Text 8"/>
          <p:cNvSpPr txBox="1"/>
          <p:nvPr/>
        </p:nvSpPr>
        <p:spPr>
          <a:xfrm>
            <a:off x="1325880" y="3977640"/>
            <a:ext cx="457200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 troubleshooting history that only keeps proved fixes</a:t>
            </a:r>
            <a:endParaRPr lang="en-US" sz="1600" dirty="0"/>
          </a:p>
        </p:txBody>
      </p:sp>
      <p:sp>
        <p:nvSpPr>
          <p:cNvPr id="14" name="Shape 9"/>
          <p:cNvSpPr/>
          <p:nvPr/>
        </p:nvSpPr>
        <p:spPr>
          <a:xfrm>
            <a:off x="548640" y="4846320"/>
            <a:ext cx="566928" cy="566928"/>
          </a:xfrm>
          <a:prstGeom prst="ellipse">
            <a:avLst/>
          </a:prstGeom>
          <a:solidFill>
            <a:srgbClr val="1F7A4D"/>
          </a:solidFill>
          <a:ln w="12700">
            <a:solidFill>
              <a:srgbClr val="1F7A4D"/>
            </a:solidFill>
            <a:prstDash val="solid"/>
          </a:ln>
        </p:spPr>
      </p:sp>
      <p:pic>
        <p:nvPicPr>
          <p:cNvPr id="15" name="Image 3" descr="preencoded.png">    </p:cNvPr>
          <p:cNvPicPr>
            <a:picLocks noChangeAspect="1"/>
          </p:cNvPicPr>
          <p:nvPr/>
        </p:nvPicPr>
        <p:blipFill>
          <a:blip r:embed="rId4"/>
          <a:stretch>
            <a:fillRect/>
          </a:stretch>
        </p:blipFill>
        <p:spPr>
          <a:xfrm>
            <a:off x="679033" y="4976713"/>
            <a:ext cx="306141" cy="306141"/>
          </a:xfrm>
          <a:prstGeom prst="rect">
            <a:avLst/>
          </a:prstGeom>
        </p:spPr>
      </p:pic>
      <p:sp>
        <p:nvSpPr>
          <p:cNvPr id="16" name="Text 10"/>
          <p:cNvSpPr txBox="1"/>
          <p:nvPr/>
        </p:nvSpPr>
        <p:spPr>
          <a:xfrm>
            <a:off x="1325880" y="4846320"/>
            <a:ext cx="457200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Runs offline on a line PC; a phone camera is enough</a:t>
            </a:r>
            <a:endParaRPr lang="en-US" sz="1600" dirty="0"/>
          </a:p>
        </p:txBody>
      </p:sp>
      <p:sp>
        <p:nvSpPr>
          <p:cNvPr id="17" name="Text 11"/>
          <p:cNvSpPr txBox="1"/>
          <p:nvPr/>
        </p:nvSpPr>
        <p:spPr>
          <a:xfrm>
            <a:off x="6400800" y="1691640"/>
            <a:ext cx="5212080" cy="365760"/>
          </a:xfrm>
          <a:prstGeom prst="rect">
            <a:avLst/>
          </a:prstGeom>
          <a:noFill/>
          <a:ln/>
        </p:spPr>
        <p:txBody>
          <a:bodyPr wrap="square" lIns="0" tIns="0" rIns="0" bIns="0" rtlCol="0" anchor="ctr"/>
          <a:lstStyle/>
          <a:p>
            <a:pPr indent="0" marL="0">
              <a:buNone/>
            </a:pPr>
            <a:r>
              <a:rPr lang="en-US" sz="1800" b="1" dirty="0">
                <a:solidFill>
                  <a:srgbClr val="9CC9B1"/>
                </a:solidFill>
                <a:latin typeface="Calibri" pitchFamily="34" charset="0"/>
                <a:ea typeface="Calibri" pitchFamily="34" charset="-122"/>
                <a:cs typeface="Calibri" pitchFamily="34" charset="-120"/>
              </a:rPr>
              <a:t>Pilot plan</a:t>
            </a:r>
            <a:endParaRPr lang="en-US" sz="1800" dirty="0"/>
          </a:p>
        </p:txBody>
      </p:sp>
      <p:sp>
        <p:nvSpPr>
          <p:cNvPr id="18" name="Shape 12"/>
          <p:cNvSpPr/>
          <p:nvPr/>
        </p:nvSpPr>
        <p:spPr>
          <a:xfrm>
            <a:off x="6400800" y="2267712"/>
            <a:ext cx="512064" cy="512064"/>
          </a:xfrm>
          <a:prstGeom prst="ellipse">
            <a:avLst/>
          </a:prstGeom>
          <a:solidFill>
            <a:srgbClr val="C8742B"/>
          </a:solidFill>
          <a:ln w="12700">
            <a:solidFill>
              <a:srgbClr val="C8742B"/>
            </a:solidFill>
            <a:prstDash val="solid"/>
          </a:ln>
        </p:spPr>
      </p:sp>
      <p:sp>
        <p:nvSpPr>
          <p:cNvPr id="19" name="Text 13"/>
          <p:cNvSpPr txBox="1"/>
          <p:nvPr/>
        </p:nvSpPr>
        <p:spPr>
          <a:xfrm>
            <a:off x="6400800" y="226771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0" name="Text 14"/>
          <p:cNvSpPr txBox="1"/>
          <p:nvPr/>
        </p:nvSpPr>
        <p:spPr>
          <a:xfrm>
            <a:off x="7132320" y="2240280"/>
            <a:ext cx="4480560" cy="56692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Validate on 50–100 real NSW photos per product</a:t>
            </a:r>
            <a:endParaRPr lang="en-US" sz="1500" dirty="0"/>
          </a:p>
        </p:txBody>
      </p:sp>
      <p:sp>
        <p:nvSpPr>
          <p:cNvPr id="21" name="Shape 15"/>
          <p:cNvSpPr/>
          <p:nvPr/>
        </p:nvSpPr>
        <p:spPr>
          <a:xfrm>
            <a:off x="6400800" y="3136392"/>
            <a:ext cx="512064" cy="512064"/>
          </a:xfrm>
          <a:prstGeom prst="ellipse">
            <a:avLst/>
          </a:prstGeom>
          <a:solidFill>
            <a:srgbClr val="C8742B"/>
          </a:solidFill>
          <a:ln w="12700">
            <a:solidFill>
              <a:srgbClr val="C8742B"/>
            </a:solidFill>
            <a:prstDash val="solid"/>
          </a:ln>
        </p:spPr>
      </p:sp>
      <p:sp>
        <p:nvSpPr>
          <p:cNvPr id="22" name="Text 16"/>
          <p:cNvSpPr txBox="1"/>
          <p:nvPr/>
        </p:nvSpPr>
        <p:spPr>
          <a:xfrm>
            <a:off x="6400800" y="31363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3" name="Text 17"/>
          <p:cNvSpPr txBox="1"/>
          <p:nvPr/>
        </p:nvSpPr>
        <p:spPr>
          <a:xfrm>
            <a:off x="7132320" y="3108960"/>
            <a:ext cx="4480560" cy="56692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Subtract a bare-board reference photo to remove clutter false alarms</a:t>
            </a:r>
            <a:endParaRPr lang="en-US" sz="1500" dirty="0"/>
          </a:p>
        </p:txBody>
      </p:sp>
      <p:sp>
        <p:nvSpPr>
          <p:cNvPr id="24" name="Shape 18"/>
          <p:cNvSpPr/>
          <p:nvPr/>
        </p:nvSpPr>
        <p:spPr>
          <a:xfrm>
            <a:off x="6400800" y="4005072"/>
            <a:ext cx="512064" cy="512064"/>
          </a:xfrm>
          <a:prstGeom prst="ellipse">
            <a:avLst/>
          </a:prstGeom>
          <a:solidFill>
            <a:srgbClr val="C8742B"/>
          </a:solidFill>
          <a:ln w="12700">
            <a:solidFill>
              <a:srgbClr val="C8742B"/>
            </a:solidFill>
            <a:prstDash val="solid"/>
          </a:ln>
        </p:spPr>
      </p:sp>
      <p:sp>
        <p:nvSpPr>
          <p:cNvPr id="25" name="Text 19"/>
          <p:cNvSpPr txBox="1"/>
          <p:nvPr/>
        </p:nvSpPr>
        <p:spPr>
          <a:xfrm>
            <a:off x="6400800" y="400507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6" name="Text 20"/>
          <p:cNvSpPr txBox="1"/>
          <p:nvPr/>
        </p:nvSpPr>
        <p:spPr>
          <a:xfrm>
            <a:off x="7132320" y="3977640"/>
            <a:ext cx="4480560" cy="56692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Rules as data: engineers add causes (e.g. up height, NPL §3.3) without code</a:t>
            </a:r>
            <a:endParaRPr lang="en-US" sz="1500" dirty="0"/>
          </a:p>
        </p:txBody>
      </p:sp>
      <p:sp>
        <p:nvSpPr>
          <p:cNvPr id="27" name="Shape 21"/>
          <p:cNvSpPr/>
          <p:nvPr/>
        </p:nvSpPr>
        <p:spPr>
          <a:xfrm>
            <a:off x="6400800" y="4873752"/>
            <a:ext cx="512064" cy="512064"/>
          </a:xfrm>
          <a:prstGeom prst="ellipse">
            <a:avLst/>
          </a:prstGeom>
          <a:solidFill>
            <a:srgbClr val="C8742B"/>
          </a:solidFill>
          <a:ln w="12700">
            <a:solidFill>
              <a:srgbClr val="C8742B"/>
            </a:solidFill>
            <a:prstDash val="solid"/>
          </a:ln>
        </p:spPr>
      </p:sp>
      <p:sp>
        <p:nvSpPr>
          <p:cNvPr id="28" name="Text 22"/>
          <p:cNvSpPr txBox="1"/>
          <p:nvPr/>
        </p:nvSpPr>
        <p:spPr>
          <a:xfrm>
            <a:off x="6400800" y="487375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9" name="Text 23"/>
          <p:cNvSpPr txBox="1"/>
          <p:nvPr/>
        </p:nvSpPr>
        <p:spPr>
          <a:xfrm>
            <a:off x="7132320" y="4846320"/>
            <a:ext cx="4480560" cy="56692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Predict: open a case automatically when a line's size spread starts drifting</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7B8781"/>
                </a:solidFill>
                <a:latin typeface="Calibri" pitchFamily="34" charset="0"/>
                <a:ea typeface="Calibri" pitchFamily="34" charset="-122"/>
                <a:cs typeface="Calibri" pitchFamily="34" charset="-120"/>
              </a:rPr>
              <a:t>BACKUP · WHAT THE NUMBERS MEAN</a:t>
            </a:r>
            <a:endParaRPr lang="en-US" sz="1200" dirty="0"/>
          </a:p>
        </p:txBody>
      </p:sp>
      <p:sp>
        <p:nvSpPr>
          <p:cNvPr id="3" name="Text 1"/>
          <p:cNvSpPr txBox="1"/>
          <p:nvPr/>
        </p:nvSpPr>
        <p:spPr>
          <a:xfrm>
            <a:off x="548640" y="658368"/>
            <a:ext cx="11094415" cy="1005840"/>
          </a:xfrm>
          <a:prstGeom prst="rect">
            <a:avLst/>
          </a:prstGeom>
          <a:noFill/>
          <a:ln/>
        </p:spPr>
        <p:txBody>
          <a:bodyPr wrap="square" lIns="0" tIns="0" rIns="0" bIns="0" rtlCol="0" anchor="t">
            <a:normAutofit/>
          </a:bodyPr>
          <a:lstStyle/>
          <a:p>
            <a:pPr indent="0" marL="0">
              <a:buNone/>
            </a:pPr>
            <a:r>
              <a:rPr lang="en-US" sz="3000" b="1" dirty="0">
                <a:solidFill>
                  <a:srgbClr val="14201B"/>
                </a:solidFill>
                <a:latin typeface="Cambria" pitchFamily="34" charset="0"/>
                <a:ea typeface="Cambria" pitchFamily="34" charset="-122"/>
                <a:cs typeface="Cambria" pitchFamily="34" charset="-120"/>
              </a:rPr>
              <a:t>Score, tier, verdict: three different questions</a:t>
            </a:r>
            <a:endParaRPr lang="en-US" sz="3000" dirty="0"/>
          </a:p>
        </p:txBody>
      </p:sp>
      <p:sp>
        <p:nvSpPr>
          <p:cNvPr id="4" name="Shape 2"/>
          <p:cNvSpPr/>
          <p:nvPr/>
        </p:nvSpPr>
        <p:spPr>
          <a:xfrm>
            <a:off x="548640" y="1783080"/>
            <a:ext cx="3362858" cy="4023360"/>
          </a:xfrm>
          <a:prstGeom prst="roundRect">
            <a:avLst>
              <a:gd name="adj" fmla="val 3263"/>
            </a:avLst>
          </a:prstGeom>
          <a:solidFill>
            <a:srgbClr val="EEF5F1"/>
          </a:solidFill>
          <a:ln w="12700">
            <a:solidFill>
              <a:srgbClr val="EEF5F1"/>
            </a:solidFill>
            <a:prstDash val="solid"/>
          </a:ln>
        </p:spPr>
      </p:sp>
      <p:sp>
        <p:nvSpPr>
          <p:cNvPr id="5" name="Shape 3"/>
          <p:cNvSpPr/>
          <p:nvPr/>
        </p:nvSpPr>
        <p:spPr>
          <a:xfrm>
            <a:off x="4002938" y="3611880"/>
            <a:ext cx="320040" cy="365760"/>
          </a:xfrm>
          <a:prstGeom prst="rightArrow">
            <a:avLst/>
          </a:prstGeom>
          <a:solidFill>
            <a:srgbClr val="6FB08C"/>
          </a:solidFill>
          <a:ln w="12700">
            <a:solidFill>
              <a:srgbClr val="6FB08C"/>
            </a:solidFill>
            <a:prstDash val="solid"/>
          </a:ln>
        </p:spPr>
      </p:sp>
      <p:sp>
        <p:nvSpPr>
          <p:cNvPr id="6" name="Text 4"/>
          <p:cNvSpPr txBox="1"/>
          <p:nvPr/>
        </p:nvSpPr>
        <p:spPr>
          <a:xfrm>
            <a:off x="868680" y="2057400"/>
            <a:ext cx="2722778" cy="274320"/>
          </a:xfrm>
          <a:prstGeom prst="rect">
            <a:avLst/>
          </a:prstGeom>
          <a:noFill/>
          <a:ln/>
        </p:spPr>
        <p:txBody>
          <a:bodyPr wrap="square" lIns="0" tIns="0" rIns="0" bIns="0" rtlCol="0" anchor="ctr"/>
          <a:lstStyle/>
          <a:p>
            <a:pPr indent="0" marL="0">
              <a:buNone/>
            </a:pPr>
            <a:r>
              <a:rPr lang="en-US" sz="1100" b="1" spc="200" kern="0" dirty="0">
                <a:solidFill>
                  <a:srgbClr val="C8742B"/>
                </a:solidFill>
                <a:latin typeface="Calibri" pitchFamily="34" charset="0"/>
                <a:ea typeface="Calibri" pitchFamily="34" charset="-122"/>
                <a:cs typeface="Calibri" pitchFamily="34" charset="-120"/>
              </a:rPr>
              <a:t>AFTER THE PHOTO</a:t>
            </a:r>
            <a:endParaRPr lang="en-US" sz="1100" dirty="0"/>
          </a:p>
        </p:txBody>
      </p:sp>
      <p:sp>
        <p:nvSpPr>
          <p:cNvPr id="7" name="Text 5"/>
          <p:cNvSpPr txBox="1"/>
          <p:nvPr/>
        </p:nvSpPr>
        <p:spPr>
          <a:xfrm>
            <a:off x="868680" y="2350008"/>
            <a:ext cx="2722778" cy="384048"/>
          </a:xfrm>
          <a:prstGeom prst="rect">
            <a:avLst/>
          </a:prstGeom>
          <a:noFill/>
          <a:ln/>
        </p:spPr>
        <p:txBody>
          <a:bodyPr wrap="square" lIns="0" tIns="0" rIns="0" bIns="0" rtlCol="0" anchor="ctr"/>
          <a:lstStyle/>
          <a:p>
            <a:pPr indent="0" marL="0">
              <a:buNone/>
            </a:pPr>
            <a:r>
              <a:rPr lang="en-US" sz="1900" b="1" dirty="0">
                <a:solidFill>
                  <a:srgbClr val="14201B"/>
                </a:solidFill>
                <a:latin typeface="Calibri" pitchFamily="34" charset="0"/>
                <a:ea typeface="Calibri" pitchFamily="34" charset="-122"/>
                <a:cs typeface="Calibri" pitchFamily="34" charset="-120"/>
              </a:rPr>
              <a:t>Quality score</a:t>
            </a:r>
            <a:endParaRPr lang="en-US" sz="1900" dirty="0"/>
          </a:p>
        </p:txBody>
      </p:sp>
      <p:sp>
        <p:nvSpPr>
          <p:cNvPr id="8" name="Text 6"/>
          <p:cNvSpPr txBox="1"/>
          <p:nvPr/>
        </p:nvSpPr>
        <p:spPr>
          <a:xfrm>
            <a:off x="868680" y="2788920"/>
            <a:ext cx="2722778" cy="731520"/>
          </a:xfrm>
          <a:prstGeom prst="rect">
            <a:avLst/>
          </a:prstGeom>
          <a:noFill/>
          <a:ln/>
        </p:spPr>
        <p:txBody>
          <a:bodyPr wrap="square" lIns="0" tIns="0" rIns="0" bIns="0" rtlCol="0" anchor="t"/>
          <a:lstStyle/>
          <a:p>
            <a:pPr indent="0" marL="0">
              <a:buNone/>
            </a:pPr>
            <a:r>
              <a:rPr lang="en-US" sz="2000" i="1" dirty="0">
                <a:solidFill>
                  <a:srgbClr val="1F7A4D"/>
                </a:solidFill>
                <a:latin typeface="Cambria" pitchFamily="34" charset="0"/>
                <a:ea typeface="Cambria" pitchFamily="34" charset="-122"/>
                <a:cs typeface="Cambria" pitchFamily="34" charset="-120"/>
              </a:rPr>
              <a:t>How good are the dots?</a:t>
            </a:r>
            <a:endParaRPr lang="en-US" sz="2000" dirty="0"/>
          </a:p>
        </p:txBody>
      </p:sp>
      <p:sp>
        <p:nvSpPr>
          <p:cNvPr id="9" name="Text 7"/>
          <p:cNvSpPr txBox="1"/>
          <p:nvPr/>
        </p:nvSpPr>
        <p:spPr>
          <a:xfrm>
            <a:off x="868680" y="3611880"/>
            <a:ext cx="2722778" cy="502920"/>
          </a:xfrm>
          <a:prstGeom prst="rect">
            <a:avLst/>
          </a:prstGeom>
          <a:noFill/>
          <a:ln/>
        </p:spPr>
        <p:txBody>
          <a:bodyPr wrap="square" lIns="0" tIns="0" rIns="0" bIns="0" rtlCol="0" anchor="b"/>
          <a:lstStyle/>
          <a:p>
            <a:pPr indent="0" marL="0">
              <a:buNone/>
            </a:pPr>
            <a:r>
              <a:rPr lang="en-US" sz="3000" b="1" dirty="0">
                <a:solidFill>
                  <a:srgbClr val="C8742B"/>
                </a:solidFill>
                <a:latin typeface="Calibri" pitchFamily="34" charset="0"/>
                <a:ea typeface="Calibri" pitchFamily="34" charset="-122"/>
                <a:cs typeface="Calibri" pitchFamily="34" charset="-120"/>
              </a:rPr>
              <a:t>20</a:t>
            </a:r>
            <a:pPr indent="0" marL="0">
              <a:buNone/>
            </a:pPr>
            <a:r>
              <a:rPr lang="en-US" sz="1500" dirty="0">
                <a:solidFill>
                  <a:srgbClr val="7B8781"/>
                </a:solidFill>
                <a:latin typeface="Calibri" pitchFamily="34" charset="0"/>
                <a:ea typeface="Calibri" pitchFamily="34" charset="-122"/>
                <a:cs typeface="Calibri" pitchFamily="34" charset="-120"/>
              </a:rPr>
              <a:t>/100</a:t>
            </a:r>
            <a:endParaRPr lang="en-US" sz="3000" dirty="0"/>
          </a:p>
        </p:txBody>
      </p:sp>
      <p:sp>
        <p:nvSpPr>
          <p:cNvPr id="10" name="Shape 8"/>
          <p:cNvSpPr/>
          <p:nvPr/>
        </p:nvSpPr>
        <p:spPr>
          <a:xfrm>
            <a:off x="868680" y="4224528"/>
            <a:ext cx="182880" cy="182880"/>
          </a:xfrm>
          <a:prstGeom prst="star5">
            <a:avLst/>
          </a:prstGeom>
          <a:solidFill>
            <a:srgbClr val="F2A71B"/>
          </a:solidFill>
          <a:ln w="12700">
            <a:solidFill>
              <a:srgbClr val="F2A71B"/>
            </a:solidFill>
            <a:prstDash val="solid"/>
          </a:ln>
        </p:spPr>
      </p:sp>
      <p:sp>
        <p:nvSpPr>
          <p:cNvPr id="11" name="Shape 9"/>
          <p:cNvSpPr/>
          <p:nvPr/>
        </p:nvSpPr>
        <p:spPr>
          <a:xfrm>
            <a:off x="1097280" y="4224528"/>
            <a:ext cx="182880" cy="182880"/>
          </a:xfrm>
          <a:prstGeom prst="star5">
            <a:avLst/>
          </a:prstGeom>
          <a:solidFill>
            <a:srgbClr val="D3DAD6"/>
          </a:solidFill>
          <a:ln w="12700">
            <a:solidFill>
              <a:srgbClr val="D3DAD6"/>
            </a:solidFill>
            <a:prstDash val="solid"/>
          </a:ln>
        </p:spPr>
      </p:sp>
      <p:sp>
        <p:nvSpPr>
          <p:cNvPr id="12" name="Shape 10"/>
          <p:cNvSpPr/>
          <p:nvPr/>
        </p:nvSpPr>
        <p:spPr>
          <a:xfrm>
            <a:off x="1325880" y="4224528"/>
            <a:ext cx="182880" cy="182880"/>
          </a:xfrm>
          <a:prstGeom prst="star5">
            <a:avLst/>
          </a:prstGeom>
          <a:solidFill>
            <a:srgbClr val="D3DAD6"/>
          </a:solidFill>
          <a:ln w="12700">
            <a:solidFill>
              <a:srgbClr val="D3DAD6"/>
            </a:solidFill>
            <a:prstDash val="solid"/>
          </a:ln>
        </p:spPr>
      </p:sp>
      <p:sp>
        <p:nvSpPr>
          <p:cNvPr id="13" name="Shape 11"/>
          <p:cNvSpPr/>
          <p:nvPr/>
        </p:nvSpPr>
        <p:spPr>
          <a:xfrm>
            <a:off x="1554480" y="4224528"/>
            <a:ext cx="182880" cy="182880"/>
          </a:xfrm>
          <a:prstGeom prst="star5">
            <a:avLst/>
          </a:prstGeom>
          <a:solidFill>
            <a:srgbClr val="D3DAD6"/>
          </a:solidFill>
          <a:ln w="12700">
            <a:solidFill>
              <a:srgbClr val="D3DAD6"/>
            </a:solidFill>
            <a:prstDash val="solid"/>
          </a:ln>
        </p:spPr>
      </p:sp>
      <p:sp>
        <p:nvSpPr>
          <p:cNvPr id="14" name="Shape 12"/>
          <p:cNvSpPr/>
          <p:nvPr/>
        </p:nvSpPr>
        <p:spPr>
          <a:xfrm>
            <a:off x="1783080" y="4224528"/>
            <a:ext cx="182880" cy="182880"/>
          </a:xfrm>
          <a:prstGeom prst="star5">
            <a:avLst/>
          </a:prstGeom>
          <a:solidFill>
            <a:srgbClr val="D3DAD6"/>
          </a:solidFill>
          <a:ln w="12700">
            <a:solidFill>
              <a:srgbClr val="D3DAD6"/>
            </a:solidFill>
            <a:prstDash val="solid"/>
          </a:ln>
        </p:spPr>
      </p:sp>
      <p:sp>
        <p:nvSpPr>
          <p:cNvPr id="15" name="Text 13"/>
          <p:cNvSpPr txBox="1"/>
          <p:nvPr/>
        </p:nvSpPr>
        <p:spPr>
          <a:xfrm>
            <a:off x="2103120" y="4178808"/>
            <a:ext cx="1488338" cy="274320"/>
          </a:xfrm>
          <a:prstGeom prst="rect">
            <a:avLst/>
          </a:prstGeom>
          <a:noFill/>
          <a:ln/>
        </p:spPr>
        <p:txBody>
          <a:bodyPr wrap="square" lIns="0" tIns="0" rIns="0" bIns="0" rtlCol="0" anchor="ctr"/>
          <a:lstStyle/>
          <a:p>
            <a:pPr indent="0" marL="0">
              <a:buNone/>
            </a:pPr>
            <a:r>
              <a:rPr lang="en-US" sz="1100" dirty="0">
                <a:solidFill>
                  <a:srgbClr val="7B8781"/>
                </a:solidFill>
                <a:latin typeface="Calibri" pitchFamily="34" charset="0"/>
                <a:ea typeface="Calibri" pitchFamily="34" charset="-122"/>
                <a:cs typeface="Calibri" pitchFamily="34" charset="-120"/>
              </a:rPr>
              <a:t>size, 3 of 15</a:t>
            </a:r>
            <a:endParaRPr lang="en-US" sz="1100" dirty="0"/>
          </a:p>
        </p:txBody>
      </p:sp>
      <p:sp>
        <p:nvSpPr>
          <p:cNvPr id="16" name="Text 14"/>
          <p:cNvSpPr txBox="1"/>
          <p:nvPr/>
        </p:nvSpPr>
        <p:spPr>
          <a:xfrm>
            <a:off x="868680" y="4572000"/>
            <a:ext cx="2722778" cy="777240"/>
          </a:xfrm>
          <a:prstGeom prst="rect">
            <a:avLst/>
          </a:prstGeom>
          <a:noFill/>
          <a:ln/>
        </p:spPr>
        <p:txBody>
          <a:bodyPr wrap="square" lIns="0" tIns="0" rIns="0" bIns="0" rtlCol="0" anchor="t"/>
          <a:lstStyle/>
          <a:p>
            <a:pPr indent="0" marL="0">
              <a:buNone/>
            </a:pPr>
            <a:r>
              <a:rPr lang="en-US" sz="1300" b="1" dirty="0">
                <a:solidFill>
                  <a:srgbClr val="14201B"/>
                </a:solidFill>
                <a:latin typeface="Calibri" pitchFamily="34" charset="0"/>
                <a:ea typeface="Calibri" pitchFamily="34" charset="-122"/>
                <a:cs typeface="Calibri" pitchFamily="34" charset="-120"/>
              </a:rPr>
              <a:t>Decided by: </a:t>
            </a:r>
            <a:pPr indent="0" marL="0">
              <a:buNone/>
            </a:pPr>
            <a:r>
              <a:rPr lang="en-US" sz="1300" dirty="0">
                <a:solidFill>
                  <a:srgbClr val="4A5751"/>
                </a:solidFill>
                <a:latin typeface="Calibri" pitchFamily="34" charset="0"/>
                <a:ea typeface="Calibri" pitchFamily="34" charset="-122"/>
                <a:cs typeface="Calibri" pitchFamily="34" charset="-120"/>
              </a:rPr>
              <a:t>Counts of dots that pass four checks: present, size, shape, position</a:t>
            </a:r>
            <a:endParaRPr lang="en-US" sz="1300" dirty="0"/>
          </a:p>
        </p:txBody>
      </p:sp>
      <p:sp>
        <p:nvSpPr>
          <p:cNvPr id="17" name="Text 15"/>
          <p:cNvSpPr txBox="1"/>
          <p:nvPr/>
        </p:nvSpPr>
        <p:spPr>
          <a:xfrm>
            <a:off x="868680" y="5394960"/>
            <a:ext cx="2722778" cy="256032"/>
          </a:xfrm>
          <a:prstGeom prst="rect">
            <a:avLst/>
          </a:prstGeom>
          <a:noFill/>
          <a:ln/>
        </p:spPr>
        <p:txBody>
          <a:bodyPr wrap="square" lIns="0" tIns="0" rIns="0" bIns="0" rtlCol="0" anchor="ctr"/>
          <a:lstStyle/>
          <a:p>
            <a:pPr indent="0" marL="0">
              <a:buNone/>
            </a:pPr>
            <a:r>
              <a:rPr lang="en-US" sz="1100" dirty="0">
                <a:solidFill>
                  <a:srgbClr val="7B8781"/>
                </a:solidFill>
                <a:latin typeface="Calibri" pitchFamily="34" charset="0"/>
                <a:ea typeface="Calibri" pitchFamily="34" charset="-122"/>
                <a:cs typeface="Calibri" pitchFamily="34" charset="-120"/>
              </a:rPr>
              <a:t>Detail: B9</a:t>
            </a:r>
            <a:endParaRPr lang="en-US" sz="1100" dirty="0"/>
          </a:p>
        </p:txBody>
      </p:sp>
      <p:sp>
        <p:nvSpPr>
          <p:cNvPr id="18" name="Shape 16"/>
          <p:cNvSpPr/>
          <p:nvPr/>
        </p:nvSpPr>
        <p:spPr>
          <a:xfrm>
            <a:off x="4414418" y="1783080"/>
            <a:ext cx="3362858" cy="4023360"/>
          </a:xfrm>
          <a:prstGeom prst="roundRect">
            <a:avLst>
              <a:gd name="adj" fmla="val 3263"/>
            </a:avLst>
          </a:prstGeom>
          <a:solidFill>
            <a:srgbClr val="EEF5F1"/>
          </a:solidFill>
          <a:ln w="12700">
            <a:solidFill>
              <a:srgbClr val="EEF5F1"/>
            </a:solidFill>
            <a:prstDash val="solid"/>
          </a:ln>
        </p:spPr>
      </p:sp>
      <p:sp>
        <p:nvSpPr>
          <p:cNvPr id="19" name="Shape 17"/>
          <p:cNvSpPr/>
          <p:nvPr/>
        </p:nvSpPr>
        <p:spPr>
          <a:xfrm>
            <a:off x="7868717" y="3611880"/>
            <a:ext cx="320040" cy="365760"/>
          </a:xfrm>
          <a:prstGeom prst="rightArrow">
            <a:avLst/>
          </a:prstGeom>
          <a:solidFill>
            <a:srgbClr val="6FB08C"/>
          </a:solidFill>
          <a:ln w="12700">
            <a:solidFill>
              <a:srgbClr val="6FB08C"/>
            </a:solidFill>
            <a:prstDash val="solid"/>
          </a:ln>
        </p:spPr>
      </p:sp>
      <p:sp>
        <p:nvSpPr>
          <p:cNvPr id="20" name="Text 18"/>
          <p:cNvSpPr txBox="1"/>
          <p:nvPr/>
        </p:nvSpPr>
        <p:spPr>
          <a:xfrm>
            <a:off x="4734458" y="2057400"/>
            <a:ext cx="2722778" cy="274320"/>
          </a:xfrm>
          <a:prstGeom prst="rect">
            <a:avLst/>
          </a:prstGeom>
          <a:noFill/>
          <a:ln/>
        </p:spPr>
        <p:txBody>
          <a:bodyPr wrap="square" lIns="0" tIns="0" rIns="0" bIns="0" rtlCol="0" anchor="ctr"/>
          <a:lstStyle/>
          <a:p>
            <a:pPr indent="0" marL="0">
              <a:buNone/>
            </a:pPr>
            <a:r>
              <a:rPr lang="en-US" sz="1100" b="1" spc="200" kern="0" dirty="0">
                <a:solidFill>
                  <a:srgbClr val="C8742B"/>
                </a:solidFill>
                <a:latin typeface="Calibri" pitchFamily="34" charset="0"/>
                <a:ea typeface="Calibri" pitchFamily="34" charset="-122"/>
                <a:cs typeface="Calibri" pitchFamily="34" charset="-120"/>
              </a:rPr>
              <a:t>AFTER EVERY RANKING</a:t>
            </a:r>
            <a:endParaRPr lang="en-US" sz="1100" dirty="0"/>
          </a:p>
        </p:txBody>
      </p:sp>
      <p:sp>
        <p:nvSpPr>
          <p:cNvPr id="21" name="Text 19"/>
          <p:cNvSpPr txBox="1"/>
          <p:nvPr/>
        </p:nvSpPr>
        <p:spPr>
          <a:xfrm>
            <a:off x="4734458" y="2350008"/>
            <a:ext cx="2722778" cy="384048"/>
          </a:xfrm>
          <a:prstGeom prst="rect">
            <a:avLst/>
          </a:prstGeom>
          <a:noFill/>
          <a:ln/>
        </p:spPr>
        <p:txBody>
          <a:bodyPr wrap="square" lIns="0" tIns="0" rIns="0" bIns="0" rtlCol="0" anchor="ctr"/>
          <a:lstStyle/>
          <a:p>
            <a:pPr indent="0" marL="0">
              <a:buNone/>
            </a:pPr>
            <a:r>
              <a:rPr lang="en-US" sz="1900" b="1" dirty="0">
                <a:solidFill>
                  <a:srgbClr val="14201B"/>
                </a:solidFill>
                <a:latin typeface="Calibri" pitchFamily="34" charset="0"/>
                <a:ea typeface="Calibri" pitchFamily="34" charset="-122"/>
                <a:cs typeface="Calibri" pitchFamily="34" charset="-120"/>
              </a:rPr>
              <a:t>Confidence tier</a:t>
            </a:r>
            <a:endParaRPr lang="en-US" sz="1900" dirty="0"/>
          </a:p>
        </p:txBody>
      </p:sp>
      <p:sp>
        <p:nvSpPr>
          <p:cNvPr id="22" name="Text 20"/>
          <p:cNvSpPr txBox="1"/>
          <p:nvPr/>
        </p:nvSpPr>
        <p:spPr>
          <a:xfrm>
            <a:off x="4734458" y="2788920"/>
            <a:ext cx="2722778" cy="731520"/>
          </a:xfrm>
          <a:prstGeom prst="rect">
            <a:avLst/>
          </a:prstGeom>
          <a:noFill/>
          <a:ln/>
        </p:spPr>
        <p:txBody>
          <a:bodyPr wrap="square" lIns="0" tIns="0" rIns="0" bIns="0" rtlCol="0" anchor="t"/>
          <a:lstStyle/>
          <a:p>
            <a:pPr indent="0" marL="0">
              <a:buNone/>
            </a:pPr>
            <a:r>
              <a:rPr lang="en-US" sz="2000" i="1" dirty="0">
                <a:solidFill>
                  <a:srgbClr val="1F7A4D"/>
                </a:solidFill>
                <a:latin typeface="Cambria" pitchFamily="34" charset="0"/>
                <a:ea typeface="Cambria" pitchFamily="34" charset="-122"/>
                <a:cs typeface="Cambria" pitchFamily="34" charset="-120"/>
              </a:rPr>
              <a:t>How far can I trust the ranking?</a:t>
            </a:r>
            <a:endParaRPr lang="en-US" sz="2000" dirty="0"/>
          </a:p>
        </p:txBody>
      </p:sp>
      <p:sp>
        <p:nvSpPr>
          <p:cNvPr id="23" name="Shape 21"/>
          <p:cNvSpPr/>
          <p:nvPr/>
        </p:nvSpPr>
        <p:spPr>
          <a:xfrm>
            <a:off x="4734458" y="3794760"/>
            <a:ext cx="566928" cy="384048"/>
          </a:xfrm>
          <a:prstGeom prst="roundRect">
            <a:avLst>
              <a:gd name="adj" fmla="val 50000"/>
            </a:avLst>
          </a:prstGeom>
          <a:solidFill>
            <a:srgbClr val="1F7A4D"/>
          </a:solidFill>
          <a:ln w="12700">
            <a:solidFill>
              <a:srgbClr val="1F7A4D"/>
            </a:solidFill>
            <a:prstDash val="solid"/>
          </a:ln>
        </p:spPr>
      </p:sp>
      <p:sp>
        <p:nvSpPr>
          <p:cNvPr id="24" name="Text 22"/>
          <p:cNvSpPr txBox="1"/>
          <p:nvPr/>
        </p:nvSpPr>
        <p:spPr>
          <a:xfrm>
            <a:off x="4734458" y="3794760"/>
            <a:ext cx="56692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T1</a:t>
            </a:r>
            <a:endParaRPr lang="en-US" sz="1400" dirty="0"/>
          </a:p>
        </p:txBody>
      </p:sp>
      <p:sp>
        <p:nvSpPr>
          <p:cNvPr id="25" name="Shape 23"/>
          <p:cNvSpPr/>
          <p:nvPr/>
        </p:nvSpPr>
        <p:spPr>
          <a:xfrm>
            <a:off x="5411114" y="3794760"/>
            <a:ext cx="566928" cy="384048"/>
          </a:xfrm>
          <a:prstGeom prst="roundRect">
            <a:avLst>
              <a:gd name="adj" fmla="val 50000"/>
            </a:avLst>
          </a:prstGeom>
          <a:solidFill>
            <a:srgbClr val="D08A00"/>
          </a:solidFill>
          <a:ln w="12700">
            <a:solidFill>
              <a:srgbClr val="D08A00"/>
            </a:solidFill>
            <a:prstDash val="solid"/>
          </a:ln>
        </p:spPr>
      </p:sp>
      <p:sp>
        <p:nvSpPr>
          <p:cNvPr id="26" name="Text 24"/>
          <p:cNvSpPr txBox="1"/>
          <p:nvPr/>
        </p:nvSpPr>
        <p:spPr>
          <a:xfrm>
            <a:off x="5411114" y="3794760"/>
            <a:ext cx="56692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T2</a:t>
            </a:r>
            <a:endParaRPr lang="en-US" sz="1400" dirty="0"/>
          </a:p>
        </p:txBody>
      </p:sp>
      <p:sp>
        <p:nvSpPr>
          <p:cNvPr id="27" name="Shape 25"/>
          <p:cNvSpPr/>
          <p:nvPr/>
        </p:nvSpPr>
        <p:spPr>
          <a:xfrm>
            <a:off x="6087770" y="3794760"/>
            <a:ext cx="566928" cy="384048"/>
          </a:xfrm>
          <a:prstGeom prst="roundRect">
            <a:avLst>
              <a:gd name="adj" fmla="val 50000"/>
            </a:avLst>
          </a:prstGeom>
          <a:solidFill>
            <a:srgbClr val="E0662B"/>
          </a:solidFill>
          <a:ln w="12700">
            <a:solidFill>
              <a:srgbClr val="E0662B"/>
            </a:solidFill>
            <a:prstDash val="solid"/>
          </a:ln>
        </p:spPr>
      </p:sp>
      <p:sp>
        <p:nvSpPr>
          <p:cNvPr id="28" name="Text 26"/>
          <p:cNvSpPr txBox="1"/>
          <p:nvPr/>
        </p:nvSpPr>
        <p:spPr>
          <a:xfrm>
            <a:off x="6087770" y="3794760"/>
            <a:ext cx="56692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T3</a:t>
            </a:r>
            <a:endParaRPr lang="en-US" sz="1400" dirty="0"/>
          </a:p>
        </p:txBody>
      </p:sp>
      <p:sp>
        <p:nvSpPr>
          <p:cNvPr id="29" name="Shape 27"/>
          <p:cNvSpPr/>
          <p:nvPr/>
        </p:nvSpPr>
        <p:spPr>
          <a:xfrm>
            <a:off x="6764426" y="3794760"/>
            <a:ext cx="566928" cy="384048"/>
          </a:xfrm>
          <a:prstGeom prst="roundRect">
            <a:avLst>
              <a:gd name="adj" fmla="val 50000"/>
            </a:avLst>
          </a:prstGeom>
          <a:solidFill>
            <a:srgbClr val="D03B3B"/>
          </a:solidFill>
          <a:ln w="12700">
            <a:solidFill>
              <a:srgbClr val="D03B3B"/>
            </a:solidFill>
            <a:prstDash val="solid"/>
          </a:ln>
        </p:spPr>
      </p:sp>
      <p:sp>
        <p:nvSpPr>
          <p:cNvPr id="30" name="Text 28"/>
          <p:cNvSpPr txBox="1"/>
          <p:nvPr/>
        </p:nvSpPr>
        <p:spPr>
          <a:xfrm>
            <a:off x="6764426" y="3794760"/>
            <a:ext cx="56692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T4</a:t>
            </a:r>
            <a:endParaRPr lang="en-US" sz="1400" dirty="0"/>
          </a:p>
        </p:txBody>
      </p:sp>
      <p:sp>
        <p:nvSpPr>
          <p:cNvPr id="31" name="Text 29"/>
          <p:cNvSpPr txBox="1"/>
          <p:nvPr/>
        </p:nvSpPr>
        <p:spPr>
          <a:xfrm>
            <a:off x="4734458" y="4572000"/>
            <a:ext cx="2722778" cy="777240"/>
          </a:xfrm>
          <a:prstGeom prst="rect">
            <a:avLst/>
          </a:prstGeom>
          <a:noFill/>
          <a:ln/>
        </p:spPr>
        <p:txBody>
          <a:bodyPr wrap="square" lIns="0" tIns="0" rIns="0" bIns="0" rtlCol="0" anchor="t"/>
          <a:lstStyle/>
          <a:p>
            <a:pPr indent="0" marL="0">
              <a:buNone/>
            </a:pPr>
            <a:r>
              <a:rPr lang="en-US" sz="1300" b="1" dirty="0">
                <a:solidFill>
                  <a:srgbClr val="14201B"/>
                </a:solidFill>
                <a:latin typeface="Calibri" pitchFamily="34" charset="0"/>
                <a:ea typeface="Calibri" pitchFamily="34" charset="-122"/>
                <a:cs typeface="Calibri" pitchFamily="34" charset="-120"/>
              </a:rPr>
              <a:t>Decided by: </a:t>
            </a:r>
            <a:pPr indent="0" marL="0">
              <a:buNone/>
            </a:pPr>
            <a:r>
              <a:rPr lang="en-US" sz="1300" dirty="0">
                <a:solidFill>
                  <a:srgbClr val="4A5751"/>
                </a:solidFill>
                <a:latin typeface="Calibri" pitchFamily="34" charset="0"/>
                <a:ea typeface="Calibri" pitchFamily="34" charset="-122"/>
                <a:cs typeface="Calibri" pitchFamily="34" charset="-120"/>
              </a:rPr>
              <a:t>The two brains and two gates, or a check that confirmed the cause</a:t>
            </a:r>
            <a:endParaRPr lang="en-US" sz="1300" dirty="0"/>
          </a:p>
        </p:txBody>
      </p:sp>
      <p:sp>
        <p:nvSpPr>
          <p:cNvPr id="32" name="Text 30"/>
          <p:cNvSpPr txBox="1"/>
          <p:nvPr/>
        </p:nvSpPr>
        <p:spPr>
          <a:xfrm>
            <a:off x="4734458" y="5394960"/>
            <a:ext cx="2722778" cy="256032"/>
          </a:xfrm>
          <a:prstGeom prst="rect">
            <a:avLst/>
          </a:prstGeom>
          <a:noFill/>
          <a:ln/>
        </p:spPr>
        <p:txBody>
          <a:bodyPr wrap="square" lIns="0" tIns="0" rIns="0" bIns="0" rtlCol="0" anchor="ctr"/>
          <a:lstStyle/>
          <a:p>
            <a:pPr indent="0" marL="0">
              <a:buNone/>
            </a:pPr>
            <a:r>
              <a:rPr lang="en-US" sz="1100" dirty="0">
                <a:solidFill>
                  <a:srgbClr val="7B8781"/>
                </a:solidFill>
                <a:latin typeface="Calibri" pitchFamily="34" charset="0"/>
                <a:ea typeface="Calibri" pitchFamily="34" charset="-122"/>
                <a:cs typeface="Calibri" pitchFamily="34" charset="-120"/>
              </a:rPr>
              <a:t>Detail: B4</a:t>
            </a:r>
            <a:endParaRPr lang="en-US" sz="1100" dirty="0"/>
          </a:p>
        </p:txBody>
      </p:sp>
      <p:sp>
        <p:nvSpPr>
          <p:cNvPr id="33" name="Shape 31"/>
          <p:cNvSpPr/>
          <p:nvPr/>
        </p:nvSpPr>
        <p:spPr>
          <a:xfrm>
            <a:off x="8280197" y="1783080"/>
            <a:ext cx="3362858" cy="4023360"/>
          </a:xfrm>
          <a:prstGeom prst="roundRect">
            <a:avLst>
              <a:gd name="adj" fmla="val 3263"/>
            </a:avLst>
          </a:prstGeom>
          <a:solidFill>
            <a:srgbClr val="EEF5F1"/>
          </a:solidFill>
          <a:ln w="12700">
            <a:solidFill>
              <a:srgbClr val="EEF5F1"/>
            </a:solidFill>
            <a:prstDash val="solid"/>
          </a:ln>
        </p:spPr>
      </p:sp>
      <p:sp>
        <p:nvSpPr>
          <p:cNvPr id="34" name="Text 32"/>
          <p:cNvSpPr txBox="1"/>
          <p:nvPr/>
        </p:nvSpPr>
        <p:spPr>
          <a:xfrm>
            <a:off x="8600237" y="2057400"/>
            <a:ext cx="2722778" cy="274320"/>
          </a:xfrm>
          <a:prstGeom prst="rect">
            <a:avLst/>
          </a:prstGeom>
          <a:noFill/>
          <a:ln/>
        </p:spPr>
        <p:txBody>
          <a:bodyPr wrap="square" lIns="0" tIns="0" rIns="0" bIns="0" rtlCol="0" anchor="ctr"/>
          <a:lstStyle/>
          <a:p>
            <a:pPr indent="0" marL="0">
              <a:buNone/>
            </a:pPr>
            <a:r>
              <a:rPr lang="en-US" sz="1100" b="1" spc="200" kern="0" dirty="0">
                <a:solidFill>
                  <a:srgbClr val="C8742B"/>
                </a:solidFill>
                <a:latin typeface="Calibri" pitchFamily="34" charset="0"/>
                <a:ea typeface="Calibri" pitchFamily="34" charset="-122"/>
                <a:cs typeface="Calibri" pitchFamily="34" charset="-120"/>
              </a:rPr>
              <a:t>WHEN THE CASE CLOSES</a:t>
            </a:r>
            <a:endParaRPr lang="en-US" sz="1100" dirty="0"/>
          </a:p>
        </p:txBody>
      </p:sp>
      <p:sp>
        <p:nvSpPr>
          <p:cNvPr id="35" name="Text 33"/>
          <p:cNvSpPr txBox="1"/>
          <p:nvPr/>
        </p:nvSpPr>
        <p:spPr>
          <a:xfrm>
            <a:off x="8600237" y="2350008"/>
            <a:ext cx="2722778" cy="384048"/>
          </a:xfrm>
          <a:prstGeom prst="rect">
            <a:avLst/>
          </a:prstGeom>
          <a:noFill/>
          <a:ln/>
        </p:spPr>
        <p:txBody>
          <a:bodyPr wrap="square" lIns="0" tIns="0" rIns="0" bIns="0" rtlCol="0" anchor="ctr"/>
          <a:lstStyle/>
          <a:p>
            <a:pPr indent="0" marL="0">
              <a:buNone/>
            </a:pPr>
            <a:r>
              <a:rPr lang="en-US" sz="1900" b="1" dirty="0">
                <a:solidFill>
                  <a:srgbClr val="14201B"/>
                </a:solidFill>
                <a:latin typeface="Calibri" pitchFamily="34" charset="0"/>
                <a:ea typeface="Calibri" pitchFamily="34" charset="-122"/>
                <a:cs typeface="Calibri" pitchFamily="34" charset="-120"/>
              </a:rPr>
              <a:t>Verdict</a:t>
            </a:r>
            <a:endParaRPr lang="en-US" sz="1900" dirty="0"/>
          </a:p>
        </p:txBody>
      </p:sp>
      <p:sp>
        <p:nvSpPr>
          <p:cNvPr id="36" name="Text 34"/>
          <p:cNvSpPr txBox="1"/>
          <p:nvPr/>
        </p:nvSpPr>
        <p:spPr>
          <a:xfrm>
            <a:off x="8600237" y="2788920"/>
            <a:ext cx="2722778" cy="731520"/>
          </a:xfrm>
          <a:prstGeom prst="rect">
            <a:avLst/>
          </a:prstGeom>
          <a:noFill/>
          <a:ln/>
        </p:spPr>
        <p:txBody>
          <a:bodyPr wrap="square" lIns="0" tIns="0" rIns="0" bIns="0" rtlCol="0" anchor="t"/>
          <a:lstStyle/>
          <a:p>
            <a:pPr indent="0" marL="0">
              <a:buNone/>
            </a:pPr>
            <a:r>
              <a:rPr lang="en-US" sz="2000" i="1" dirty="0">
                <a:solidFill>
                  <a:srgbClr val="1F7A4D"/>
                </a:solidFill>
                <a:latin typeface="Cambria" pitchFamily="34" charset="0"/>
                <a:ea typeface="Cambria" pitchFamily="34" charset="-122"/>
                <a:cs typeface="Cambria" pitchFamily="34" charset="-120"/>
              </a:rPr>
              <a:t>Was the fix proved?</a:t>
            </a:r>
            <a:endParaRPr lang="en-US" sz="2000" dirty="0"/>
          </a:p>
        </p:txBody>
      </p:sp>
      <p:sp>
        <p:nvSpPr>
          <p:cNvPr id="37" name="Shape 35"/>
          <p:cNvSpPr/>
          <p:nvPr/>
        </p:nvSpPr>
        <p:spPr>
          <a:xfrm>
            <a:off x="8600237" y="3794760"/>
            <a:ext cx="858825" cy="384048"/>
          </a:xfrm>
          <a:prstGeom prst="roundRect">
            <a:avLst>
              <a:gd name="adj" fmla="val 50000"/>
            </a:avLst>
          </a:prstGeom>
          <a:solidFill>
            <a:srgbClr val="0CA30C"/>
          </a:solidFill>
          <a:ln w="12700">
            <a:solidFill>
              <a:srgbClr val="0CA30C"/>
            </a:solidFill>
            <a:prstDash val="solid"/>
          </a:ln>
        </p:spPr>
      </p:sp>
      <p:sp>
        <p:nvSpPr>
          <p:cNvPr id="38" name="Text 36"/>
          <p:cNvSpPr txBox="1"/>
          <p:nvPr/>
        </p:nvSpPr>
        <p:spPr>
          <a:xfrm>
            <a:off x="8600237" y="3794760"/>
            <a:ext cx="858825"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CONFIRMED</a:t>
            </a:r>
            <a:endParaRPr lang="en-US" sz="950" dirty="0"/>
          </a:p>
        </p:txBody>
      </p:sp>
      <p:sp>
        <p:nvSpPr>
          <p:cNvPr id="39" name="Shape 37"/>
          <p:cNvSpPr/>
          <p:nvPr/>
        </p:nvSpPr>
        <p:spPr>
          <a:xfrm>
            <a:off x="9532214" y="3794760"/>
            <a:ext cx="858825" cy="384048"/>
          </a:xfrm>
          <a:prstGeom prst="roundRect">
            <a:avLst>
              <a:gd name="adj" fmla="val 50000"/>
            </a:avLst>
          </a:prstGeom>
          <a:solidFill>
            <a:srgbClr val="D08A00"/>
          </a:solidFill>
          <a:ln w="12700">
            <a:solidFill>
              <a:srgbClr val="D08A00"/>
            </a:solidFill>
            <a:prstDash val="solid"/>
          </a:ln>
        </p:spPr>
      </p:sp>
      <p:sp>
        <p:nvSpPr>
          <p:cNvPr id="40" name="Text 38"/>
          <p:cNvSpPr txBox="1"/>
          <p:nvPr/>
        </p:nvSpPr>
        <p:spPr>
          <a:xfrm>
            <a:off x="9532214" y="3794760"/>
            <a:ext cx="858825"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PLAUSIBLE</a:t>
            </a:r>
            <a:endParaRPr lang="en-US" sz="950" dirty="0"/>
          </a:p>
        </p:txBody>
      </p:sp>
      <p:sp>
        <p:nvSpPr>
          <p:cNvPr id="41" name="Shape 39"/>
          <p:cNvSpPr/>
          <p:nvPr/>
        </p:nvSpPr>
        <p:spPr>
          <a:xfrm>
            <a:off x="10464190" y="3794760"/>
            <a:ext cx="858825" cy="384048"/>
          </a:xfrm>
          <a:prstGeom prst="roundRect">
            <a:avLst>
              <a:gd name="adj" fmla="val 50000"/>
            </a:avLst>
          </a:prstGeom>
          <a:solidFill>
            <a:srgbClr val="8A8984"/>
          </a:solidFill>
          <a:ln w="12700">
            <a:solidFill>
              <a:srgbClr val="8A8984"/>
            </a:solidFill>
            <a:prstDash val="solid"/>
          </a:ln>
        </p:spPr>
      </p:sp>
      <p:sp>
        <p:nvSpPr>
          <p:cNvPr id="42" name="Text 40"/>
          <p:cNvSpPr txBox="1"/>
          <p:nvPr/>
        </p:nvSpPr>
        <p:spPr>
          <a:xfrm>
            <a:off x="10464190" y="3794760"/>
            <a:ext cx="858825"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UNVERIFIED</a:t>
            </a:r>
            <a:endParaRPr lang="en-US" sz="950" dirty="0"/>
          </a:p>
        </p:txBody>
      </p:sp>
      <p:sp>
        <p:nvSpPr>
          <p:cNvPr id="43" name="Text 41"/>
          <p:cNvSpPr txBox="1"/>
          <p:nvPr/>
        </p:nvSpPr>
        <p:spPr>
          <a:xfrm>
            <a:off x="8600237" y="4572000"/>
            <a:ext cx="2722778" cy="777240"/>
          </a:xfrm>
          <a:prstGeom prst="rect">
            <a:avLst/>
          </a:prstGeom>
          <a:noFill/>
          <a:ln/>
        </p:spPr>
        <p:txBody>
          <a:bodyPr wrap="square" lIns="0" tIns="0" rIns="0" bIns="0" rtlCol="0" anchor="t"/>
          <a:lstStyle/>
          <a:p>
            <a:pPr indent="0" marL="0">
              <a:buNone/>
            </a:pPr>
            <a:r>
              <a:rPr lang="en-US" sz="1300" b="1" dirty="0">
                <a:solidFill>
                  <a:srgbClr val="14201B"/>
                </a:solidFill>
                <a:latin typeface="Calibri" pitchFamily="34" charset="0"/>
                <a:ea typeface="Calibri" pitchFamily="34" charset="-122"/>
                <a:cs typeface="Calibri" pitchFamily="34" charset="-120"/>
              </a:rPr>
              <a:t>Decided by: </a:t>
            </a:r>
            <a:pPr indent="0" marL="0">
              <a:buNone/>
            </a:pPr>
            <a:r>
              <a:rPr lang="en-US" sz="1300" dirty="0">
                <a:solidFill>
                  <a:srgbClr val="4A5751"/>
                </a:solidFill>
                <a:latin typeface="Calibri" pitchFamily="34" charset="0"/>
                <a:ea typeface="Calibri" pitchFamily="34" charset="-122"/>
                <a:cs typeface="Calibri" pitchFamily="34" charset="-120"/>
              </a:rPr>
              <a:t>Five conditions, read from the check log and a re-measured photo</a:t>
            </a:r>
            <a:endParaRPr lang="en-US" sz="1300" dirty="0"/>
          </a:p>
        </p:txBody>
      </p:sp>
      <p:sp>
        <p:nvSpPr>
          <p:cNvPr id="44" name="Text 42"/>
          <p:cNvSpPr txBox="1"/>
          <p:nvPr/>
        </p:nvSpPr>
        <p:spPr>
          <a:xfrm>
            <a:off x="8600237" y="5394960"/>
            <a:ext cx="2722778" cy="256032"/>
          </a:xfrm>
          <a:prstGeom prst="rect">
            <a:avLst/>
          </a:prstGeom>
          <a:noFill/>
          <a:ln/>
        </p:spPr>
        <p:txBody>
          <a:bodyPr wrap="square" lIns="0" tIns="0" rIns="0" bIns="0" rtlCol="0" anchor="ctr"/>
          <a:lstStyle/>
          <a:p>
            <a:pPr indent="0" marL="0">
              <a:buNone/>
            </a:pPr>
            <a:r>
              <a:rPr lang="en-US" sz="1100" dirty="0">
                <a:solidFill>
                  <a:srgbClr val="7B8781"/>
                </a:solidFill>
                <a:latin typeface="Calibri" pitchFamily="34" charset="0"/>
                <a:ea typeface="Calibri" pitchFamily="34" charset="-122"/>
                <a:cs typeface="Calibri" pitchFamily="34" charset="-120"/>
              </a:rPr>
              <a:t>Detail: B3</a:t>
            </a:r>
            <a:endParaRPr lang="en-US" sz="1100" dirty="0"/>
          </a:p>
        </p:txBody>
      </p:sp>
      <p:sp>
        <p:nvSpPr>
          <p:cNvPr id="45" name="Text 43"/>
          <p:cNvSpPr txBox="1"/>
          <p:nvPr/>
        </p:nvSpPr>
        <p:spPr>
          <a:xfrm>
            <a:off x="548640" y="5989320"/>
            <a:ext cx="11094415" cy="411480"/>
          </a:xfrm>
          <a:prstGeom prst="rect">
            <a:avLst/>
          </a:prstGeom>
          <a:noFill/>
          <a:ln/>
        </p:spPr>
        <p:txBody>
          <a:bodyPr wrap="square" lIns="0" tIns="0" rIns="0" bIns="0" rtlCol="0" anchor="ctr"/>
          <a:lstStyle/>
          <a:p>
            <a:pPr indent="0" marL="0">
              <a:buNone/>
            </a:pPr>
            <a:r>
              <a:rPr lang="en-US" sz="1800" i="1" dirty="0">
                <a:solidFill>
                  <a:srgbClr val="1F7A4D"/>
                </a:solidFill>
                <a:latin typeface="Cambria" pitchFamily="34" charset="0"/>
                <a:ea typeface="Cambria" pitchFamily="34" charset="-122"/>
                <a:cs typeface="Cambria" pitchFamily="34" charset="-120"/>
              </a:rPr>
              <a:t>Separate answers: the quality score never sets the tier, and T1 is not CONFIRMED.</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7B8781"/>
                </a:solidFill>
                <a:latin typeface="Calibri" pitchFamily="34" charset="0"/>
                <a:ea typeface="Calibri" pitchFamily="34" charset="-122"/>
                <a:cs typeface="Calibri" pitchFamily="34" charset="-120"/>
              </a:rPr>
              <a:t>BACKUP · BONUS 2 · DISPENSING QUALITY</a:t>
            </a:r>
            <a:endParaRPr lang="en-US" sz="1200" dirty="0"/>
          </a:p>
        </p:txBody>
      </p:sp>
      <p:sp>
        <p:nvSpPr>
          <p:cNvPr id="3" name="Text 1"/>
          <p:cNvSpPr txBox="1"/>
          <p:nvPr/>
        </p:nvSpPr>
        <p:spPr>
          <a:xfrm>
            <a:off x="548640" y="658368"/>
            <a:ext cx="11094415" cy="1005840"/>
          </a:xfrm>
          <a:prstGeom prst="rect">
            <a:avLst/>
          </a:prstGeom>
          <a:noFill/>
          <a:ln/>
        </p:spPr>
        <p:txBody>
          <a:bodyPr wrap="square" lIns="0" tIns="0" rIns="0" bIns="0" rtlCol="0" anchor="t">
            <a:normAutofit/>
          </a:bodyPr>
          <a:lstStyle/>
          <a:p>
            <a:pPr indent="0" marL="0">
              <a:buNone/>
            </a:pPr>
            <a:r>
              <a:rPr lang="en-US" sz="3000" b="1" dirty="0">
                <a:solidFill>
                  <a:srgbClr val="14201B"/>
                </a:solidFill>
                <a:latin typeface="Cambria" pitchFamily="34" charset="0"/>
                <a:ea typeface="Cambria" pitchFamily="34" charset="-122"/>
                <a:cs typeface="Cambria" pitchFamily="34" charset="-120"/>
              </a:rPr>
              <a:t>A quality score you can check by counting the dots</a:t>
            </a:r>
            <a:endParaRPr lang="en-US" sz="3000" dirty="0"/>
          </a:p>
        </p:txBody>
      </p:sp>
      <p:pic>
        <p:nvPicPr>
          <p:cNvPr id="4" name="Image 0" descr="Annotated test photo: 15 dots, 3 ringed green as within size spec, 12 ringed red as under, over or inconsistent">    </p:cNvPr>
          <p:cNvPicPr>
            <a:picLocks noChangeAspect="1"/>
          </p:cNvPicPr>
          <p:nvPr/>
        </p:nvPicPr>
        <p:blipFill>
          <a:blip r:embed="rId1"/>
          <a:stretch>
            <a:fillRect/>
          </a:stretch>
        </p:blipFill>
        <p:spPr>
          <a:xfrm>
            <a:off x="548640" y="1783080"/>
            <a:ext cx="4937760" cy="3202871"/>
          </a:xfrm>
          <a:prstGeom prst="rect">
            <a:avLst/>
          </a:prstGeom>
          <a:effectLst>
            <a:outerShdw sx="100000" sy="100000" kx="0" ky="0" algn="bl" rotWithShape="0" blurRad="127000" dist="25400" dir="5400000">
              <a:srgbClr val="000000">
                <a:alpha val="16000"/>
              </a:srgbClr>
            </a:outerShdw>
          </a:effectLst>
        </p:spPr>
      </p:pic>
      <p:sp>
        <p:nvSpPr>
          <p:cNvPr id="5" name="Text 2"/>
          <p:cNvSpPr txBox="1"/>
          <p:nvPr/>
        </p:nvSpPr>
        <p:spPr>
          <a:xfrm>
            <a:off x="548640" y="5095679"/>
            <a:ext cx="4937760" cy="411480"/>
          </a:xfrm>
          <a:prstGeom prst="rect">
            <a:avLst/>
          </a:prstGeom>
          <a:noFill/>
          <a:ln/>
        </p:spPr>
        <p:txBody>
          <a:bodyPr wrap="square" lIns="0" tIns="0" rIns="0" bIns="0" rtlCol="0" anchor="t"/>
          <a:lstStyle/>
          <a:p>
            <a:pPr indent="0" marL="0">
              <a:buNone/>
            </a:pPr>
            <a:r>
              <a:rPr lang="en-US" sz="1200" dirty="0">
                <a:solidFill>
                  <a:srgbClr val="4A5751"/>
                </a:solidFill>
                <a:latin typeface="Calibri" pitchFamily="34" charset="0"/>
                <a:ea typeface="Calibri" pitchFamily="34" charset="-122"/>
                <a:cs typeface="Calibri" pitchFamily="34" charset="-120"/>
              </a:rPr>
              <a:t>Real output on a test photo with scattered sizes: the 3 green rings are the only dots within 15% of the nominal size.</a:t>
            </a:r>
            <a:endParaRPr lang="en-US" sz="1200" dirty="0"/>
          </a:p>
        </p:txBody>
      </p:sp>
      <p:sp>
        <p:nvSpPr>
          <p:cNvPr id="6" name="Shape 3"/>
          <p:cNvSpPr/>
          <p:nvPr/>
        </p:nvSpPr>
        <p:spPr>
          <a:xfrm>
            <a:off x="5852160" y="1783080"/>
            <a:ext cx="5790895" cy="3202871"/>
          </a:xfrm>
          <a:prstGeom prst="roundRect">
            <a:avLst>
              <a:gd name="adj" fmla="val 3426"/>
            </a:avLst>
          </a:prstGeom>
          <a:solidFill>
            <a:srgbClr val="EEF5F1"/>
          </a:solidFill>
          <a:ln w="12700">
            <a:solidFill>
              <a:srgbClr val="EEF5F1"/>
            </a:solidFill>
            <a:prstDash val="solid"/>
          </a:ln>
        </p:spPr>
      </p:sp>
      <p:sp>
        <p:nvSpPr>
          <p:cNvPr id="7" name="Text 4"/>
          <p:cNvSpPr txBox="1"/>
          <p:nvPr/>
        </p:nvSpPr>
        <p:spPr>
          <a:xfrm>
            <a:off x="6172200" y="2011680"/>
            <a:ext cx="2926080" cy="384048"/>
          </a:xfrm>
          <a:prstGeom prst="rect">
            <a:avLst/>
          </a:prstGeom>
          <a:noFill/>
          <a:ln/>
        </p:spPr>
        <p:txBody>
          <a:bodyPr wrap="square" lIns="0" tIns="0" rIns="0" bIns="0" rtlCol="0" anchor="ctr"/>
          <a:lstStyle/>
          <a:p>
            <a:pPr indent="0" marL="0">
              <a:buNone/>
            </a:pPr>
            <a:r>
              <a:rPr lang="en-US" sz="1600" b="1" dirty="0">
                <a:solidFill>
                  <a:srgbClr val="14201B"/>
                </a:solidFill>
                <a:latin typeface="Calibri" pitchFamily="34" charset="0"/>
                <a:ea typeface="Calibri" pitchFamily="34" charset="-122"/>
                <a:cs typeface="Calibri" pitchFamily="34" charset="-120"/>
              </a:rPr>
              <a:t>Dispensing quality</a:t>
            </a:r>
            <a:endParaRPr lang="en-US" sz="1600" dirty="0"/>
          </a:p>
        </p:txBody>
      </p:sp>
      <p:sp>
        <p:nvSpPr>
          <p:cNvPr id="8" name="Text 5"/>
          <p:cNvSpPr txBox="1"/>
          <p:nvPr/>
        </p:nvSpPr>
        <p:spPr>
          <a:xfrm>
            <a:off x="9494215" y="1837944"/>
            <a:ext cx="1828800" cy="585216"/>
          </a:xfrm>
          <a:prstGeom prst="rect">
            <a:avLst/>
          </a:prstGeom>
          <a:noFill/>
          <a:ln/>
        </p:spPr>
        <p:txBody>
          <a:bodyPr wrap="square" lIns="0" tIns="0" rIns="0" bIns="0" rtlCol="0" anchor="b"/>
          <a:lstStyle/>
          <a:p>
            <a:pPr algn="r" indent="0" marL="0">
              <a:buNone/>
            </a:pPr>
            <a:r>
              <a:rPr lang="en-US" sz="3600" b="1" dirty="0">
                <a:solidFill>
                  <a:srgbClr val="C8742B"/>
                </a:solidFill>
                <a:latin typeface="Calibri" pitchFamily="34" charset="0"/>
                <a:ea typeface="Calibri" pitchFamily="34" charset="-122"/>
                <a:cs typeface="Calibri" pitchFamily="34" charset="-120"/>
              </a:rPr>
              <a:t>20</a:t>
            </a:r>
            <a:pPr algn="r" indent="0" marL="0">
              <a:buNone/>
            </a:pPr>
            <a:r>
              <a:rPr lang="en-US" sz="1600" dirty="0">
                <a:solidFill>
                  <a:srgbClr val="7B8781"/>
                </a:solidFill>
                <a:latin typeface="Calibri" pitchFamily="34" charset="0"/>
                <a:ea typeface="Calibri" pitchFamily="34" charset="-122"/>
                <a:cs typeface="Calibri" pitchFamily="34" charset="-120"/>
              </a:rPr>
              <a:t>/100</a:t>
            </a:r>
            <a:endParaRPr lang="en-US" sz="3600" dirty="0"/>
          </a:p>
        </p:txBody>
      </p:sp>
      <p:sp>
        <p:nvSpPr>
          <p:cNvPr id="9" name="Text 6"/>
          <p:cNvSpPr txBox="1"/>
          <p:nvPr/>
        </p:nvSpPr>
        <p:spPr>
          <a:xfrm>
            <a:off x="9037015" y="2441448"/>
            <a:ext cx="2286000" cy="219456"/>
          </a:xfrm>
          <a:prstGeom prst="rect">
            <a:avLst/>
          </a:prstGeom>
          <a:noFill/>
          <a:ln/>
        </p:spPr>
        <p:txBody>
          <a:bodyPr wrap="square" lIns="0" tIns="0" rIns="0" bIns="0" rtlCol="0" anchor="ctr"/>
          <a:lstStyle/>
          <a:p>
            <a:pPr algn="r" indent="0" marL="0">
              <a:buNone/>
            </a:pPr>
            <a:r>
              <a:rPr lang="en-US" sz="1100" dirty="0">
                <a:solidFill>
                  <a:srgbClr val="7B8781"/>
                </a:solidFill>
                <a:latin typeface="Calibri" pitchFamily="34" charset="0"/>
                <a:ea typeface="Calibri" pitchFamily="34" charset="-122"/>
                <a:cs typeface="Calibri" pitchFamily="34" charset="-120"/>
              </a:rPr>
              <a:t>3 of 15 dots pass all four</a:t>
            </a:r>
            <a:endParaRPr lang="en-US" sz="1100" dirty="0"/>
          </a:p>
        </p:txBody>
      </p:sp>
      <p:sp>
        <p:nvSpPr>
          <p:cNvPr id="10" name="Text 7"/>
          <p:cNvSpPr txBox="1"/>
          <p:nvPr/>
        </p:nvSpPr>
        <p:spPr>
          <a:xfrm>
            <a:off x="6172200" y="2770632"/>
            <a:ext cx="2560320" cy="274320"/>
          </a:xfrm>
          <a:prstGeom prst="rect">
            <a:avLst/>
          </a:prstGeom>
          <a:noFill/>
          <a:ln/>
        </p:spPr>
        <p:txBody>
          <a:bodyPr wrap="square" lIns="0" tIns="0" rIns="0" bIns="0" rtlCol="0" anchor="ctr"/>
          <a:lstStyle/>
          <a:p>
            <a:pPr indent="0" marL="0">
              <a:buNone/>
            </a:pPr>
            <a:r>
              <a:rPr lang="en-US" sz="1400" b="1" dirty="0">
                <a:solidFill>
                  <a:srgbClr val="14201B"/>
                </a:solidFill>
                <a:latin typeface="Calibri" pitchFamily="34" charset="0"/>
                <a:ea typeface="Calibri" pitchFamily="34" charset="-122"/>
                <a:cs typeface="Calibri" pitchFamily="34" charset="-120"/>
              </a:rPr>
              <a:t>Completeness</a:t>
            </a:r>
            <a:endParaRPr lang="en-US" sz="1400" dirty="0"/>
          </a:p>
        </p:txBody>
      </p:sp>
      <p:sp>
        <p:nvSpPr>
          <p:cNvPr id="11" name="Shape 8"/>
          <p:cNvSpPr/>
          <p:nvPr/>
        </p:nvSpPr>
        <p:spPr>
          <a:xfrm>
            <a:off x="10006279" y="2798064"/>
            <a:ext cx="219456" cy="219456"/>
          </a:xfrm>
          <a:prstGeom prst="star5">
            <a:avLst/>
          </a:prstGeom>
          <a:solidFill>
            <a:srgbClr val="F2A71B"/>
          </a:solidFill>
          <a:ln w="12700">
            <a:solidFill>
              <a:srgbClr val="F2A71B"/>
            </a:solidFill>
            <a:prstDash val="solid"/>
          </a:ln>
        </p:spPr>
      </p:sp>
      <p:sp>
        <p:nvSpPr>
          <p:cNvPr id="12" name="Shape 9"/>
          <p:cNvSpPr/>
          <p:nvPr/>
        </p:nvSpPr>
        <p:spPr>
          <a:xfrm>
            <a:off x="10280599" y="2798064"/>
            <a:ext cx="219456" cy="219456"/>
          </a:xfrm>
          <a:prstGeom prst="star5">
            <a:avLst/>
          </a:prstGeom>
          <a:solidFill>
            <a:srgbClr val="F2A71B"/>
          </a:solidFill>
          <a:ln w="12700">
            <a:solidFill>
              <a:srgbClr val="F2A71B"/>
            </a:solidFill>
            <a:prstDash val="solid"/>
          </a:ln>
        </p:spPr>
      </p:sp>
      <p:sp>
        <p:nvSpPr>
          <p:cNvPr id="13" name="Shape 10"/>
          <p:cNvSpPr/>
          <p:nvPr/>
        </p:nvSpPr>
        <p:spPr>
          <a:xfrm>
            <a:off x="10554919" y="2798064"/>
            <a:ext cx="219456" cy="219456"/>
          </a:xfrm>
          <a:prstGeom prst="star5">
            <a:avLst/>
          </a:prstGeom>
          <a:solidFill>
            <a:srgbClr val="F2A71B"/>
          </a:solidFill>
          <a:ln w="12700">
            <a:solidFill>
              <a:srgbClr val="F2A71B"/>
            </a:solidFill>
            <a:prstDash val="solid"/>
          </a:ln>
        </p:spPr>
      </p:sp>
      <p:sp>
        <p:nvSpPr>
          <p:cNvPr id="14" name="Shape 11"/>
          <p:cNvSpPr/>
          <p:nvPr/>
        </p:nvSpPr>
        <p:spPr>
          <a:xfrm>
            <a:off x="10829239" y="2798064"/>
            <a:ext cx="219456" cy="219456"/>
          </a:xfrm>
          <a:prstGeom prst="star5">
            <a:avLst/>
          </a:prstGeom>
          <a:solidFill>
            <a:srgbClr val="F2A71B"/>
          </a:solidFill>
          <a:ln w="12700">
            <a:solidFill>
              <a:srgbClr val="F2A71B"/>
            </a:solidFill>
            <a:prstDash val="solid"/>
          </a:ln>
        </p:spPr>
      </p:sp>
      <p:sp>
        <p:nvSpPr>
          <p:cNvPr id="15" name="Shape 12"/>
          <p:cNvSpPr/>
          <p:nvPr/>
        </p:nvSpPr>
        <p:spPr>
          <a:xfrm>
            <a:off x="11103559" y="2798064"/>
            <a:ext cx="219456" cy="219456"/>
          </a:xfrm>
          <a:prstGeom prst="star5">
            <a:avLst/>
          </a:prstGeom>
          <a:solidFill>
            <a:srgbClr val="F2A71B"/>
          </a:solidFill>
          <a:ln w="12700">
            <a:solidFill>
              <a:srgbClr val="F2A71B"/>
            </a:solidFill>
            <a:prstDash val="solid"/>
          </a:ln>
        </p:spPr>
      </p:sp>
      <p:sp>
        <p:nvSpPr>
          <p:cNvPr id="16" name="Text 13"/>
          <p:cNvSpPr txBox="1"/>
          <p:nvPr/>
        </p:nvSpPr>
        <p:spPr>
          <a:xfrm>
            <a:off x="6172200" y="3044952"/>
            <a:ext cx="5150815" cy="219456"/>
          </a:xfrm>
          <a:prstGeom prst="rect">
            <a:avLst/>
          </a:prstGeom>
          <a:noFill/>
          <a:ln/>
        </p:spPr>
        <p:txBody>
          <a:bodyPr wrap="square" lIns="0" tIns="0" rIns="0" bIns="0" rtlCol="0" anchor="t"/>
          <a:lstStyle/>
          <a:p>
            <a:pPr indent="0" marL="0">
              <a:buNone/>
            </a:pPr>
            <a:r>
              <a:rPr lang="en-US" sz="1200" dirty="0">
                <a:solidFill>
                  <a:srgbClr val="4A5751"/>
                </a:solidFill>
                <a:latin typeface="Calibri" pitchFamily="34" charset="0"/>
                <a:ea typeface="Calibri" pitchFamily="34" charset="-122"/>
                <a:cs typeface="Calibri" pitchFamily="34" charset="-120"/>
              </a:rPr>
              <a:t>15 of 15 deposits present</a:t>
            </a:r>
            <a:endParaRPr lang="en-US" sz="1200" dirty="0"/>
          </a:p>
        </p:txBody>
      </p:sp>
      <p:sp>
        <p:nvSpPr>
          <p:cNvPr id="17" name="Text 14"/>
          <p:cNvSpPr txBox="1"/>
          <p:nvPr/>
        </p:nvSpPr>
        <p:spPr>
          <a:xfrm>
            <a:off x="6172200" y="3319272"/>
            <a:ext cx="2560320" cy="274320"/>
          </a:xfrm>
          <a:prstGeom prst="rect">
            <a:avLst/>
          </a:prstGeom>
          <a:noFill/>
          <a:ln/>
        </p:spPr>
        <p:txBody>
          <a:bodyPr wrap="square" lIns="0" tIns="0" rIns="0" bIns="0" rtlCol="0" anchor="ctr"/>
          <a:lstStyle/>
          <a:p>
            <a:pPr indent="0" marL="0">
              <a:buNone/>
            </a:pPr>
            <a:r>
              <a:rPr lang="en-US" sz="1400" b="1" dirty="0">
                <a:solidFill>
                  <a:srgbClr val="14201B"/>
                </a:solidFill>
                <a:latin typeface="Calibri" pitchFamily="34" charset="0"/>
                <a:ea typeface="Calibri" pitchFamily="34" charset="-122"/>
                <a:cs typeface="Calibri" pitchFamily="34" charset="-120"/>
              </a:rPr>
              <a:t>Size consistency</a:t>
            </a:r>
            <a:endParaRPr lang="en-US" sz="1400" dirty="0"/>
          </a:p>
        </p:txBody>
      </p:sp>
      <p:sp>
        <p:nvSpPr>
          <p:cNvPr id="18" name="Shape 15"/>
          <p:cNvSpPr/>
          <p:nvPr/>
        </p:nvSpPr>
        <p:spPr>
          <a:xfrm>
            <a:off x="10006279" y="3346704"/>
            <a:ext cx="219456" cy="219456"/>
          </a:xfrm>
          <a:prstGeom prst="star5">
            <a:avLst/>
          </a:prstGeom>
          <a:solidFill>
            <a:srgbClr val="F2A71B"/>
          </a:solidFill>
          <a:ln w="12700">
            <a:solidFill>
              <a:srgbClr val="F2A71B"/>
            </a:solidFill>
            <a:prstDash val="solid"/>
          </a:ln>
        </p:spPr>
      </p:sp>
      <p:sp>
        <p:nvSpPr>
          <p:cNvPr id="19" name="Shape 16"/>
          <p:cNvSpPr/>
          <p:nvPr/>
        </p:nvSpPr>
        <p:spPr>
          <a:xfrm>
            <a:off x="10280599" y="3346704"/>
            <a:ext cx="219456" cy="219456"/>
          </a:xfrm>
          <a:prstGeom prst="star5">
            <a:avLst/>
          </a:prstGeom>
          <a:solidFill>
            <a:srgbClr val="D3DAD6"/>
          </a:solidFill>
          <a:ln w="12700">
            <a:solidFill>
              <a:srgbClr val="D3DAD6"/>
            </a:solidFill>
            <a:prstDash val="solid"/>
          </a:ln>
        </p:spPr>
      </p:sp>
      <p:sp>
        <p:nvSpPr>
          <p:cNvPr id="20" name="Shape 17"/>
          <p:cNvSpPr/>
          <p:nvPr/>
        </p:nvSpPr>
        <p:spPr>
          <a:xfrm>
            <a:off x="10554919" y="3346704"/>
            <a:ext cx="219456" cy="219456"/>
          </a:xfrm>
          <a:prstGeom prst="star5">
            <a:avLst/>
          </a:prstGeom>
          <a:solidFill>
            <a:srgbClr val="D3DAD6"/>
          </a:solidFill>
          <a:ln w="12700">
            <a:solidFill>
              <a:srgbClr val="D3DAD6"/>
            </a:solidFill>
            <a:prstDash val="solid"/>
          </a:ln>
        </p:spPr>
      </p:sp>
      <p:sp>
        <p:nvSpPr>
          <p:cNvPr id="21" name="Shape 18"/>
          <p:cNvSpPr/>
          <p:nvPr/>
        </p:nvSpPr>
        <p:spPr>
          <a:xfrm>
            <a:off x="10829239" y="3346704"/>
            <a:ext cx="219456" cy="219456"/>
          </a:xfrm>
          <a:prstGeom prst="star5">
            <a:avLst/>
          </a:prstGeom>
          <a:solidFill>
            <a:srgbClr val="D3DAD6"/>
          </a:solidFill>
          <a:ln w="12700">
            <a:solidFill>
              <a:srgbClr val="D3DAD6"/>
            </a:solidFill>
            <a:prstDash val="solid"/>
          </a:ln>
        </p:spPr>
      </p:sp>
      <p:sp>
        <p:nvSpPr>
          <p:cNvPr id="22" name="Shape 19"/>
          <p:cNvSpPr/>
          <p:nvPr/>
        </p:nvSpPr>
        <p:spPr>
          <a:xfrm>
            <a:off x="11103559" y="3346704"/>
            <a:ext cx="219456" cy="219456"/>
          </a:xfrm>
          <a:prstGeom prst="star5">
            <a:avLst/>
          </a:prstGeom>
          <a:solidFill>
            <a:srgbClr val="D3DAD6"/>
          </a:solidFill>
          <a:ln w="12700">
            <a:solidFill>
              <a:srgbClr val="D3DAD6"/>
            </a:solidFill>
            <a:prstDash val="solid"/>
          </a:ln>
        </p:spPr>
      </p:sp>
      <p:sp>
        <p:nvSpPr>
          <p:cNvPr id="23" name="Text 20"/>
          <p:cNvSpPr txBox="1"/>
          <p:nvPr/>
        </p:nvSpPr>
        <p:spPr>
          <a:xfrm>
            <a:off x="6172200" y="3593592"/>
            <a:ext cx="5150815" cy="219456"/>
          </a:xfrm>
          <a:prstGeom prst="rect">
            <a:avLst/>
          </a:prstGeom>
          <a:noFill/>
          <a:ln/>
        </p:spPr>
        <p:txBody>
          <a:bodyPr wrap="square" lIns="0" tIns="0" rIns="0" bIns="0" rtlCol="0" anchor="t"/>
          <a:lstStyle/>
          <a:p>
            <a:pPr indent="0" marL="0">
              <a:buNone/>
            </a:pPr>
            <a:r>
              <a:rPr lang="en-US" sz="1200" dirty="0">
                <a:solidFill>
                  <a:srgbClr val="4A5751"/>
                </a:solidFill>
                <a:latin typeface="Calibri" pitchFamily="34" charset="0"/>
                <a:ea typeface="Calibri" pitchFamily="34" charset="-122"/>
                <a:cs typeface="Calibri" pitchFamily="34" charset="-120"/>
              </a:rPr>
              <a:t>3 of 15 within 15% of the nominal size</a:t>
            </a:r>
            <a:endParaRPr lang="en-US" sz="1200" dirty="0"/>
          </a:p>
        </p:txBody>
      </p:sp>
      <p:sp>
        <p:nvSpPr>
          <p:cNvPr id="24" name="Text 21"/>
          <p:cNvSpPr txBox="1"/>
          <p:nvPr/>
        </p:nvSpPr>
        <p:spPr>
          <a:xfrm>
            <a:off x="6172200" y="3867912"/>
            <a:ext cx="2560320" cy="274320"/>
          </a:xfrm>
          <a:prstGeom prst="rect">
            <a:avLst/>
          </a:prstGeom>
          <a:noFill/>
          <a:ln/>
        </p:spPr>
        <p:txBody>
          <a:bodyPr wrap="square" lIns="0" tIns="0" rIns="0" bIns="0" rtlCol="0" anchor="ctr"/>
          <a:lstStyle/>
          <a:p>
            <a:pPr indent="0" marL="0">
              <a:buNone/>
            </a:pPr>
            <a:r>
              <a:rPr lang="en-US" sz="1400" b="1" dirty="0">
                <a:solidFill>
                  <a:srgbClr val="14201B"/>
                </a:solidFill>
                <a:latin typeface="Calibri" pitchFamily="34" charset="0"/>
                <a:ea typeface="Calibri" pitchFamily="34" charset="-122"/>
                <a:cs typeface="Calibri" pitchFamily="34" charset="-120"/>
              </a:rPr>
              <a:t>Shape consistency</a:t>
            </a:r>
            <a:endParaRPr lang="en-US" sz="1400" dirty="0"/>
          </a:p>
        </p:txBody>
      </p:sp>
      <p:sp>
        <p:nvSpPr>
          <p:cNvPr id="25" name="Shape 22"/>
          <p:cNvSpPr/>
          <p:nvPr/>
        </p:nvSpPr>
        <p:spPr>
          <a:xfrm>
            <a:off x="10006279" y="3895344"/>
            <a:ext cx="219456" cy="219456"/>
          </a:xfrm>
          <a:prstGeom prst="star5">
            <a:avLst/>
          </a:prstGeom>
          <a:solidFill>
            <a:srgbClr val="F2A71B"/>
          </a:solidFill>
          <a:ln w="12700">
            <a:solidFill>
              <a:srgbClr val="F2A71B"/>
            </a:solidFill>
            <a:prstDash val="solid"/>
          </a:ln>
        </p:spPr>
      </p:sp>
      <p:sp>
        <p:nvSpPr>
          <p:cNvPr id="26" name="Shape 23"/>
          <p:cNvSpPr/>
          <p:nvPr/>
        </p:nvSpPr>
        <p:spPr>
          <a:xfrm>
            <a:off x="10280599" y="3895344"/>
            <a:ext cx="219456" cy="219456"/>
          </a:xfrm>
          <a:prstGeom prst="star5">
            <a:avLst/>
          </a:prstGeom>
          <a:solidFill>
            <a:srgbClr val="F2A71B"/>
          </a:solidFill>
          <a:ln w="12700">
            <a:solidFill>
              <a:srgbClr val="F2A71B"/>
            </a:solidFill>
            <a:prstDash val="solid"/>
          </a:ln>
        </p:spPr>
      </p:sp>
      <p:sp>
        <p:nvSpPr>
          <p:cNvPr id="27" name="Shape 24"/>
          <p:cNvSpPr/>
          <p:nvPr/>
        </p:nvSpPr>
        <p:spPr>
          <a:xfrm>
            <a:off x="10554919" y="3895344"/>
            <a:ext cx="219456" cy="219456"/>
          </a:xfrm>
          <a:prstGeom prst="star5">
            <a:avLst/>
          </a:prstGeom>
          <a:solidFill>
            <a:srgbClr val="F2A71B"/>
          </a:solidFill>
          <a:ln w="12700">
            <a:solidFill>
              <a:srgbClr val="F2A71B"/>
            </a:solidFill>
            <a:prstDash val="solid"/>
          </a:ln>
        </p:spPr>
      </p:sp>
      <p:sp>
        <p:nvSpPr>
          <p:cNvPr id="28" name="Shape 25"/>
          <p:cNvSpPr/>
          <p:nvPr/>
        </p:nvSpPr>
        <p:spPr>
          <a:xfrm>
            <a:off x="10829239" y="3895344"/>
            <a:ext cx="219456" cy="219456"/>
          </a:xfrm>
          <a:prstGeom prst="star5">
            <a:avLst/>
          </a:prstGeom>
          <a:solidFill>
            <a:srgbClr val="F2A71B"/>
          </a:solidFill>
          <a:ln w="12700">
            <a:solidFill>
              <a:srgbClr val="F2A71B"/>
            </a:solidFill>
            <a:prstDash val="solid"/>
          </a:ln>
        </p:spPr>
      </p:sp>
      <p:sp>
        <p:nvSpPr>
          <p:cNvPr id="29" name="Shape 26"/>
          <p:cNvSpPr/>
          <p:nvPr/>
        </p:nvSpPr>
        <p:spPr>
          <a:xfrm>
            <a:off x="11103559" y="3895344"/>
            <a:ext cx="219456" cy="219456"/>
          </a:xfrm>
          <a:prstGeom prst="star5">
            <a:avLst/>
          </a:prstGeom>
          <a:solidFill>
            <a:srgbClr val="F2A71B"/>
          </a:solidFill>
          <a:ln w="12700">
            <a:solidFill>
              <a:srgbClr val="F2A71B"/>
            </a:solidFill>
            <a:prstDash val="solid"/>
          </a:ln>
        </p:spPr>
      </p:sp>
      <p:sp>
        <p:nvSpPr>
          <p:cNvPr id="30" name="Text 27"/>
          <p:cNvSpPr txBox="1"/>
          <p:nvPr/>
        </p:nvSpPr>
        <p:spPr>
          <a:xfrm>
            <a:off x="6172200" y="4142232"/>
            <a:ext cx="5150815" cy="219456"/>
          </a:xfrm>
          <a:prstGeom prst="rect">
            <a:avLst/>
          </a:prstGeom>
          <a:noFill/>
          <a:ln/>
        </p:spPr>
        <p:txBody>
          <a:bodyPr wrap="square" lIns="0" tIns="0" rIns="0" bIns="0" rtlCol="0" anchor="t"/>
          <a:lstStyle/>
          <a:p>
            <a:pPr indent="0" marL="0">
              <a:buNone/>
            </a:pPr>
            <a:r>
              <a:rPr lang="en-US" sz="1200" dirty="0">
                <a:solidFill>
                  <a:srgbClr val="4A5751"/>
                </a:solidFill>
                <a:latin typeface="Calibri" pitchFamily="34" charset="0"/>
                <a:ea typeface="Calibri" pitchFamily="34" charset="-122"/>
                <a:cs typeface="Calibri" pitchFamily="34" charset="-120"/>
              </a:rPr>
              <a:t>15 of 15 round</a:t>
            </a:r>
            <a:endParaRPr lang="en-US" sz="1200" dirty="0"/>
          </a:p>
        </p:txBody>
      </p:sp>
      <p:sp>
        <p:nvSpPr>
          <p:cNvPr id="31" name="Text 28"/>
          <p:cNvSpPr txBox="1"/>
          <p:nvPr/>
        </p:nvSpPr>
        <p:spPr>
          <a:xfrm>
            <a:off x="6172200" y="4416552"/>
            <a:ext cx="2560320" cy="274320"/>
          </a:xfrm>
          <a:prstGeom prst="rect">
            <a:avLst/>
          </a:prstGeom>
          <a:noFill/>
          <a:ln/>
        </p:spPr>
        <p:txBody>
          <a:bodyPr wrap="square" lIns="0" tIns="0" rIns="0" bIns="0" rtlCol="0" anchor="ctr"/>
          <a:lstStyle/>
          <a:p>
            <a:pPr indent="0" marL="0">
              <a:buNone/>
            </a:pPr>
            <a:r>
              <a:rPr lang="en-US" sz="1400" b="1" dirty="0">
                <a:solidFill>
                  <a:srgbClr val="14201B"/>
                </a:solidFill>
                <a:latin typeface="Calibri" pitchFamily="34" charset="0"/>
                <a:ea typeface="Calibri" pitchFamily="34" charset="-122"/>
                <a:cs typeface="Calibri" pitchFamily="34" charset="-120"/>
              </a:rPr>
              <a:t>Dispensing position</a:t>
            </a:r>
            <a:endParaRPr lang="en-US" sz="1400" dirty="0"/>
          </a:p>
        </p:txBody>
      </p:sp>
      <p:sp>
        <p:nvSpPr>
          <p:cNvPr id="32" name="Shape 29"/>
          <p:cNvSpPr/>
          <p:nvPr/>
        </p:nvSpPr>
        <p:spPr>
          <a:xfrm>
            <a:off x="10006279" y="4443984"/>
            <a:ext cx="219456" cy="219456"/>
          </a:xfrm>
          <a:prstGeom prst="star5">
            <a:avLst/>
          </a:prstGeom>
          <a:solidFill>
            <a:srgbClr val="F2A71B"/>
          </a:solidFill>
          <a:ln w="12700">
            <a:solidFill>
              <a:srgbClr val="F2A71B"/>
            </a:solidFill>
            <a:prstDash val="solid"/>
          </a:ln>
        </p:spPr>
      </p:sp>
      <p:sp>
        <p:nvSpPr>
          <p:cNvPr id="33" name="Shape 30"/>
          <p:cNvSpPr/>
          <p:nvPr/>
        </p:nvSpPr>
        <p:spPr>
          <a:xfrm>
            <a:off x="10280599" y="4443984"/>
            <a:ext cx="219456" cy="219456"/>
          </a:xfrm>
          <a:prstGeom prst="star5">
            <a:avLst/>
          </a:prstGeom>
          <a:solidFill>
            <a:srgbClr val="F2A71B"/>
          </a:solidFill>
          <a:ln w="12700">
            <a:solidFill>
              <a:srgbClr val="F2A71B"/>
            </a:solidFill>
            <a:prstDash val="solid"/>
          </a:ln>
        </p:spPr>
      </p:sp>
      <p:sp>
        <p:nvSpPr>
          <p:cNvPr id="34" name="Shape 31"/>
          <p:cNvSpPr/>
          <p:nvPr/>
        </p:nvSpPr>
        <p:spPr>
          <a:xfrm>
            <a:off x="10554919" y="4443984"/>
            <a:ext cx="219456" cy="219456"/>
          </a:xfrm>
          <a:prstGeom prst="star5">
            <a:avLst/>
          </a:prstGeom>
          <a:solidFill>
            <a:srgbClr val="F2A71B"/>
          </a:solidFill>
          <a:ln w="12700">
            <a:solidFill>
              <a:srgbClr val="F2A71B"/>
            </a:solidFill>
            <a:prstDash val="solid"/>
          </a:ln>
        </p:spPr>
      </p:sp>
      <p:sp>
        <p:nvSpPr>
          <p:cNvPr id="35" name="Shape 32"/>
          <p:cNvSpPr/>
          <p:nvPr/>
        </p:nvSpPr>
        <p:spPr>
          <a:xfrm>
            <a:off x="10829239" y="4443984"/>
            <a:ext cx="219456" cy="219456"/>
          </a:xfrm>
          <a:prstGeom prst="star5">
            <a:avLst/>
          </a:prstGeom>
          <a:solidFill>
            <a:srgbClr val="F2A71B"/>
          </a:solidFill>
          <a:ln w="12700">
            <a:solidFill>
              <a:srgbClr val="F2A71B"/>
            </a:solidFill>
            <a:prstDash val="solid"/>
          </a:ln>
        </p:spPr>
      </p:sp>
      <p:sp>
        <p:nvSpPr>
          <p:cNvPr id="36" name="Shape 33"/>
          <p:cNvSpPr/>
          <p:nvPr/>
        </p:nvSpPr>
        <p:spPr>
          <a:xfrm>
            <a:off x="11103559" y="4443984"/>
            <a:ext cx="219456" cy="219456"/>
          </a:xfrm>
          <a:prstGeom prst="star5">
            <a:avLst/>
          </a:prstGeom>
          <a:solidFill>
            <a:srgbClr val="F2A71B"/>
          </a:solidFill>
          <a:ln w="12700">
            <a:solidFill>
              <a:srgbClr val="F2A71B"/>
            </a:solidFill>
            <a:prstDash val="solid"/>
          </a:ln>
        </p:spPr>
      </p:sp>
      <p:sp>
        <p:nvSpPr>
          <p:cNvPr id="37" name="Text 34"/>
          <p:cNvSpPr txBox="1"/>
          <p:nvPr/>
        </p:nvSpPr>
        <p:spPr>
          <a:xfrm>
            <a:off x="6172200" y="4690872"/>
            <a:ext cx="5150815" cy="219456"/>
          </a:xfrm>
          <a:prstGeom prst="rect">
            <a:avLst/>
          </a:prstGeom>
          <a:noFill/>
          <a:ln/>
        </p:spPr>
        <p:txBody>
          <a:bodyPr wrap="square" lIns="0" tIns="0" rIns="0" bIns="0" rtlCol="0" anchor="t"/>
          <a:lstStyle/>
          <a:p>
            <a:pPr indent="0" marL="0">
              <a:buNone/>
            </a:pPr>
            <a:r>
              <a:rPr lang="en-US" sz="1200" dirty="0">
                <a:solidFill>
                  <a:srgbClr val="4A5751"/>
                </a:solidFill>
                <a:latin typeface="Calibri" pitchFamily="34" charset="0"/>
                <a:ea typeface="Calibri" pitchFamily="34" charset="-122"/>
                <a:cs typeface="Calibri" pitchFamily="34" charset="-120"/>
              </a:rPr>
              <a:t>15 of 15 where the recipe puts them</a:t>
            </a:r>
            <a:endParaRPr lang="en-US" sz="1200" dirty="0"/>
          </a:p>
        </p:txBody>
      </p:sp>
      <p:sp>
        <p:nvSpPr>
          <p:cNvPr id="38" name="Shape 35"/>
          <p:cNvSpPr/>
          <p:nvPr/>
        </p:nvSpPr>
        <p:spPr>
          <a:xfrm>
            <a:off x="548640" y="5669280"/>
            <a:ext cx="420624" cy="420624"/>
          </a:xfrm>
          <a:prstGeom prst="ellipse">
            <a:avLst/>
          </a:prstGeom>
          <a:solidFill>
            <a:srgbClr val="1F7A4D"/>
          </a:solidFill>
          <a:ln w="12700">
            <a:solidFill>
              <a:srgbClr val="1F7A4D"/>
            </a:solidFill>
            <a:prstDash val="solid"/>
          </a:ln>
        </p:spPr>
      </p:sp>
      <p:pic>
        <p:nvPicPr>
          <p:cNvPr id="39" name="Image 1" descr="preencoded.png">    </p:cNvPr>
          <p:cNvPicPr>
            <a:picLocks noChangeAspect="1"/>
          </p:cNvPicPr>
          <p:nvPr/>
        </p:nvPicPr>
        <p:blipFill>
          <a:blip r:embed="rId2"/>
          <a:stretch>
            <a:fillRect/>
          </a:stretch>
        </p:blipFill>
        <p:spPr>
          <a:xfrm>
            <a:off x="645384" y="5766024"/>
            <a:ext cx="227137" cy="227137"/>
          </a:xfrm>
          <a:prstGeom prst="rect">
            <a:avLst/>
          </a:prstGeom>
        </p:spPr>
      </p:pic>
      <p:sp>
        <p:nvSpPr>
          <p:cNvPr id="40" name="Text 36"/>
          <p:cNvSpPr txBox="1"/>
          <p:nvPr/>
        </p:nvSpPr>
        <p:spPr>
          <a:xfrm>
            <a:off x="1097280" y="5559552"/>
            <a:ext cx="2920898" cy="640080"/>
          </a:xfrm>
          <a:prstGeom prst="rect">
            <a:avLst/>
          </a:prstGeom>
          <a:noFill/>
          <a:ln/>
        </p:spPr>
        <p:txBody>
          <a:bodyPr wrap="square" lIns="0" tIns="0" rIns="0" bIns="0" rtlCol="0" anchor="ctr"/>
          <a:lstStyle/>
          <a:p>
            <a:pPr indent="0" marL="0">
              <a:buNone/>
            </a:pPr>
            <a:r>
              <a:rPr lang="en-US" sz="1250" dirty="0">
                <a:solidFill>
                  <a:srgbClr val="4A5751"/>
                </a:solidFill>
                <a:latin typeface="Calibri" pitchFamily="34" charset="0"/>
                <a:ea typeface="Calibri" pitchFamily="34" charset="-122"/>
                <a:cs typeface="Calibri" pitchFamily="34" charset="-120"/>
              </a:rPr>
              <a:t>Stars = share passed × 5, rounded down, so one failure always costs a star</a:t>
            </a:r>
            <a:endParaRPr lang="en-US" sz="1250" dirty="0"/>
          </a:p>
        </p:txBody>
      </p:sp>
      <p:sp>
        <p:nvSpPr>
          <p:cNvPr id="41" name="Shape 37"/>
          <p:cNvSpPr/>
          <p:nvPr/>
        </p:nvSpPr>
        <p:spPr>
          <a:xfrm>
            <a:off x="4338218" y="5669280"/>
            <a:ext cx="420624" cy="420624"/>
          </a:xfrm>
          <a:prstGeom prst="ellipse">
            <a:avLst/>
          </a:prstGeom>
          <a:solidFill>
            <a:srgbClr val="1F7A4D"/>
          </a:solidFill>
          <a:ln w="12700">
            <a:solidFill>
              <a:srgbClr val="1F7A4D"/>
            </a:solidFill>
            <a:prstDash val="solid"/>
          </a:ln>
        </p:spPr>
      </p:sp>
      <p:pic>
        <p:nvPicPr>
          <p:cNvPr id="42" name="Image 2" descr="preencoded.png">    </p:cNvPr>
          <p:cNvPicPr>
            <a:picLocks noChangeAspect="1"/>
          </p:cNvPicPr>
          <p:nvPr/>
        </p:nvPicPr>
        <p:blipFill>
          <a:blip r:embed="rId3"/>
          <a:stretch>
            <a:fillRect/>
          </a:stretch>
        </p:blipFill>
        <p:spPr>
          <a:xfrm>
            <a:off x="4434962" y="5766024"/>
            <a:ext cx="227137" cy="227137"/>
          </a:xfrm>
          <a:prstGeom prst="rect">
            <a:avLst/>
          </a:prstGeom>
        </p:spPr>
      </p:pic>
      <p:sp>
        <p:nvSpPr>
          <p:cNvPr id="43" name="Text 38"/>
          <p:cNvSpPr txBox="1"/>
          <p:nvPr/>
        </p:nvSpPr>
        <p:spPr>
          <a:xfrm>
            <a:off x="4886858" y="5559552"/>
            <a:ext cx="2920898" cy="640080"/>
          </a:xfrm>
          <a:prstGeom prst="rect">
            <a:avLst/>
          </a:prstGeom>
          <a:noFill/>
          <a:ln/>
        </p:spPr>
        <p:txBody>
          <a:bodyPr wrap="square" lIns="0" tIns="0" rIns="0" bIns="0" rtlCol="0" anchor="ctr"/>
          <a:lstStyle/>
          <a:p>
            <a:pPr indent="0" marL="0">
              <a:buNone/>
            </a:pPr>
            <a:r>
              <a:rPr lang="en-US" sz="1250" dirty="0">
                <a:solidFill>
                  <a:srgbClr val="4A5751"/>
                </a:solidFill>
                <a:latin typeface="Calibri" pitchFamily="34" charset="0"/>
                <a:ea typeface="Calibri" pitchFamily="34" charset="-122"/>
                <a:cs typeface="Calibri" pitchFamily="34" charset="-120"/>
              </a:rPr>
              <a:t>Overall = dots passing all four ÷ all dots: 3 of 15 → 20/100</a:t>
            </a:r>
            <a:endParaRPr lang="en-US" sz="1250" dirty="0"/>
          </a:p>
        </p:txBody>
      </p:sp>
      <p:sp>
        <p:nvSpPr>
          <p:cNvPr id="44" name="Shape 39"/>
          <p:cNvSpPr/>
          <p:nvPr/>
        </p:nvSpPr>
        <p:spPr>
          <a:xfrm>
            <a:off x="8127797" y="5669280"/>
            <a:ext cx="420624" cy="420624"/>
          </a:xfrm>
          <a:prstGeom prst="ellipse">
            <a:avLst/>
          </a:prstGeom>
          <a:solidFill>
            <a:srgbClr val="1F7A4D"/>
          </a:solidFill>
          <a:ln w="12700">
            <a:solidFill>
              <a:srgbClr val="1F7A4D"/>
            </a:solidFill>
            <a:prstDash val="solid"/>
          </a:ln>
        </p:spPr>
      </p:sp>
      <p:pic>
        <p:nvPicPr>
          <p:cNvPr id="45" name="Image 3" descr="preencoded.png">    </p:cNvPr>
          <p:cNvPicPr>
            <a:picLocks noChangeAspect="1"/>
          </p:cNvPicPr>
          <p:nvPr/>
        </p:nvPicPr>
        <p:blipFill>
          <a:blip r:embed="rId4"/>
          <a:stretch>
            <a:fillRect/>
          </a:stretch>
        </p:blipFill>
        <p:spPr>
          <a:xfrm>
            <a:off x="8224540" y="5766024"/>
            <a:ext cx="227137" cy="227137"/>
          </a:xfrm>
          <a:prstGeom prst="rect">
            <a:avLst/>
          </a:prstGeom>
        </p:spPr>
      </p:pic>
      <p:sp>
        <p:nvSpPr>
          <p:cNvPr id="46" name="Text 40"/>
          <p:cNvSpPr txBox="1"/>
          <p:nvPr/>
        </p:nvSpPr>
        <p:spPr>
          <a:xfrm>
            <a:off x="8676437" y="5559552"/>
            <a:ext cx="2920898" cy="640080"/>
          </a:xfrm>
          <a:prstGeom prst="rect">
            <a:avLst/>
          </a:prstGeom>
          <a:noFill/>
          <a:ln/>
        </p:spPr>
        <p:txBody>
          <a:bodyPr wrap="square" lIns="0" tIns="0" rIns="0" bIns="0" rtlCol="0" anchor="ctr"/>
          <a:lstStyle/>
          <a:p>
            <a:pPr indent="0" marL="0">
              <a:buNone/>
            </a:pPr>
            <a:r>
              <a:rPr lang="en-US" sz="1250" dirty="0">
                <a:solidFill>
                  <a:srgbClr val="4A5751"/>
                </a:solidFill>
                <a:latin typeface="Calibri" pitchFamily="34" charset="0"/>
                <a:ea typeface="Calibri" pitchFamily="34" charset="-122"/>
                <a:cs typeface="Calibri" pitchFamily="34" charset="-120"/>
              </a:rPr>
              <a:t>Rates the dots, not the diagnosis: how far to trust the ranking is the tier's job</a:t>
            </a:r>
            <a:endParaRPr lang="en-US" sz="1250" dirty="0"/>
          </a:p>
        </p:txBody>
      </p:sp>
      <p:sp>
        <p:nvSpPr>
          <p:cNvPr id="47" name="Text 41"/>
          <p:cNvSpPr txBox="1"/>
          <p:nvPr/>
        </p:nvSpPr>
        <p:spPr>
          <a:xfrm>
            <a:off x="548640" y="6355080"/>
            <a:ext cx="11094415" cy="320040"/>
          </a:xfrm>
          <a:prstGeom prst="rect">
            <a:avLst/>
          </a:prstGeom>
          <a:noFill/>
          <a:ln/>
        </p:spPr>
        <p:txBody>
          <a:bodyPr wrap="square" lIns="0" tIns="0" rIns="0" bIns="0" rtlCol="0" anchor="b"/>
          <a:lstStyle/>
          <a:p>
            <a:pPr indent="0" marL="0">
              <a:buNone/>
            </a:pPr>
            <a:r>
              <a:rPr lang="en-US" sz="1100" i="1" dirty="0">
                <a:solidFill>
                  <a:srgbClr val="7B8781"/>
                </a:solidFill>
                <a:latin typeface="Calibri" pitchFamily="34" charset="0"/>
                <a:ea typeface="Calibri" pitchFamily="34" charset="-122"/>
                <a:cs typeface="Calibri" pitchFamily="34" charset="-120"/>
              </a:rPr>
              <a:t>Shown when the photo passes the quality check and the job has a recipe; without the expected dot positions there is nothing to rate.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Dispensing Defect Detective — AI Horizon 2026 final</dc:title>
  <dc:subject>PptxGenJS Presentation</dc:subject>
  <dc:creator>Team Lithium</dc:creator>
  <cp:lastModifiedBy>Team Lithium</cp:lastModifiedBy>
  <cp:revision>1</cp:revision>
  <dcterms:created xsi:type="dcterms:W3CDTF">2026-10-05T20:51:10Z</dcterms:created>
  <dcterms:modified xsi:type="dcterms:W3CDTF">2026-10-05T20:51:10Z</dcterms:modified>
</cp:coreProperties>
</file>