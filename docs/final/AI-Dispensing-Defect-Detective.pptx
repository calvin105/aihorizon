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3.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4A5751"/>
                </a:solidFill>
                <a:latin typeface="Calibri"/>
              </a:defRPr>
            </a:pPr>
            <a:r>
              <a:rPr sz="1400" b="0" i="0" u="none" strike="noStrike">
                <a:solidFill>
                  <a:srgbClr val="4A5751"/>
                </a:solidFill>
                <a:latin typeface="Calibri"/>
              </a:rPr>
              <a:t>Top cause correct, by stars shown to the operator</a:t>
            </a:r>
          </a:p>
        </c:rich>
      </c:tx>
      <c:layout/>
      <c:overlay val="0"/>
    </c:title>
    <c:autoTitleDeleted val="0"/>
    <c:plotArea>
      <c:layout/>
      <c:barChart>
        <c:barDir val="col"/>
        <c:grouping val="clustered"/>
        <c:varyColors val="0"/>
        <c:ser>
          <c:idx val="0"/>
          <c:order val="0"/>
          <c:tx>
            <c:strRef>
              <c:f>Sheet1!$B$1</c:f>
              <c:strCache>
                <c:ptCount val="1"/>
                <c:pt idx="0">
                  <c:v>Top cause correct</c:v>
                </c:pt>
              </c:strCache>
            </c:strRef>
          </c:tx>
          <c:spPr>
            <a:solidFill>
              <a:srgbClr val="1F7A4D"/>
            </a:solidFill>
            <a:effectLst/>
          </c:spPr>
          <c:invertIfNegative val="0"/>
          <c:dLbls>
            <c:numFmt formatCode="0&quot;%&quot;" sourceLinked="0"/>
            <c:txPr>
              <a:bodyPr/>
              <a:lstStyle/>
              <a:p>
                <a:pPr>
                  <a:defRPr b="1" i="0" strike="noStrike" sz="1600" u="none">
                    <a:solidFill>
                      <a:srgbClr val="14201B"/>
                    </a:solidFill>
                    <a:latin typeface="Calibri"/>
                  </a:defRPr>
                </a:pPr>
              </a:p>
            </c:txPr>
            <c:showLegendKey val="0"/>
            <c:showVal val="1"/>
            <c:showCatName val="0"/>
            <c:showSerName val="0"/>
            <c:showPercent val="0"/>
            <c:showBubbleSize val="0"/>
            <c:showLeaderLines val="0"/>
          </c:dLbls>
          <c:cat>
            <c:multiLvlStrRef>
              <c:f>Sheet1!$A$2:$A$5</c:f>
              <c:multiLvlStrCache>
                <c:ptCount val="4"/>
                <c:lvl>
                  <c:pt idx="0">
                    <c:v>★</c:v>
                  </c:pt>
                  <c:pt idx="1">
                    <c:v>★★</c:v>
                  </c:pt>
                  <c:pt idx="2">
                    <c:v>★★★</c:v>
                  </c:pt>
                  <c:pt idx="3">
                    <c:v>★★★★</c:v>
                  </c:pt>
                </c:lvl>
              </c:multiLvlStrCache>
            </c:multiLvlStrRef>
          </c:cat>
          <c:val>
            <c:numRef>
              <c:f>Sheet1!$B$2:$B$5</c:f>
              <c:numCache>
                <c:formatCode>General</c:formatCode>
                <c:ptCount val="4"/>
                <c:pt idx="0">
                  <c:v>52</c:v>
                </c:pt>
                <c:pt idx="1">
                  <c:v>75</c:v>
                </c:pt>
                <c:pt idx="2">
                  <c:v>95</c:v>
                </c:pt>
                <c:pt idx="3">
                  <c:v>97</c:v>
                </c:pt>
              </c:numCache>
            </c:numRef>
          </c:val>
        </c:ser>
        <c:dLbls>
          <c:numFmt formatCode="0&quot;%&quot;" sourceLinked="0"/>
          <c:txPr>
            <a:bodyPr/>
            <a:lstStyle/>
            <a:p>
              <a:pPr>
                <a:defRPr b="1" i="0" strike="noStrike" sz="1600" u="none">
                  <a:solidFill>
                    <a:srgbClr val="14201B"/>
                  </a:solidFill>
                  <a:latin typeface="Calibri"/>
                </a:defRPr>
              </a:pPr>
            </a:p>
          </c:txPr>
          <c:showLegendKey val="0"/>
          <c:showVal val="1"/>
          <c:showCatName val="0"/>
          <c:showSerName val="0"/>
          <c:showPercent val="0"/>
          <c:showBubbleSize val="0"/>
          <c:showLeaderLines val="0"/>
        </c:dLbls>
        <c:gapWidth val="8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C3C2B7"/>
            </a:solidFill>
            <a:prstDash val="solid"/>
            <a:round/>
          </a:ln>
        </c:spPr>
        <c:txPr>
          <a:bodyPr/>
          <a:lstStyle/>
          <a:p>
            <a:pPr>
              <a:defRPr sz="2000" b="0" i="0" u="none" strike="noStrike">
                <a:solidFill>
                  <a:srgbClr val="4A5751"/>
                </a:solidFill>
                <a:latin typeface="Calibri"/>
              </a:defRPr>
            </a:pPr>
            <a:endParaRPr lang="en-US"/>
          </a:p>
        </c:txPr>
        <c:crossAx val="2094734552"/>
        <c:crosses val="autoZero"/>
        <c:auto val="1"/>
        <c:lblAlgn val="ctr"/>
        <c:noMultiLvlLbl val="1"/>
      </c:catAx>
      <c:valAx>
        <c:axId val="2094734552"/>
        <c:scaling>
          <c:orientation val="minMax"/>
          <c:max val="11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Photo + questions</c:v>
                </c:pt>
              </c:strCache>
            </c:strRef>
          </c:tx>
          <c:spPr>
            <a:solidFill>
              <a:srgbClr val="1F7A4D"/>
            </a:solidFill>
            <a:ln w="38100" cap="flat">
              <a:solidFill>
                <a:srgbClr val="1F7A4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10"/>
            <c:spPr>
              <a:solidFill>
                <a:srgbClr val="1F7A4D"/>
              </a:solidFill>
              <a:ln w="9525" cap="flat">
                <a:solidFill>
                  <a:srgbClr val="1F7A4D"/>
                </a:solidFill>
                <a:prstDash val="solid"/>
                <a:round/>
              </a:ln>
              <a:effectLst/>
            </c:spPr>
          </c:marker>
          <c:cat>
            <c:multiLvlStrRef>
              <c:f>Sheet1!$A$2:$A$4</c:f>
              <c:multiLvlStrCache>
                <c:ptCount val="3"/>
                <c:lvl>
                  <c:pt idx="0">
                    <c:v>100%</c:v>
                  </c:pt>
                  <c:pt idx="1">
                    <c:v>75%</c:v>
                  </c:pt>
                  <c:pt idx="2">
                    <c:v>50%</c:v>
                  </c:pt>
                </c:lvl>
              </c:multiLvlStrCache>
            </c:multiLvlStrRef>
          </c:cat>
          <c:val>
            <c:numRef>
              <c:f>Sheet1!$B$2:$B$4</c:f>
              <c:numCache>
                <c:formatCode>General</c:formatCode>
                <c:ptCount val="3"/>
                <c:pt idx="0">
                  <c:v>80.5</c:v>
                </c:pt>
                <c:pt idx="1">
                  <c:v>66.2</c:v>
                </c:pt>
                <c:pt idx="2">
                  <c:v>56.9</c:v>
                </c:pt>
              </c:numCache>
            </c:numRef>
          </c:val>
          <c:smooth val="0"/>
        </c:ser>
        <c:ser>
          <c:idx val="1"/>
          <c:order val="1"/>
          <c:tx>
            <c:strRef>
              <c:f>Sheet1!$C$1</c:f>
              <c:strCache>
                <c:ptCount val="1"/>
                <c:pt idx="0">
                  <c:v>Questions only</c:v>
                </c:pt>
              </c:strCache>
            </c:strRef>
          </c:tx>
          <c:spPr>
            <a:solidFill>
              <a:srgbClr val="8A958F"/>
            </a:solidFill>
            <a:ln w="38100" cap="flat">
              <a:solidFill>
                <a:srgbClr val="8A958F"/>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10"/>
            <c:spPr>
              <a:solidFill>
                <a:srgbClr val="8A958F"/>
              </a:solidFill>
              <a:ln w="9525" cap="flat">
                <a:solidFill>
                  <a:srgbClr val="8A958F"/>
                </a:solidFill>
                <a:prstDash val="solid"/>
                <a:round/>
              </a:ln>
              <a:effectLst/>
            </c:spPr>
          </c:marker>
          <c:cat>
            <c:multiLvlStrRef>
              <c:f>Sheet1!$A$2:$A$4</c:f>
              <c:multiLvlStrCache>
                <c:ptCount val="3"/>
                <c:lvl>
                  <c:pt idx="0">
                    <c:v>100%</c:v>
                  </c:pt>
                  <c:pt idx="1">
                    <c:v>75%</c:v>
                  </c:pt>
                  <c:pt idx="2">
                    <c:v>50%</c:v>
                  </c:pt>
                </c:lvl>
              </c:multiLvlStrCache>
            </c:multiLvlStrRef>
          </c:cat>
          <c:val>
            <c:numRef>
              <c:f>Sheet1!$C$2:$C$4</c:f>
              <c:numCache>
                <c:formatCode>General</c:formatCode>
                <c:ptCount val="3"/>
                <c:pt idx="0">
                  <c:v>71.4</c:v>
                </c:pt>
                <c:pt idx="1">
                  <c:v>54.3</c:v>
                </c:pt>
                <c:pt idx="2">
                  <c:v>40.2</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300" b="0" i="0" u="none" strike="noStrike">
                    <a:solidFill>
                      <a:srgbClr val="4A5751"/>
                    </a:solidFill>
                    <a:latin typeface="Calibri"/>
                  </a:defRPr>
                </a:pPr>
                <a:r>
                  <a:rPr sz="1300" b="0" i="0" u="none" strike="noStrike">
                    <a:solidFill>
                      <a:srgbClr val="4A5751"/>
                    </a:solidFill>
                    <a:latin typeface="Calibri"/>
                  </a:rPr>
                  <a:t>Share of the operator's answers that are right (the rest are random)</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4A5751"/>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12700" cap="flat">
              <a:solidFill>
                <a:srgbClr val="E1E0D9"/>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7B8781"/>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A575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Correct</c:v>
                </c:pt>
              </c:strCache>
            </c:strRef>
          </c:tx>
          <c:spPr>
            <a:solidFill>
              <a:srgbClr val="0CA30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Sheet1!$B$2:$B$9</c:f>
              <c:numCache>
                <c:formatCode>General</c:formatCode>
                <c:ptCount val="8"/>
                <c:pt idx="0">
                  <c:v>29</c:v>
                </c:pt>
                <c:pt idx="1">
                  <c:v>1</c:v>
                </c:pt>
                <c:pt idx="2">
                  <c:v>68</c:v>
                </c:pt>
                <c:pt idx="3">
                  <c:v>89</c:v>
                </c:pt>
                <c:pt idx="4">
                  <c:v>89</c:v>
                </c:pt>
                <c:pt idx="5">
                  <c:v>89</c:v>
                </c:pt>
                <c:pt idx="6">
                  <c:v>89</c:v>
                </c:pt>
                <c:pt idx="7">
                  <c:v>89</c:v>
                </c:pt>
              </c:numCache>
            </c:numRef>
          </c:val>
        </c:ser>
        <c:ser>
          <c:idx val="1"/>
          <c:order val="1"/>
          <c:tx>
            <c:strRef>
              <c:f>Sheet1!$C$1</c:f>
              <c:strCache>
                <c:ptCount val="1"/>
                <c:pt idx="0">
                  <c:v>Refused (safe)</c:v>
                </c:pt>
              </c:strCache>
            </c:strRef>
          </c:tx>
          <c:spPr>
            <a:solidFill>
              <a:srgbClr val="B9B8B3"/>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Sheet1!$C$2:$C$9</c:f>
              <c:numCache>
                <c:formatCode>General</c:formatCode>
                <c:ptCount val="8"/>
                <c:pt idx="0">
                  <c:v>57</c:v>
                </c:pt>
                <c:pt idx="1">
                  <c:v>97</c:v>
                </c:pt>
                <c:pt idx="2">
                  <c:v>0</c:v>
                </c:pt>
                <c:pt idx="3">
                  <c:v>0</c:v>
                </c:pt>
                <c:pt idx="4">
                  <c:v>0</c:v>
                </c:pt>
                <c:pt idx="5">
                  <c:v>0</c:v>
                </c:pt>
                <c:pt idx="6">
                  <c:v>0</c:v>
                </c:pt>
                <c:pt idx="7">
                  <c:v>0</c:v>
                </c:pt>
              </c:numCache>
            </c:numRef>
          </c:val>
        </c:ser>
        <c:ser>
          <c:idx val="2"/>
          <c:order val="2"/>
          <c:tx>
            <c:strRef>
              <c:f>Sheet1!$D$1</c:f>
              <c:strCache>
                <c:ptCount val="1"/>
                <c:pt idx="0">
                  <c:v>Missed</c:v>
                </c:pt>
              </c:strCache>
            </c:strRef>
          </c:tx>
          <c:spPr>
            <a:solidFill>
              <a:srgbClr val="FAB219"/>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Sheet1!$D$2:$D$9</c:f>
              <c:numCache>
                <c:formatCode>General</c:formatCode>
                <c:ptCount val="8"/>
                <c:pt idx="0">
                  <c:v>5</c:v>
                </c:pt>
                <c:pt idx="1">
                  <c:v>2</c:v>
                </c:pt>
                <c:pt idx="2">
                  <c:v>32</c:v>
                </c:pt>
                <c:pt idx="3">
                  <c:v>11</c:v>
                </c:pt>
                <c:pt idx="4">
                  <c:v>11</c:v>
                </c:pt>
                <c:pt idx="5">
                  <c:v>11</c:v>
                </c:pt>
                <c:pt idx="6">
                  <c:v>11</c:v>
                </c:pt>
                <c:pt idx="7">
                  <c:v>11</c:v>
                </c:pt>
              </c:numCache>
            </c:numRef>
          </c:val>
        </c:ser>
        <c:ser>
          <c:idx val="3"/>
          <c:order val="3"/>
          <c:tx>
            <c:strRef>
              <c:f>Sheet1!$E$1</c:f>
              <c:strCache>
                <c:ptCount val="1"/>
                <c:pt idx="0">
                  <c:v>False alarm</c:v>
                </c:pt>
              </c:strCache>
            </c:strRef>
          </c:tx>
          <c:spPr>
            <a:solidFill>
              <a:srgbClr val="D03B3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Sheet1!$A$2:$A$9</c:f>
              <c:multiLvlStrCache>
                <c:ptCount val="8"/>
                <c:lvl>
                  <c:pt idx="0">
                    <c:v>Board clutter (15 pads)</c:v>
                  </c:pt>
                  <c:pt idx="1">
                    <c:v>Glare (+180 grey levels)</c:v>
                  </c:pt>
                  <c:pt idx="2">
                    <c:v>Blur (σ 7 px)</c:v>
                  </c:pt>
                  <c:pt idx="3">
                    <c:v>Zoomed 1.6×</c:v>
                  </c:pt>
                  <c:pt idx="4">
                    <c:v>Phone photo on a desk, 9% tilt</c:v>
                  </c:pt>
                  <c:pt idx="5">
                    <c:v>JPEG quality 5</c:v>
                  </c:pt>
                  <c:pt idx="6">
                    <c:v>Sensor noise (σ 56)</c:v>
                  </c:pt>
                  <c:pt idx="7">
                    <c:v>Undamaged</c:v>
                  </c:pt>
                </c:lvl>
              </c:multiLvlStrCache>
            </c:multiLvlStrRef>
          </c:cat>
          <c:val>
            <c:numRef>
              <c:f>Sheet1!$E$2:$E$9</c:f>
              <c:numCache>
                <c:formatCode>General</c:formatCode>
                <c:ptCount val="8"/>
                <c:pt idx="0">
                  <c:v>9</c:v>
                </c:pt>
                <c:pt idx="1">
                  <c:v>0</c:v>
                </c:pt>
                <c:pt idx="2">
                  <c:v>0</c:v>
                </c:pt>
                <c:pt idx="3">
                  <c:v>0</c:v>
                </c:pt>
                <c:pt idx="4">
                  <c:v>0</c:v>
                </c:pt>
                <c:pt idx="5">
                  <c:v>0</c:v>
                </c:pt>
                <c:pt idx="6">
                  <c:v>0</c:v>
                </c:pt>
                <c:pt idx="7">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5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4A5751"/>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300">
              <a:solidFill>
                <a:srgbClr val="4A5751"/>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 Good morning. We built the AI Dispensing Defect Detective for NSW Automation's challenge. On the right is what it does with a phone photo: it lines the recipe up with the picture, finds three missing deposits, each followed by an oversized one — and recognises that pattern as carryover.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When dots come out wrong, an experienced engineer knows where to look. A new technician doesn't — inconsistent size alone has at least five plausible causes, and a wrong guess can mean stripping a valve for nothing. Worse: people change three things at once, the defect disappears, and nobody learns which change fixed it. NSW asked for faster preliminary troubleshooting that helps engineers, not replaces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The operator photographs the deposits — any framing, even a phone held at an angle. Five questions, then at most two follow-ups that the system picks because their answer would change its mind. Seven causes from NPL's dispensing guide are ranked, every percentage built from cited reasons. The operator looks first and changes one thing; the ranking updates live. A fresh photo verifies the fix, and only proved fixes teach the next case. It runs offline, uses no training data, and the LLM is optional.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This is where the AI is. After the five questions it doesn't just ask more — it simulates every answer to every candidate question and asks the one that could change its mind. Here: if the pressure gauge wanders, pressure-time variability jumps from 59 to 84 percent. And it says why a cause leads, the way the brief asked — 'occasional, comes and goes' points at air. On the right, every reason with its weight and the manual page. An LLM can run as a critic and disagree, but it never sets a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We measured confidence instead of asserting it. When the system shows three stars, the top cause is right 95 percent of the time; at one star, 52 — so the stars mean something an operator can act on. From one photo and five answers it gets the cause right 66 percent of the time even when a quarter of the answers are wrong; chance is 14. Every number comes from 6,600 synthetic photos run through the real code — synthetic, because no production photos were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s. A photo-based tool is only useful if it works on the photo people actually take. Our own stress test showed it only measured photos framed exactly like the recipe — so we fixed that. It now lines the recipe up with the photo — scale, rotation, even camera tilt — so a phone photo of the part on a desk measures the same as a perfect one: 89 percent, zero false alarms. You'll see it live in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 s. This is what makes the history trustworthy. A case closes CONFIRMED only when five things were proved — one cause confirmed, exactly one change aimed at it, re-measured against a before photo, in spec on everything a photo can check, and held for 20 shots. Anything less is filed as PLAUSIBLE or UNVERIFIED with the gap named, and doesn't teach future cases. And history can only lower confidence, never raise it — otherwise the system would grow more confident the longer it ran, right or not.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 On day one: a new technician's first check, ranked with reasons; an audit-ready report; and a history that only keeps proved fixes — all offline on a line PC with a phone camera. To pilot it: validate on real NSW photos, remove clutter with a bare-board reference, let engineers add causes as data, and open cases automatically when a line starts drifting. Let me show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'how do you decide confidence?' and 'what if the AI and the rules disagree?'.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'what does the photo add?' and 'what if the operator answers badly?'.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'what if the photo is bad?'. 20 images per condition per level, 6,000 damaged photos in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originality questions (rule c.2/c.3).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for 'what doesn't it do?' — say these before a judge has to find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image" Target="../media/image-3-9.png"/><Relationship Id="rId10" Type="http://schemas.openxmlformats.org/officeDocument/2006/relationships/slideLayout" Target="../slideLayouts/slideLayout1.xml"/><Relationship Id="rId11"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3B2E"/>
        </a:solidFill>
      </p:bgPr>
    </p:bg>
    <p:spTree>
      <p:nvGrpSpPr>
        <p:cNvPr id="1" name=""/>
        <p:cNvGrpSpPr/>
        <p:nvPr/>
      </p:nvGrpSpPr>
      <p:grpSpPr>
        <a:xfrm>
          <a:off x="0" y="0"/>
          <a:ext cx="0" cy="0"/>
          <a:chOff x="0" y="0"/>
          <a:chExt cx="0" cy="0"/>
        </a:xfrm>
      </p:grpSpPr>
      <p:sp>
        <p:nvSpPr>
          <p:cNvPr id="2" name="Text 0"/>
          <p:cNvSpPr txBox="1"/>
          <p:nvPr/>
        </p:nvSpPr>
        <p:spPr>
          <a:xfrm>
            <a:off x="640080" y="685800"/>
            <a:ext cx="5852160" cy="274320"/>
          </a:xfrm>
          <a:prstGeom prst="rect">
            <a:avLst/>
          </a:prstGeom>
          <a:noFill/>
          <a:ln/>
        </p:spPr>
        <p:txBody>
          <a:bodyPr wrap="square" lIns="0" tIns="0" rIns="0" bIns="0" rtlCol="0" anchor="ctr"/>
          <a:lstStyle/>
          <a:p>
            <a:pPr indent="0" marL="0">
              <a:buNone/>
            </a:pPr>
            <a:r>
              <a:rPr lang="en-US" sz="1100" b="1" spc="200" kern="0" dirty="0">
                <a:solidFill>
                  <a:srgbClr val="9CC9B1"/>
                </a:solidFill>
                <a:latin typeface="Calibri" pitchFamily="34" charset="0"/>
                <a:ea typeface="Calibri" pitchFamily="34" charset="-122"/>
                <a:cs typeface="Calibri" pitchFamily="34" charset="-120"/>
              </a:rPr>
              <a:t>AI HORIZON 2026  ·  CHALLENGE 2  ·  NSW AUTOMATION</a:t>
            </a:r>
            <a:endParaRPr lang="en-US" sz="1100" dirty="0"/>
          </a:p>
        </p:txBody>
      </p:sp>
      <p:sp>
        <p:nvSpPr>
          <p:cNvPr id="3" name="Text 1"/>
          <p:cNvSpPr txBox="1"/>
          <p:nvPr/>
        </p:nvSpPr>
        <p:spPr>
          <a:xfrm>
            <a:off x="640080" y="1188720"/>
            <a:ext cx="5669280" cy="1828800"/>
          </a:xfrm>
          <a:prstGeom prst="rect">
            <a:avLst/>
          </a:prstGeom>
          <a:noFill/>
          <a:ln/>
        </p:spPr>
        <p:txBody>
          <a:bodyPr wrap="square" lIns="0" tIns="0" rIns="0" bIns="0" rtlCol="0" anchor="t"/>
          <a:lstStyle/>
          <a:p>
            <a:pPr indent="0" marL="0">
              <a:buNone/>
            </a:pPr>
            <a:r>
              <a:rPr lang="en-US" sz="4600" b="1" dirty="0">
                <a:solidFill>
                  <a:srgbClr val="FFFFFF"/>
                </a:solidFill>
                <a:latin typeface="Cambria" pitchFamily="34" charset="0"/>
                <a:ea typeface="Cambria" pitchFamily="34" charset="-122"/>
                <a:cs typeface="Cambria" pitchFamily="34" charset="-120"/>
              </a:rPr>
              <a:t>AI Dispensing</a:t>
            </a:r>
            <a:endParaRPr lang="en-US" sz="4600" dirty="0"/>
          </a:p>
          <a:p>
            <a:pPr indent="0" marL="0">
              <a:buNone/>
            </a:pPr>
            <a:r>
              <a:rPr lang="en-US" sz="4600" b="1" dirty="0">
                <a:solidFill>
                  <a:srgbClr val="FFFFFF"/>
                </a:solidFill>
                <a:latin typeface="Cambria" pitchFamily="34" charset="0"/>
                <a:ea typeface="Cambria" pitchFamily="34" charset="-122"/>
                <a:cs typeface="Cambria" pitchFamily="34" charset="-120"/>
              </a:rPr>
              <a:t>Defect Detective</a:t>
            </a:r>
            <a:endParaRPr lang="en-US" sz="4600" dirty="0"/>
          </a:p>
        </p:txBody>
      </p:sp>
      <p:sp>
        <p:nvSpPr>
          <p:cNvPr id="4" name="Text 2"/>
          <p:cNvSpPr txBox="1"/>
          <p:nvPr/>
        </p:nvSpPr>
        <p:spPr>
          <a:xfrm>
            <a:off x="640080" y="3154680"/>
            <a:ext cx="5394960" cy="1005840"/>
          </a:xfrm>
          <a:prstGeom prst="rect">
            <a:avLst/>
          </a:prstGeom>
          <a:noFill/>
          <a:ln/>
        </p:spPr>
        <p:txBody>
          <a:bodyPr wrap="square" lIns="0" tIns="0" rIns="0" bIns="0" rtlCol="0" anchor="t"/>
          <a:lstStyle/>
          <a:p>
            <a:pPr indent="0" marL="0">
              <a:buNone/>
            </a:pPr>
            <a:r>
              <a:rPr lang="en-US" sz="1900" dirty="0">
                <a:solidFill>
                  <a:srgbClr val="D6E8DE"/>
                </a:solidFill>
                <a:latin typeface="Calibri" pitchFamily="34" charset="0"/>
                <a:ea typeface="Calibri" pitchFamily="34" charset="-122"/>
                <a:cs typeface="Calibri" pitchFamily="34" charset="-120"/>
              </a:rPr>
              <a:t>A phone photo and five questions → the likely cause, the reasons behind it, and what to check first.</a:t>
            </a:r>
            <a:endParaRPr lang="en-US" sz="1900" dirty="0"/>
          </a:p>
        </p:txBody>
      </p:sp>
      <p:sp>
        <p:nvSpPr>
          <p:cNvPr id="5" name="Text 3"/>
          <p:cNvSpPr txBox="1"/>
          <p:nvPr/>
        </p:nvSpPr>
        <p:spPr>
          <a:xfrm>
            <a:off x="640080" y="4206240"/>
            <a:ext cx="5394960" cy="685800"/>
          </a:xfrm>
          <a:prstGeom prst="rect">
            <a:avLst/>
          </a:prstGeom>
          <a:noFill/>
          <a:ln/>
        </p:spPr>
        <p:txBody>
          <a:bodyPr wrap="square" lIns="0" tIns="0" rIns="0" bIns="0" rtlCol="0" anchor="t"/>
          <a:lstStyle/>
          <a:p>
            <a:pPr indent="0" marL="0">
              <a:buNone/>
            </a:pPr>
            <a:r>
              <a:rPr lang="en-US" sz="1700" i="1" dirty="0">
                <a:solidFill>
                  <a:srgbClr val="E9B07C"/>
                </a:solidFill>
                <a:latin typeface="Calibri" pitchFamily="34" charset="0"/>
                <a:ea typeface="Calibri" pitchFamily="34" charset="-122"/>
                <a:cs typeface="Calibri" pitchFamily="34" charset="-120"/>
              </a:rPr>
              <a:t>And a case history that only learns from fixes that were proved.</a:t>
            </a:r>
            <a:endParaRPr lang="en-US" sz="1700" dirty="0"/>
          </a:p>
        </p:txBody>
      </p:sp>
      <p:sp>
        <p:nvSpPr>
          <p:cNvPr id="6" name="Text 4"/>
          <p:cNvSpPr txBox="1"/>
          <p:nvPr/>
        </p:nvSpPr>
        <p:spPr>
          <a:xfrm>
            <a:off x="640080" y="5806440"/>
            <a:ext cx="5029200" cy="320040"/>
          </a:xfrm>
          <a:prstGeom prst="rect">
            <a:avLst/>
          </a:prstGeom>
          <a:noFill/>
          <a:ln/>
        </p:spPr>
        <p:txBody>
          <a:bodyPr wrap="square" lIns="0" tIns="0" rIns="0" bIns="0" rtlCol="0" anchor="ctr"/>
          <a:lstStyle/>
          <a:p>
            <a:pPr indent="0" marL="0">
              <a:buNone/>
            </a:pPr>
            <a:r>
              <a:rPr lang="en-US" sz="1400" dirty="0">
                <a:solidFill>
                  <a:srgbClr val="9CC9B1"/>
                </a:solidFill>
                <a:latin typeface="Calibri" pitchFamily="34" charset="0"/>
                <a:ea typeface="Calibri" pitchFamily="34" charset="-122"/>
                <a:cs typeface="Calibri" pitchFamily="34" charset="-120"/>
              </a:rPr>
              <a:t>Calvin Khoo</a:t>
            </a:r>
            <a:endParaRPr lang="en-US" sz="1400" dirty="0"/>
          </a:p>
        </p:txBody>
      </p:sp>
      <p:pic>
        <p:nvPicPr>
          <p:cNvPr id="7" name="Image 0" descr="/tmp/claude-1000/-home-calvinkhoo-Documents-GitHub-AiHorizon/c835e5ff-80c6-48f7-837c-fd4d590a9643/scratchpad/deck/assets/phone_annotated_slide.png">    </p:cNvPr>
          <p:cNvPicPr>
            <a:picLocks noChangeAspect="1"/>
          </p:cNvPicPr>
          <p:nvPr/>
        </p:nvPicPr>
        <p:blipFill>
          <a:blip r:embed="rId1"/>
          <a:stretch>
            <a:fillRect/>
          </a:stretch>
        </p:blipFill>
        <p:spPr>
          <a:xfrm>
            <a:off x="6355080" y="960120"/>
            <a:ext cx="5303520" cy="3776472"/>
          </a:xfrm>
          <a:prstGeom prst="rect">
            <a:avLst/>
          </a:prstGeom>
          <a:effectLst>
            <a:outerShdw sx="100000" sy="100000" kx="0" ky="0" algn="bl" rotWithShape="0" blurRad="127000" dist="25400" dir="5400000">
              <a:srgbClr val="000000">
                <a:alpha val="16000"/>
              </a:srgbClr>
            </a:outerShdw>
          </a:effectLst>
        </p:spPr>
      </p:pic>
      <p:sp>
        <p:nvSpPr>
          <p:cNvPr id="8" name="Text 5"/>
          <p:cNvSpPr txBox="1"/>
          <p:nvPr/>
        </p:nvSpPr>
        <p:spPr>
          <a:xfrm>
            <a:off x="6355080" y="4864608"/>
            <a:ext cx="5303520" cy="640080"/>
          </a:xfrm>
          <a:prstGeom prst="rect">
            <a:avLst/>
          </a:prstGeom>
          <a:noFill/>
          <a:ln/>
        </p:spPr>
        <p:txBody>
          <a:bodyPr wrap="square" lIns="0" tIns="0" rIns="0" bIns="0" rtlCol="0" anchor="t"/>
          <a:lstStyle/>
          <a:p>
            <a:pPr indent="0" marL="0">
              <a:buNone/>
            </a:pPr>
            <a:r>
              <a:rPr lang="en-US" sz="1200" dirty="0">
                <a:solidFill>
                  <a:srgbClr val="9CC9B1"/>
                </a:solidFill>
                <a:latin typeface="Calibri" pitchFamily="34" charset="0"/>
                <a:ea typeface="Calibri" pitchFamily="34" charset="-122"/>
                <a:cs typeface="Calibri" pitchFamily="34" charset="-120"/>
              </a:rPr>
              <a:t>A phone photo of a printed sample card. Each missing deposit is followed by an oversized one: the system reads carryover, p = 0.010.</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THE PROBLEM</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Dispensing defects are diagnosed by experience — and experience doesn't scale</a:t>
            </a:r>
            <a:endParaRPr lang="en-US" sz="3000" dirty="0"/>
          </a:p>
        </p:txBody>
      </p:sp>
      <p:sp>
        <p:nvSpPr>
          <p:cNvPr id="4" name="Shape 2"/>
          <p:cNvSpPr/>
          <p:nvPr/>
        </p:nvSpPr>
        <p:spPr>
          <a:xfrm>
            <a:off x="548640" y="1920240"/>
            <a:ext cx="3520440" cy="3657600"/>
          </a:xfrm>
          <a:prstGeom prst="roundRect">
            <a:avLst>
              <a:gd name="adj" fmla="val 3117"/>
            </a:avLst>
          </a:prstGeom>
          <a:solidFill>
            <a:srgbClr val="EEF5F1"/>
          </a:solidFill>
          <a:ln w="12700">
            <a:solidFill>
              <a:srgbClr val="EEF5F1"/>
            </a:solidFill>
            <a:prstDash val="solid"/>
          </a:ln>
        </p:spPr>
      </p:sp>
      <p:sp>
        <p:nvSpPr>
          <p:cNvPr id="5" name="Shape 3"/>
          <p:cNvSpPr/>
          <p:nvPr/>
        </p:nvSpPr>
        <p:spPr>
          <a:xfrm>
            <a:off x="868680" y="2240280"/>
            <a:ext cx="731520" cy="731520"/>
          </a:xfrm>
          <a:prstGeom prst="ellipse">
            <a:avLst/>
          </a:prstGeom>
          <a:solidFill>
            <a:srgbClr val="1F7A4D"/>
          </a:solidFill>
          <a:ln w="12700">
            <a:solidFill>
              <a:srgbClr val="1F7A4D"/>
            </a:solidFill>
            <a:prstDash val="solid"/>
          </a:ln>
        </p:spPr>
      </p:sp>
      <p:pic>
        <p:nvPicPr>
          <p:cNvPr id="6" name="Image 0" descr="preencoded.png">    </p:cNvPr>
          <p:cNvPicPr>
            <a:picLocks noChangeAspect="1"/>
          </p:cNvPicPr>
          <p:nvPr/>
        </p:nvPicPr>
        <p:blipFill>
          <a:blip r:embed="rId1"/>
          <a:stretch>
            <a:fillRect/>
          </a:stretch>
        </p:blipFill>
        <p:spPr>
          <a:xfrm>
            <a:off x="1036930" y="2408530"/>
            <a:ext cx="395021" cy="395021"/>
          </a:xfrm>
          <a:prstGeom prst="rect">
            <a:avLst/>
          </a:prstGeom>
        </p:spPr>
      </p:pic>
      <p:sp>
        <p:nvSpPr>
          <p:cNvPr id="7" name="Text 4"/>
          <p:cNvSpPr txBox="1"/>
          <p:nvPr/>
        </p:nvSpPr>
        <p:spPr>
          <a:xfrm>
            <a:off x="868680" y="3154680"/>
            <a:ext cx="2880360" cy="731520"/>
          </a:xfrm>
          <a:prstGeom prst="rect">
            <a:avLst/>
          </a:prstGeom>
          <a:noFill/>
          <a:ln/>
        </p:spPr>
        <p:txBody>
          <a:bodyPr wrap="square" lIns="0" tIns="0" rIns="0" bIns="0" rtlCol="0" anchor="t"/>
          <a:lstStyle/>
          <a:p>
            <a:pPr indent="0" marL="0">
              <a:buNone/>
            </a:pPr>
            <a:r>
              <a:rPr lang="en-US" sz="2000" b="1" dirty="0">
                <a:solidFill>
                  <a:srgbClr val="14201B"/>
                </a:solidFill>
                <a:latin typeface="Calibri" pitchFamily="34" charset="0"/>
                <a:ea typeface="Calibri" pitchFamily="34" charset="-122"/>
                <a:cs typeface="Calibri" pitchFamily="34" charset="-120"/>
              </a:rPr>
              <a:t>New technicians guess</a:t>
            </a:r>
            <a:endParaRPr lang="en-US" sz="2000" dirty="0"/>
          </a:p>
        </p:txBody>
      </p:sp>
      <p:sp>
        <p:nvSpPr>
          <p:cNvPr id="8" name="Text 5"/>
          <p:cNvSpPr txBox="1"/>
          <p:nvPr/>
        </p:nvSpPr>
        <p:spPr>
          <a:xfrm>
            <a:off x="868680" y="3931920"/>
            <a:ext cx="2880360" cy="1463040"/>
          </a:xfrm>
          <a:prstGeom prst="rect">
            <a:avLst/>
          </a:prstGeom>
          <a:noFill/>
          <a:ln/>
        </p:spPr>
        <p:txBody>
          <a:bodyPr wrap="square" lIns="0" tIns="0" rIns="0" bIns="0" rtlCol="0" anchor="t"/>
          <a:lstStyle/>
          <a:p>
            <a:pPr indent="0" marL="0">
              <a:buNone/>
            </a:pPr>
            <a:r>
              <a:rPr lang="en-US" sz="1500" dirty="0">
                <a:solidFill>
                  <a:srgbClr val="4A5751"/>
                </a:solidFill>
                <a:latin typeface="Calibri" pitchFamily="34" charset="0"/>
                <a:ea typeface="Calibri" pitchFamily="34" charset="-122"/>
                <a:cs typeface="Calibri" pitchFamily="34" charset="-120"/>
              </a:rPr>
              <a:t>Inconsistent dots have at least five plausible causes. Without the experience to tell them apart, the first check is a hunch — and a wrong strip-down costs a shift.</a:t>
            </a:r>
            <a:endParaRPr lang="en-US" sz="1500" dirty="0"/>
          </a:p>
        </p:txBody>
      </p:sp>
      <p:sp>
        <p:nvSpPr>
          <p:cNvPr id="9" name="Shape 6"/>
          <p:cNvSpPr/>
          <p:nvPr/>
        </p:nvSpPr>
        <p:spPr>
          <a:xfrm>
            <a:off x="4325112" y="1920240"/>
            <a:ext cx="3520440" cy="3657600"/>
          </a:xfrm>
          <a:prstGeom prst="roundRect">
            <a:avLst>
              <a:gd name="adj" fmla="val 3117"/>
            </a:avLst>
          </a:prstGeom>
          <a:solidFill>
            <a:srgbClr val="EEF5F1"/>
          </a:solidFill>
          <a:ln w="12700">
            <a:solidFill>
              <a:srgbClr val="EEF5F1"/>
            </a:solidFill>
            <a:prstDash val="solid"/>
          </a:ln>
        </p:spPr>
      </p:sp>
      <p:sp>
        <p:nvSpPr>
          <p:cNvPr id="10" name="Shape 7"/>
          <p:cNvSpPr/>
          <p:nvPr/>
        </p:nvSpPr>
        <p:spPr>
          <a:xfrm>
            <a:off x="4645152" y="2240280"/>
            <a:ext cx="731520" cy="731520"/>
          </a:xfrm>
          <a:prstGeom prst="ellipse">
            <a:avLst/>
          </a:prstGeom>
          <a:solidFill>
            <a:srgbClr val="1F7A4D"/>
          </a:solidFill>
          <a:ln w="12700">
            <a:solidFill>
              <a:srgbClr val="1F7A4D"/>
            </a:solidFill>
            <a:prstDash val="solid"/>
          </a:ln>
        </p:spPr>
      </p:sp>
      <p:pic>
        <p:nvPicPr>
          <p:cNvPr id="11" name="Image 1" descr="preencoded.png">    </p:cNvPr>
          <p:cNvPicPr>
            <a:picLocks noChangeAspect="1"/>
          </p:cNvPicPr>
          <p:nvPr/>
        </p:nvPicPr>
        <p:blipFill>
          <a:blip r:embed="rId2"/>
          <a:stretch>
            <a:fillRect/>
          </a:stretch>
        </p:blipFill>
        <p:spPr>
          <a:xfrm>
            <a:off x="4813402" y="2408530"/>
            <a:ext cx="395021" cy="395021"/>
          </a:xfrm>
          <a:prstGeom prst="rect">
            <a:avLst/>
          </a:prstGeom>
        </p:spPr>
      </p:pic>
      <p:sp>
        <p:nvSpPr>
          <p:cNvPr id="12" name="Text 8"/>
          <p:cNvSpPr txBox="1"/>
          <p:nvPr/>
        </p:nvSpPr>
        <p:spPr>
          <a:xfrm>
            <a:off x="4645152" y="3154680"/>
            <a:ext cx="2880360" cy="731520"/>
          </a:xfrm>
          <a:prstGeom prst="rect">
            <a:avLst/>
          </a:prstGeom>
          <a:noFill/>
          <a:ln/>
        </p:spPr>
        <p:txBody>
          <a:bodyPr wrap="square" lIns="0" tIns="0" rIns="0" bIns="0" rtlCol="0" anchor="t"/>
          <a:lstStyle/>
          <a:p>
            <a:pPr indent="0" marL="0">
              <a:buNone/>
            </a:pPr>
            <a:r>
              <a:rPr lang="en-US" sz="2000" b="1" dirty="0">
                <a:solidFill>
                  <a:srgbClr val="14201B"/>
                </a:solidFill>
                <a:latin typeface="Calibri" pitchFamily="34" charset="0"/>
                <a:ea typeface="Calibri" pitchFamily="34" charset="-122"/>
                <a:cs typeface="Calibri" pitchFamily="34" charset="-120"/>
              </a:rPr>
              <a:t>Three changes at once</a:t>
            </a:r>
            <a:endParaRPr lang="en-US" sz="2000" dirty="0"/>
          </a:p>
        </p:txBody>
      </p:sp>
      <p:sp>
        <p:nvSpPr>
          <p:cNvPr id="13" name="Text 9"/>
          <p:cNvSpPr txBox="1"/>
          <p:nvPr/>
        </p:nvSpPr>
        <p:spPr>
          <a:xfrm>
            <a:off x="4645152" y="3931920"/>
            <a:ext cx="2880360" cy="1463040"/>
          </a:xfrm>
          <a:prstGeom prst="rect">
            <a:avLst/>
          </a:prstGeom>
          <a:noFill/>
          <a:ln/>
        </p:spPr>
        <p:txBody>
          <a:bodyPr wrap="square" lIns="0" tIns="0" rIns="0" bIns="0" rtlCol="0" anchor="t"/>
          <a:lstStyle/>
          <a:p>
            <a:pPr indent="0" marL="0">
              <a:buNone/>
            </a:pPr>
            <a:r>
              <a:rPr lang="en-US" sz="1500" dirty="0">
                <a:solidFill>
                  <a:srgbClr val="4A5751"/>
                </a:solidFill>
                <a:latin typeface="Calibri" pitchFamily="34" charset="0"/>
                <a:ea typeface="Calibri" pitchFamily="34" charset="-122"/>
                <a:cs typeface="Calibri" pitchFamily="34" charset="-120"/>
              </a:rPr>
              <a:t>Re-prime, raise the pressure, swap the needle: the defect goes away, and nobody can say which change fixed it. The next case starts from zero.</a:t>
            </a:r>
            <a:endParaRPr lang="en-US" sz="1500" dirty="0"/>
          </a:p>
        </p:txBody>
      </p:sp>
      <p:sp>
        <p:nvSpPr>
          <p:cNvPr id="14" name="Shape 10"/>
          <p:cNvSpPr/>
          <p:nvPr/>
        </p:nvSpPr>
        <p:spPr>
          <a:xfrm>
            <a:off x="8101584" y="1920240"/>
            <a:ext cx="3520440" cy="3657600"/>
          </a:xfrm>
          <a:prstGeom prst="roundRect">
            <a:avLst>
              <a:gd name="adj" fmla="val 3117"/>
            </a:avLst>
          </a:prstGeom>
          <a:solidFill>
            <a:srgbClr val="EEF5F1"/>
          </a:solidFill>
          <a:ln w="12700">
            <a:solidFill>
              <a:srgbClr val="EEF5F1"/>
            </a:solidFill>
            <a:prstDash val="solid"/>
          </a:ln>
        </p:spPr>
      </p:sp>
      <p:sp>
        <p:nvSpPr>
          <p:cNvPr id="15" name="Shape 11"/>
          <p:cNvSpPr/>
          <p:nvPr/>
        </p:nvSpPr>
        <p:spPr>
          <a:xfrm>
            <a:off x="8421624" y="2240280"/>
            <a:ext cx="731520" cy="731520"/>
          </a:xfrm>
          <a:prstGeom prst="ellipse">
            <a:avLst/>
          </a:prstGeom>
          <a:solidFill>
            <a:srgbClr val="1F7A4D"/>
          </a:solidFill>
          <a:ln w="12700">
            <a:solidFill>
              <a:srgbClr val="1F7A4D"/>
            </a:solidFill>
            <a:prstDash val="solid"/>
          </a:ln>
        </p:spPr>
      </p:sp>
      <p:pic>
        <p:nvPicPr>
          <p:cNvPr id="16" name="Image 2" descr="preencoded.png">    </p:cNvPr>
          <p:cNvPicPr>
            <a:picLocks noChangeAspect="1"/>
          </p:cNvPicPr>
          <p:nvPr/>
        </p:nvPicPr>
        <p:blipFill>
          <a:blip r:embed="rId3"/>
          <a:stretch>
            <a:fillRect/>
          </a:stretch>
        </p:blipFill>
        <p:spPr>
          <a:xfrm>
            <a:off x="8589874" y="2408530"/>
            <a:ext cx="395021" cy="395021"/>
          </a:xfrm>
          <a:prstGeom prst="rect">
            <a:avLst/>
          </a:prstGeom>
        </p:spPr>
      </p:pic>
      <p:sp>
        <p:nvSpPr>
          <p:cNvPr id="17" name="Text 12"/>
          <p:cNvSpPr txBox="1"/>
          <p:nvPr/>
        </p:nvSpPr>
        <p:spPr>
          <a:xfrm>
            <a:off x="8421624" y="3154680"/>
            <a:ext cx="2880360" cy="731520"/>
          </a:xfrm>
          <a:prstGeom prst="rect">
            <a:avLst/>
          </a:prstGeom>
          <a:noFill/>
          <a:ln/>
        </p:spPr>
        <p:txBody>
          <a:bodyPr wrap="square" lIns="0" tIns="0" rIns="0" bIns="0" rtlCol="0" anchor="t"/>
          <a:lstStyle/>
          <a:p>
            <a:pPr indent="0" marL="0">
              <a:buNone/>
            </a:pPr>
            <a:r>
              <a:rPr lang="en-US" sz="2000" b="1" dirty="0">
                <a:solidFill>
                  <a:srgbClr val="14201B"/>
                </a:solidFill>
                <a:latin typeface="Calibri" pitchFamily="34" charset="0"/>
                <a:ea typeface="Calibri" pitchFamily="34" charset="-122"/>
                <a:cs typeface="Calibri" pitchFamily="34" charset="-120"/>
              </a:rPr>
              <a:t>Knowledge walks out the door</a:t>
            </a:r>
            <a:endParaRPr lang="en-US" sz="2000" dirty="0"/>
          </a:p>
        </p:txBody>
      </p:sp>
      <p:sp>
        <p:nvSpPr>
          <p:cNvPr id="18" name="Text 13"/>
          <p:cNvSpPr txBox="1"/>
          <p:nvPr/>
        </p:nvSpPr>
        <p:spPr>
          <a:xfrm>
            <a:off x="8421624" y="3931920"/>
            <a:ext cx="2880360" cy="1463040"/>
          </a:xfrm>
          <a:prstGeom prst="rect">
            <a:avLst/>
          </a:prstGeom>
          <a:noFill/>
          <a:ln/>
        </p:spPr>
        <p:txBody>
          <a:bodyPr wrap="square" lIns="0" tIns="0" rIns="0" bIns="0" rtlCol="0" anchor="t"/>
          <a:lstStyle/>
          <a:p>
            <a:pPr indent="0" marL="0">
              <a:buNone/>
            </a:pPr>
            <a:r>
              <a:rPr lang="en-US" sz="1500" dirty="0">
                <a:solidFill>
                  <a:srgbClr val="4A5751"/>
                </a:solidFill>
                <a:latin typeface="Calibri" pitchFamily="34" charset="0"/>
                <a:ea typeface="Calibri" pitchFamily="34" charset="-122"/>
                <a:cs typeface="Calibri" pitchFamily="34" charset="-120"/>
              </a:rPr>
              <a:t>What the senior engineer knows isn't recorded anywhere the next case can use it.</a:t>
            </a:r>
            <a:endParaRPr lang="en-US" sz="1500" dirty="0"/>
          </a:p>
        </p:txBody>
      </p:sp>
      <p:sp>
        <p:nvSpPr>
          <p:cNvPr id="19" name="Text 14"/>
          <p:cNvSpPr txBox="1"/>
          <p:nvPr/>
        </p:nvSpPr>
        <p:spPr>
          <a:xfrm>
            <a:off x="548640" y="594360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NSW Automation's brief: help engineers and technicians perform faster preliminary troubleshooting — not replace them.</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HOW IT WORKS</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One guided session, from a phone photo to a proved fix</a:t>
            </a:r>
            <a:endParaRPr lang="en-US" sz="3000" dirty="0"/>
          </a:p>
        </p:txBody>
      </p:sp>
      <p:sp>
        <p:nvSpPr>
          <p:cNvPr id="4" name="Shape 2"/>
          <p:cNvSpPr/>
          <p:nvPr/>
        </p:nvSpPr>
        <p:spPr>
          <a:xfrm>
            <a:off x="2017243" y="2446020"/>
            <a:ext cx="760933" cy="0"/>
          </a:xfrm>
          <a:prstGeom prst="line">
            <a:avLst/>
          </a:prstGeom>
          <a:noFill/>
          <a:ln w="25400">
            <a:solidFill>
              <a:srgbClr val="6FB08C"/>
            </a:solidFill>
            <a:prstDash val="solid"/>
            <a:tailEnd type="triangle"/>
          </a:ln>
        </p:spPr>
      </p:sp>
      <p:sp>
        <p:nvSpPr>
          <p:cNvPr id="5" name="Shape 3"/>
          <p:cNvSpPr/>
          <p:nvPr/>
        </p:nvSpPr>
        <p:spPr>
          <a:xfrm>
            <a:off x="1038835" y="2011680"/>
            <a:ext cx="868680" cy="868680"/>
          </a:xfrm>
          <a:prstGeom prst="ellipse">
            <a:avLst/>
          </a:prstGeom>
          <a:solidFill>
            <a:srgbClr val="1F7A4D"/>
          </a:solidFill>
          <a:ln w="12700">
            <a:solidFill>
              <a:srgbClr val="1F7A4D"/>
            </a:solidFill>
            <a:prstDash val="solid"/>
          </a:ln>
        </p:spPr>
      </p:sp>
      <p:pic>
        <p:nvPicPr>
          <p:cNvPr id="6" name="Image 0" descr="preencoded.png">    </p:cNvPr>
          <p:cNvPicPr>
            <a:picLocks noChangeAspect="1"/>
          </p:cNvPicPr>
          <p:nvPr/>
        </p:nvPicPr>
        <p:blipFill>
          <a:blip r:embed="rId1"/>
          <a:stretch>
            <a:fillRect/>
          </a:stretch>
        </p:blipFill>
        <p:spPr>
          <a:xfrm>
            <a:off x="1238631" y="2211476"/>
            <a:ext cx="469087" cy="469087"/>
          </a:xfrm>
          <a:prstGeom prst="rect">
            <a:avLst/>
          </a:prstGeom>
        </p:spPr>
      </p:pic>
      <p:sp>
        <p:nvSpPr>
          <p:cNvPr id="7" name="Text 4"/>
          <p:cNvSpPr txBox="1"/>
          <p:nvPr/>
        </p:nvSpPr>
        <p:spPr>
          <a:xfrm>
            <a:off x="621792" y="310896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1  Photograph</a:t>
            </a:r>
            <a:endParaRPr lang="en-US" sz="1800" dirty="0"/>
          </a:p>
        </p:txBody>
      </p:sp>
      <p:sp>
        <p:nvSpPr>
          <p:cNvPr id="8" name="Text 5"/>
          <p:cNvSpPr txBox="1"/>
          <p:nvPr/>
        </p:nvSpPr>
        <p:spPr>
          <a:xfrm>
            <a:off x="658368" y="353872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Measures size spread, shape and missing dots — however the photo is framed</a:t>
            </a:r>
            <a:endParaRPr lang="en-US" sz="1350" dirty="0"/>
          </a:p>
        </p:txBody>
      </p:sp>
      <p:sp>
        <p:nvSpPr>
          <p:cNvPr id="9" name="Shape 6"/>
          <p:cNvSpPr/>
          <p:nvPr/>
        </p:nvSpPr>
        <p:spPr>
          <a:xfrm>
            <a:off x="3866312" y="2446020"/>
            <a:ext cx="760933" cy="0"/>
          </a:xfrm>
          <a:prstGeom prst="line">
            <a:avLst/>
          </a:prstGeom>
          <a:noFill/>
          <a:ln w="25400">
            <a:solidFill>
              <a:srgbClr val="6FB08C"/>
            </a:solidFill>
            <a:prstDash val="solid"/>
            <a:tailEnd type="triangle"/>
          </a:ln>
        </p:spPr>
      </p:sp>
      <p:sp>
        <p:nvSpPr>
          <p:cNvPr id="10" name="Shape 7"/>
          <p:cNvSpPr/>
          <p:nvPr/>
        </p:nvSpPr>
        <p:spPr>
          <a:xfrm>
            <a:off x="2887904" y="2011680"/>
            <a:ext cx="868680" cy="868680"/>
          </a:xfrm>
          <a:prstGeom prst="ellipse">
            <a:avLst/>
          </a:prstGeom>
          <a:solidFill>
            <a:srgbClr val="1F7A4D"/>
          </a:solidFill>
          <a:ln w="12700">
            <a:solidFill>
              <a:srgbClr val="1F7A4D"/>
            </a:solidFill>
            <a:prstDash val="solid"/>
          </a:ln>
        </p:spPr>
      </p:sp>
      <p:pic>
        <p:nvPicPr>
          <p:cNvPr id="11" name="Image 1" descr="preencoded.png">    </p:cNvPr>
          <p:cNvPicPr>
            <a:picLocks noChangeAspect="1"/>
          </p:cNvPicPr>
          <p:nvPr/>
        </p:nvPicPr>
        <p:blipFill>
          <a:blip r:embed="rId2"/>
          <a:stretch>
            <a:fillRect/>
          </a:stretch>
        </p:blipFill>
        <p:spPr>
          <a:xfrm>
            <a:off x="3087700" y="2211476"/>
            <a:ext cx="469087" cy="469087"/>
          </a:xfrm>
          <a:prstGeom prst="rect">
            <a:avLst/>
          </a:prstGeom>
        </p:spPr>
      </p:pic>
      <p:sp>
        <p:nvSpPr>
          <p:cNvPr id="12" name="Text 8"/>
          <p:cNvSpPr txBox="1"/>
          <p:nvPr/>
        </p:nvSpPr>
        <p:spPr>
          <a:xfrm>
            <a:off x="2470861" y="310896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2  Interview</a:t>
            </a:r>
            <a:endParaRPr lang="en-US" sz="1800" dirty="0"/>
          </a:p>
        </p:txBody>
      </p:sp>
      <p:sp>
        <p:nvSpPr>
          <p:cNvPr id="13" name="Text 9"/>
          <p:cNvSpPr txBox="1"/>
          <p:nvPr/>
        </p:nvSpPr>
        <p:spPr>
          <a:xfrm>
            <a:off x="2507437" y="353872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Five questions, then follow-ups picked because their answer changes the ranking</a:t>
            </a:r>
            <a:endParaRPr lang="en-US" sz="1350" dirty="0"/>
          </a:p>
        </p:txBody>
      </p:sp>
      <p:sp>
        <p:nvSpPr>
          <p:cNvPr id="14" name="Shape 10"/>
          <p:cNvSpPr/>
          <p:nvPr/>
        </p:nvSpPr>
        <p:spPr>
          <a:xfrm>
            <a:off x="5715381" y="2446020"/>
            <a:ext cx="760933" cy="0"/>
          </a:xfrm>
          <a:prstGeom prst="line">
            <a:avLst/>
          </a:prstGeom>
          <a:noFill/>
          <a:ln w="25400">
            <a:solidFill>
              <a:srgbClr val="6FB08C"/>
            </a:solidFill>
            <a:prstDash val="solid"/>
            <a:tailEnd type="triangle"/>
          </a:ln>
        </p:spPr>
      </p:sp>
      <p:sp>
        <p:nvSpPr>
          <p:cNvPr id="15" name="Shape 11"/>
          <p:cNvSpPr/>
          <p:nvPr/>
        </p:nvSpPr>
        <p:spPr>
          <a:xfrm>
            <a:off x="4736973" y="2011680"/>
            <a:ext cx="868680" cy="868680"/>
          </a:xfrm>
          <a:prstGeom prst="ellipse">
            <a:avLst/>
          </a:prstGeom>
          <a:solidFill>
            <a:srgbClr val="1F7A4D"/>
          </a:solidFill>
          <a:ln w="12700">
            <a:solidFill>
              <a:srgbClr val="1F7A4D"/>
            </a:solidFill>
            <a:prstDash val="solid"/>
          </a:ln>
        </p:spPr>
      </p:sp>
      <p:pic>
        <p:nvPicPr>
          <p:cNvPr id="16" name="Image 2" descr="preencoded.png">    </p:cNvPr>
          <p:cNvPicPr>
            <a:picLocks noChangeAspect="1"/>
          </p:cNvPicPr>
          <p:nvPr/>
        </p:nvPicPr>
        <p:blipFill>
          <a:blip r:embed="rId3"/>
          <a:stretch>
            <a:fillRect/>
          </a:stretch>
        </p:blipFill>
        <p:spPr>
          <a:xfrm>
            <a:off x="4936769" y="2211476"/>
            <a:ext cx="469087" cy="469087"/>
          </a:xfrm>
          <a:prstGeom prst="rect">
            <a:avLst/>
          </a:prstGeom>
        </p:spPr>
      </p:pic>
      <p:sp>
        <p:nvSpPr>
          <p:cNvPr id="17" name="Text 12"/>
          <p:cNvSpPr txBox="1"/>
          <p:nvPr/>
        </p:nvSpPr>
        <p:spPr>
          <a:xfrm>
            <a:off x="4319930" y="310896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3  Rank</a:t>
            </a:r>
            <a:endParaRPr lang="en-US" sz="1800" dirty="0"/>
          </a:p>
        </p:txBody>
      </p:sp>
      <p:sp>
        <p:nvSpPr>
          <p:cNvPr id="18" name="Text 13"/>
          <p:cNvSpPr txBox="1"/>
          <p:nvPr/>
        </p:nvSpPr>
        <p:spPr>
          <a:xfrm>
            <a:off x="4356506" y="353872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Seven causes from the manual — every % built from cited reasons</a:t>
            </a:r>
            <a:endParaRPr lang="en-US" sz="1350" dirty="0"/>
          </a:p>
        </p:txBody>
      </p:sp>
      <p:sp>
        <p:nvSpPr>
          <p:cNvPr id="19" name="Shape 14"/>
          <p:cNvSpPr/>
          <p:nvPr/>
        </p:nvSpPr>
        <p:spPr>
          <a:xfrm>
            <a:off x="7564450" y="2446020"/>
            <a:ext cx="760933" cy="0"/>
          </a:xfrm>
          <a:prstGeom prst="line">
            <a:avLst/>
          </a:prstGeom>
          <a:noFill/>
          <a:ln w="25400">
            <a:solidFill>
              <a:srgbClr val="6FB08C"/>
            </a:solidFill>
            <a:prstDash val="solid"/>
            <a:tailEnd type="triangle"/>
          </a:ln>
        </p:spPr>
      </p:sp>
      <p:sp>
        <p:nvSpPr>
          <p:cNvPr id="20" name="Shape 15"/>
          <p:cNvSpPr/>
          <p:nvPr/>
        </p:nvSpPr>
        <p:spPr>
          <a:xfrm>
            <a:off x="6586042" y="2011680"/>
            <a:ext cx="868680" cy="868680"/>
          </a:xfrm>
          <a:prstGeom prst="ellipse">
            <a:avLst/>
          </a:prstGeom>
          <a:solidFill>
            <a:srgbClr val="1F7A4D"/>
          </a:solidFill>
          <a:ln w="12700">
            <a:solidFill>
              <a:srgbClr val="1F7A4D"/>
            </a:solidFill>
            <a:prstDash val="solid"/>
          </a:ln>
        </p:spPr>
      </p:sp>
      <p:pic>
        <p:nvPicPr>
          <p:cNvPr id="21" name="Image 3" descr="preencoded.png">    </p:cNvPr>
          <p:cNvPicPr>
            <a:picLocks noChangeAspect="1"/>
          </p:cNvPicPr>
          <p:nvPr/>
        </p:nvPicPr>
        <p:blipFill>
          <a:blip r:embed="rId4"/>
          <a:stretch>
            <a:fillRect/>
          </a:stretch>
        </p:blipFill>
        <p:spPr>
          <a:xfrm>
            <a:off x="6785839" y="2211476"/>
            <a:ext cx="469087" cy="469087"/>
          </a:xfrm>
          <a:prstGeom prst="rect">
            <a:avLst/>
          </a:prstGeom>
        </p:spPr>
      </p:pic>
      <p:sp>
        <p:nvSpPr>
          <p:cNvPr id="22" name="Text 16"/>
          <p:cNvSpPr txBox="1"/>
          <p:nvPr/>
        </p:nvSpPr>
        <p:spPr>
          <a:xfrm>
            <a:off x="6169000" y="310896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4  Check</a:t>
            </a:r>
            <a:endParaRPr lang="en-US" sz="1800" dirty="0"/>
          </a:p>
        </p:txBody>
      </p:sp>
      <p:sp>
        <p:nvSpPr>
          <p:cNvPr id="23" name="Text 17"/>
          <p:cNvSpPr txBox="1"/>
          <p:nvPr/>
        </p:nvSpPr>
        <p:spPr>
          <a:xfrm>
            <a:off x="6205576" y="353872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Look first, then change one thing; the ranking updates live</a:t>
            </a:r>
            <a:endParaRPr lang="en-US" sz="1350" dirty="0"/>
          </a:p>
        </p:txBody>
      </p:sp>
      <p:sp>
        <p:nvSpPr>
          <p:cNvPr id="24" name="Shape 18"/>
          <p:cNvSpPr/>
          <p:nvPr/>
        </p:nvSpPr>
        <p:spPr>
          <a:xfrm>
            <a:off x="9413519" y="2446020"/>
            <a:ext cx="760933" cy="0"/>
          </a:xfrm>
          <a:prstGeom prst="line">
            <a:avLst/>
          </a:prstGeom>
          <a:noFill/>
          <a:ln w="25400">
            <a:solidFill>
              <a:srgbClr val="6FB08C"/>
            </a:solidFill>
            <a:prstDash val="solid"/>
            <a:tailEnd type="triangle"/>
          </a:ln>
        </p:spPr>
      </p:sp>
      <p:sp>
        <p:nvSpPr>
          <p:cNvPr id="25" name="Shape 19"/>
          <p:cNvSpPr/>
          <p:nvPr/>
        </p:nvSpPr>
        <p:spPr>
          <a:xfrm>
            <a:off x="8435111" y="2011680"/>
            <a:ext cx="868680" cy="868680"/>
          </a:xfrm>
          <a:prstGeom prst="ellipse">
            <a:avLst/>
          </a:prstGeom>
          <a:solidFill>
            <a:srgbClr val="1F7A4D"/>
          </a:solidFill>
          <a:ln w="12700">
            <a:solidFill>
              <a:srgbClr val="1F7A4D"/>
            </a:solidFill>
            <a:prstDash val="solid"/>
          </a:ln>
        </p:spPr>
      </p:sp>
      <p:pic>
        <p:nvPicPr>
          <p:cNvPr id="26" name="Image 4" descr="preencoded.png">    </p:cNvPr>
          <p:cNvPicPr>
            <a:picLocks noChangeAspect="1"/>
          </p:cNvPicPr>
          <p:nvPr/>
        </p:nvPicPr>
        <p:blipFill>
          <a:blip r:embed="rId5"/>
          <a:stretch>
            <a:fillRect/>
          </a:stretch>
        </p:blipFill>
        <p:spPr>
          <a:xfrm>
            <a:off x="8634908" y="2211476"/>
            <a:ext cx="469087" cy="469087"/>
          </a:xfrm>
          <a:prstGeom prst="rect">
            <a:avLst/>
          </a:prstGeom>
        </p:spPr>
      </p:pic>
      <p:sp>
        <p:nvSpPr>
          <p:cNvPr id="27" name="Text 20"/>
          <p:cNvSpPr txBox="1"/>
          <p:nvPr/>
        </p:nvSpPr>
        <p:spPr>
          <a:xfrm>
            <a:off x="8018069" y="310896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5  Verify</a:t>
            </a:r>
            <a:endParaRPr lang="en-US" sz="1800" dirty="0"/>
          </a:p>
        </p:txBody>
      </p:sp>
      <p:sp>
        <p:nvSpPr>
          <p:cNvPr id="28" name="Text 21"/>
          <p:cNvSpPr txBox="1"/>
          <p:nvPr/>
        </p:nvSpPr>
        <p:spPr>
          <a:xfrm>
            <a:off x="8054645" y="353872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Re-photograph: in spec on every check, held 20+ shots</a:t>
            </a:r>
            <a:endParaRPr lang="en-US" sz="1350" dirty="0"/>
          </a:p>
        </p:txBody>
      </p:sp>
      <p:sp>
        <p:nvSpPr>
          <p:cNvPr id="29" name="Shape 22"/>
          <p:cNvSpPr/>
          <p:nvPr/>
        </p:nvSpPr>
        <p:spPr>
          <a:xfrm>
            <a:off x="10284181" y="2011680"/>
            <a:ext cx="868680" cy="868680"/>
          </a:xfrm>
          <a:prstGeom prst="ellipse">
            <a:avLst/>
          </a:prstGeom>
          <a:solidFill>
            <a:srgbClr val="C8742B"/>
          </a:solidFill>
          <a:ln w="12700">
            <a:solidFill>
              <a:srgbClr val="C8742B"/>
            </a:solidFill>
            <a:prstDash val="solid"/>
          </a:ln>
        </p:spPr>
      </p:sp>
      <p:pic>
        <p:nvPicPr>
          <p:cNvPr id="30" name="Image 5" descr="preencoded.png">    </p:cNvPr>
          <p:cNvPicPr>
            <a:picLocks noChangeAspect="1"/>
          </p:cNvPicPr>
          <p:nvPr/>
        </p:nvPicPr>
        <p:blipFill>
          <a:blip r:embed="rId6"/>
          <a:stretch>
            <a:fillRect/>
          </a:stretch>
        </p:blipFill>
        <p:spPr>
          <a:xfrm>
            <a:off x="10483977" y="2211476"/>
            <a:ext cx="469087" cy="469087"/>
          </a:xfrm>
          <a:prstGeom prst="rect">
            <a:avLst/>
          </a:prstGeom>
        </p:spPr>
      </p:pic>
      <p:sp>
        <p:nvSpPr>
          <p:cNvPr id="31" name="Text 23"/>
          <p:cNvSpPr txBox="1"/>
          <p:nvPr/>
        </p:nvSpPr>
        <p:spPr>
          <a:xfrm>
            <a:off x="9867138" y="3108960"/>
            <a:ext cx="1702765" cy="365760"/>
          </a:xfrm>
          <a:prstGeom prst="rect">
            <a:avLst/>
          </a:prstGeom>
          <a:noFill/>
          <a:ln/>
        </p:spPr>
        <p:txBody>
          <a:bodyPr wrap="square" lIns="0" tIns="0" rIns="0" bIns="0" rtlCol="0" anchor="ctr"/>
          <a:lstStyle/>
          <a:p>
            <a:pPr algn="ctr" indent="0" marL="0">
              <a:buNone/>
            </a:pPr>
            <a:r>
              <a:rPr lang="en-US" sz="1800" b="1" dirty="0">
                <a:solidFill>
                  <a:srgbClr val="14201B"/>
                </a:solidFill>
                <a:latin typeface="Calibri" pitchFamily="34" charset="0"/>
                <a:ea typeface="Calibri" pitchFamily="34" charset="-122"/>
                <a:cs typeface="Calibri" pitchFamily="34" charset="-120"/>
              </a:rPr>
              <a:t>6  Learn</a:t>
            </a:r>
            <a:endParaRPr lang="en-US" sz="1800" dirty="0"/>
          </a:p>
        </p:txBody>
      </p:sp>
      <p:sp>
        <p:nvSpPr>
          <p:cNvPr id="32" name="Text 24"/>
          <p:cNvSpPr txBox="1"/>
          <p:nvPr/>
        </p:nvSpPr>
        <p:spPr>
          <a:xfrm>
            <a:off x="9903714" y="3538728"/>
            <a:ext cx="1629613" cy="1280160"/>
          </a:xfrm>
          <a:prstGeom prst="rect">
            <a:avLst/>
          </a:prstGeom>
          <a:noFill/>
          <a:ln/>
        </p:spPr>
        <p:txBody>
          <a:bodyPr wrap="square" lIns="0" tIns="0" rIns="0" bIns="0" rtlCol="0" anchor="t"/>
          <a:lstStyle/>
          <a:p>
            <a:pPr algn="ctr" indent="0" marL="0">
              <a:buNone/>
            </a:pPr>
            <a:r>
              <a:rPr lang="en-US" sz="1350" dirty="0">
                <a:solidFill>
                  <a:srgbClr val="4A5751"/>
                </a:solidFill>
                <a:latin typeface="Calibri" pitchFamily="34" charset="0"/>
                <a:ea typeface="Calibri" pitchFamily="34" charset="-122"/>
                <a:cs typeface="Calibri" pitchFamily="34" charset="-120"/>
              </a:rPr>
              <a:t>Only proved fixes become precedent for the next case</a:t>
            </a:r>
            <a:endParaRPr lang="en-US" sz="1350" dirty="0"/>
          </a:p>
        </p:txBody>
      </p:sp>
      <p:sp>
        <p:nvSpPr>
          <p:cNvPr id="33" name="Shape 25"/>
          <p:cNvSpPr/>
          <p:nvPr/>
        </p:nvSpPr>
        <p:spPr>
          <a:xfrm>
            <a:off x="548640" y="5074920"/>
            <a:ext cx="11094415" cy="822960"/>
          </a:xfrm>
          <a:prstGeom prst="roundRect">
            <a:avLst>
              <a:gd name="adj" fmla="val 11111"/>
            </a:avLst>
          </a:prstGeom>
          <a:solidFill>
            <a:srgbClr val="EEF5F1"/>
          </a:solidFill>
          <a:ln w="12700">
            <a:solidFill>
              <a:srgbClr val="EEF5F1"/>
            </a:solidFill>
            <a:prstDash val="solid"/>
          </a:ln>
        </p:spPr>
      </p:sp>
      <p:sp>
        <p:nvSpPr>
          <p:cNvPr id="34" name="Shape 26"/>
          <p:cNvSpPr/>
          <p:nvPr/>
        </p:nvSpPr>
        <p:spPr>
          <a:xfrm>
            <a:off x="868680" y="5257800"/>
            <a:ext cx="457200" cy="457200"/>
          </a:xfrm>
          <a:prstGeom prst="ellipse">
            <a:avLst/>
          </a:prstGeom>
          <a:solidFill>
            <a:srgbClr val="1F7A4D"/>
          </a:solidFill>
          <a:ln w="12700">
            <a:solidFill>
              <a:srgbClr val="1F7A4D"/>
            </a:solidFill>
            <a:prstDash val="solid"/>
          </a:ln>
        </p:spPr>
      </p:sp>
      <p:pic>
        <p:nvPicPr>
          <p:cNvPr id="35" name="Image 6" descr="preencoded.png">    </p:cNvPr>
          <p:cNvPicPr>
            <a:picLocks noChangeAspect="1"/>
          </p:cNvPicPr>
          <p:nvPr/>
        </p:nvPicPr>
        <p:blipFill>
          <a:blip r:embed="rId7"/>
          <a:stretch>
            <a:fillRect/>
          </a:stretch>
        </p:blipFill>
        <p:spPr>
          <a:xfrm>
            <a:off x="973836" y="5362956"/>
            <a:ext cx="246888" cy="246888"/>
          </a:xfrm>
          <a:prstGeom prst="rect">
            <a:avLst/>
          </a:prstGeom>
        </p:spPr>
      </p:pic>
      <p:sp>
        <p:nvSpPr>
          <p:cNvPr id="36" name="Text 27"/>
          <p:cNvSpPr txBox="1"/>
          <p:nvPr/>
        </p:nvSpPr>
        <p:spPr>
          <a:xfrm>
            <a:off x="1463040" y="5257800"/>
            <a:ext cx="2692298" cy="457200"/>
          </a:xfrm>
          <a:prstGeom prst="rect">
            <a:avLst/>
          </a:prstGeom>
          <a:noFill/>
          <a:ln/>
        </p:spPr>
        <p:txBody>
          <a:bodyPr wrap="square" lIns="0" tIns="0" rIns="0" bIns="0" rtlCol="0" anchor="ctr"/>
          <a:lstStyle/>
          <a:p>
            <a:pPr indent="0" marL="0">
              <a:buNone/>
            </a:pPr>
            <a:r>
              <a:rPr lang="en-US" sz="1500" b="1" dirty="0">
                <a:solidFill>
                  <a:srgbClr val="14201B"/>
                </a:solidFill>
                <a:latin typeface="Calibri" pitchFamily="34" charset="0"/>
                <a:ea typeface="Calibri" pitchFamily="34" charset="-122"/>
                <a:cs typeface="Calibri" pitchFamily="34" charset="-120"/>
              </a:rPr>
              <a:t>Runs offline on a laptop or line PC</a:t>
            </a:r>
            <a:endParaRPr lang="en-US" sz="1500" dirty="0"/>
          </a:p>
        </p:txBody>
      </p:sp>
      <p:sp>
        <p:nvSpPr>
          <p:cNvPr id="37" name="Shape 28"/>
          <p:cNvSpPr/>
          <p:nvPr/>
        </p:nvSpPr>
        <p:spPr>
          <a:xfrm>
            <a:off x="4566818" y="5257800"/>
            <a:ext cx="457200" cy="457200"/>
          </a:xfrm>
          <a:prstGeom prst="ellipse">
            <a:avLst/>
          </a:prstGeom>
          <a:solidFill>
            <a:srgbClr val="1F7A4D"/>
          </a:solidFill>
          <a:ln w="12700">
            <a:solidFill>
              <a:srgbClr val="1F7A4D"/>
            </a:solidFill>
            <a:prstDash val="solid"/>
          </a:ln>
        </p:spPr>
      </p:sp>
      <p:pic>
        <p:nvPicPr>
          <p:cNvPr id="38" name="Image 7" descr="preencoded.png">    </p:cNvPr>
          <p:cNvPicPr>
            <a:picLocks noChangeAspect="1"/>
          </p:cNvPicPr>
          <p:nvPr/>
        </p:nvPicPr>
        <p:blipFill>
          <a:blip r:embed="rId8"/>
          <a:stretch>
            <a:fillRect/>
          </a:stretch>
        </p:blipFill>
        <p:spPr>
          <a:xfrm>
            <a:off x="4671974" y="5362956"/>
            <a:ext cx="246888" cy="246888"/>
          </a:xfrm>
          <a:prstGeom prst="rect">
            <a:avLst/>
          </a:prstGeom>
        </p:spPr>
      </p:pic>
      <p:sp>
        <p:nvSpPr>
          <p:cNvPr id="39" name="Text 29"/>
          <p:cNvSpPr txBox="1"/>
          <p:nvPr/>
        </p:nvSpPr>
        <p:spPr>
          <a:xfrm>
            <a:off x="5161178" y="5257800"/>
            <a:ext cx="2692298" cy="457200"/>
          </a:xfrm>
          <a:prstGeom prst="rect">
            <a:avLst/>
          </a:prstGeom>
          <a:noFill/>
          <a:ln/>
        </p:spPr>
        <p:txBody>
          <a:bodyPr wrap="square" lIns="0" tIns="0" rIns="0" bIns="0" rtlCol="0" anchor="ctr"/>
          <a:lstStyle/>
          <a:p>
            <a:pPr indent="0" marL="0">
              <a:buNone/>
            </a:pPr>
            <a:r>
              <a:rPr lang="en-US" sz="1500" b="1" dirty="0">
                <a:solidFill>
                  <a:srgbClr val="14201B"/>
                </a:solidFill>
                <a:latin typeface="Calibri" pitchFamily="34" charset="0"/>
                <a:ea typeface="Calibri" pitchFamily="34" charset="-122"/>
                <a:cs typeface="Calibri" pitchFamily="34" charset="-120"/>
              </a:rPr>
              <a:t>No training data — classical, auditable vision</a:t>
            </a:r>
            <a:endParaRPr lang="en-US" sz="1500" dirty="0"/>
          </a:p>
        </p:txBody>
      </p:sp>
      <p:sp>
        <p:nvSpPr>
          <p:cNvPr id="40" name="Shape 30"/>
          <p:cNvSpPr/>
          <p:nvPr/>
        </p:nvSpPr>
        <p:spPr>
          <a:xfrm>
            <a:off x="8264957" y="5257800"/>
            <a:ext cx="457200" cy="457200"/>
          </a:xfrm>
          <a:prstGeom prst="ellipse">
            <a:avLst/>
          </a:prstGeom>
          <a:solidFill>
            <a:srgbClr val="1F7A4D"/>
          </a:solidFill>
          <a:ln w="12700">
            <a:solidFill>
              <a:srgbClr val="1F7A4D"/>
            </a:solidFill>
            <a:prstDash val="solid"/>
          </a:ln>
        </p:spPr>
      </p:sp>
      <p:pic>
        <p:nvPicPr>
          <p:cNvPr id="41" name="Image 8" descr="preencoded.png">    </p:cNvPr>
          <p:cNvPicPr>
            <a:picLocks noChangeAspect="1"/>
          </p:cNvPicPr>
          <p:nvPr/>
        </p:nvPicPr>
        <p:blipFill>
          <a:blip r:embed="rId9"/>
          <a:stretch>
            <a:fillRect/>
          </a:stretch>
        </p:blipFill>
        <p:spPr>
          <a:xfrm>
            <a:off x="8370113" y="5362956"/>
            <a:ext cx="246888" cy="246888"/>
          </a:xfrm>
          <a:prstGeom prst="rect">
            <a:avLst/>
          </a:prstGeom>
        </p:spPr>
      </p:pic>
      <p:sp>
        <p:nvSpPr>
          <p:cNvPr id="42" name="Text 31"/>
          <p:cNvSpPr txBox="1"/>
          <p:nvPr/>
        </p:nvSpPr>
        <p:spPr>
          <a:xfrm>
            <a:off x="8859317" y="5257800"/>
            <a:ext cx="2692298" cy="457200"/>
          </a:xfrm>
          <a:prstGeom prst="rect">
            <a:avLst/>
          </a:prstGeom>
          <a:noFill/>
          <a:ln/>
        </p:spPr>
        <p:txBody>
          <a:bodyPr wrap="square" lIns="0" tIns="0" rIns="0" bIns="0" rtlCol="0" anchor="ctr"/>
          <a:lstStyle/>
          <a:p>
            <a:pPr indent="0" marL="0">
              <a:buNone/>
            </a:pPr>
            <a:r>
              <a:rPr lang="en-US" sz="1500" b="1" dirty="0">
                <a:solidFill>
                  <a:srgbClr val="14201B"/>
                </a:solidFill>
                <a:latin typeface="Calibri" pitchFamily="34" charset="0"/>
                <a:ea typeface="Calibri" pitchFamily="34" charset="-122"/>
                <a:cs typeface="Calibri" pitchFamily="34" charset="-120"/>
              </a:rPr>
              <a:t>LLM optional: it can disagree, it never sets a %</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THE AI</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It asks what would change its mind — and shows why</a:t>
            </a:r>
            <a:endParaRPr lang="en-US" sz="3000" dirty="0"/>
          </a:p>
        </p:txBody>
      </p:sp>
      <p:sp>
        <p:nvSpPr>
          <p:cNvPr id="4" name="Text 2"/>
          <p:cNvSpPr txBox="1"/>
          <p:nvPr/>
        </p:nvSpPr>
        <p:spPr>
          <a:xfrm>
            <a:off x="548640" y="1691640"/>
            <a:ext cx="5257800" cy="320040"/>
          </a:xfrm>
          <a:prstGeom prst="rect">
            <a:avLst/>
          </a:prstGeom>
          <a:noFill/>
          <a:ln/>
        </p:spPr>
        <p:txBody>
          <a:bodyPr wrap="square" lIns="0" tIns="0" rIns="0" bIns="0" rtlCol="0" anchor="ctr"/>
          <a:lstStyle/>
          <a:p>
            <a:pPr indent="0" marL="0">
              <a:buNone/>
            </a:pPr>
            <a:r>
              <a:rPr lang="en-US" sz="1500" b="1" dirty="0">
                <a:solidFill>
                  <a:srgbClr val="1F7A4D"/>
                </a:solidFill>
                <a:latin typeface="Calibri" pitchFamily="34" charset="0"/>
                <a:ea typeface="Calibri" pitchFamily="34" charset="-122"/>
                <a:cs typeface="Calibri" pitchFamily="34" charset="-120"/>
              </a:rPr>
              <a:t>A follow-up, chosen live</a:t>
            </a:r>
            <a:endParaRPr lang="en-US" sz="1500" dirty="0"/>
          </a:p>
        </p:txBody>
      </p:sp>
      <p:pic>
        <p:nvPicPr>
          <p:cNvPr id="5" name="Image 0" descr="/tmp/claude-1000/-home-calvinkhoo-Documents-GitHub-AiHorizon/c835e5ff-80c6-48f7-837c-fd4d590a9643/scratchpad/deck/assets/followup_bubble.png">    </p:cNvPr>
          <p:cNvPicPr>
            <a:picLocks noChangeAspect="1"/>
          </p:cNvPicPr>
          <p:nvPr/>
        </p:nvPicPr>
        <p:blipFill>
          <a:blip r:embed="rId1"/>
          <a:stretch>
            <a:fillRect/>
          </a:stretch>
        </p:blipFill>
        <p:spPr>
          <a:xfrm>
            <a:off x="548640" y="2057400"/>
            <a:ext cx="5257800" cy="1068659"/>
          </a:xfrm>
          <a:prstGeom prst="rect">
            <a:avLst/>
          </a:prstGeom>
        </p:spPr>
      </p:pic>
      <p:pic>
        <p:nvPicPr>
          <p:cNvPr id="6" name="Image 1" descr="/tmp/claude-1000/-home-calvinkhoo-Documents-GitHub-AiHorizon/c835e5ff-80c6-48f7-837c-fd4d590a9643/scratchpad/deck/assets/followup_chips.png">    </p:cNvPr>
          <p:cNvPicPr>
            <a:picLocks noChangeAspect="1"/>
          </p:cNvPicPr>
          <p:nvPr/>
        </p:nvPicPr>
        <p:blipFill>
          <a:blip r:embed="rId2"/>
          <a:stretch>
            <a:fillRect/>
          </a:stretch>
        </p:blipFill>
        <p:spPr>
          <a:xfrm>
            <a:off x="1115568" y="3200400"/>
            <a:ext cx="4480560" cy="610985"/>
          </a:xfrm>
          <a:prstGeom prst="rect">
            <a:avLst/>
          </a:prstGeom>
        </p:spPr>
      </p:pic>
      <p:sp>
        <p:nvSpPr>
          <p:cNvPr id="7" name="Text 3"/>
          <p:cNvSpPr txBox="1"/>
          <p:nvPr/>
        </p:nvSpPr>
        <p:spPr>
          <a:xfrm>
            <a:off x="548640" y="3913632"/>
            <a:ext cx="5257800" cy="685800"/>
          </a:xfrm>
          <a:prstGeom prst="rect">
            <a:avLst/>
          </a:prstGeom>
          <a:noFill/>
          <a:ln/>
        </p:spPr>
        <p:txBody>
          <a:bodyPr wrap="square" lIns="0" tIns="0" rIns="0" bIns="0" rtlCol="0" anchor="t"/>
          <a:lstStyle/>
          <a:p>
            <a:pPr indent="0" marL="0">
              <a:buNone/>
            </a:pPr>
            <a:r>
              <a:rPr lang="en-US" sz="1400" dirty="0">
                <a:solidFill>
                  <a:srgbClr val="4A5751"/>
                </a:solidFill>
                <a:latin typeface="Calibri" pitchFamily="34" charset="0"/>
                <a:ea typeface="Calibri" pitchFamily="34" charset="-122"/>
                <a:cs typeface="Calibri" pitchFamily="34" charset="-120"/>
              </a:rPr>
              <a:t>Every candidate question is run through the rule engine; the one asked is the one whose answer would move the ranking most.</a:t>
            </a:r>
            <a:endParaRPr lang="en-US" sz="1400" dirty="0"/>
          </a:p>
        </p:txBody>
      </p:sp>
      <p:sp>
        <p:nvSpPr>
          <p:cNvPr id="8" name="Text 4"/>
          <p:cNvSpPr txBox="1"/>
          <p:nvPr/>
        </p:nvSpPr>
        <p:spPr>
          <a:xfrm>
            <a:off x="548640" y="4709160"/>
            <a:ext cx="5257800" cy="320040"/>
          </a:xfrm>
          <a:prstGeom prst="rect">
            <a:avLst/>
          </a:prstGeom>
          <a:noFill/>
          <a:ln/>
        </p:spPr>
        <p:txBody>
          <a:bodyPr wrap="square" lIns="0" tIns="0" rIns="0" bIns="0" rtlCol="0" anchor="ctr"/>
          <a:lstStyle/>
          <a:p>
            <a:pPr indent="0" marL="0">
              <a:buNone/>
            </a:pPr>
            <a:r>
              <a:rPr lang="en-US" sz="1500" b="1" dirty="0">
                <a:solidFill>
                  <a:srgbClr val="1F7A4D"/>
                </a:solidFill>
                <a:latin typeface="Calibri" pitchFamily="34" charset="0"/>
                <a:ea typeface="Calibri" pitchFamily="34" charset="-122"/>
                <a:cs typeface="Calibri" pitchFamily="34" charset="-120"/>
              </a:rPr>
              <a:t>The lead, explained in the brief's own terms</a:t>
            </a:r>
            <a:endParaRPr lang="en-US" sz="1500" dirty="0"/>
          </a:p>
        </p:txBody>
      </p:sp>
      <p:pic>
        <p:nvPicPr>
          <p:cNvPr id="9" name="Image 2" descr="/tmp/claude-1000/-home-calvinkhoo-Documents-GitHub-AiHorizon/c835e5ff-80c6-48f7-837c-fd4d590a9643/scratchpad/deck/assets/chat_because.png">    </p:cNvPr>
          <p:cNvPicPr>
            <a:picLocks noChangeAspect="1"/>
          </p:cNvPicPr>
          <p:nvPr/>
        </p:nvPicPr>
        <p:blipFill>
          <a:blip r:embed="rId3"/>
          <a:stretch>
            <a:fillRect/>
          </a:stretch>
        </p:blipFill>
        <p:spPr>
          <a:xfrm>
            <a:off x="548640" y="5047488"/>
            <a:ext cx="4572000" cy="1226634"/>
          </a:xfrm>
          <a:prstGeom prst="rect">
            <a:avLst/>
          </a:prstGeom>
        </p:spPr>
      </p:pic>
      <p:pic>
        <p:nvPicPr>
          <p:cNvPr id="10" name="Image 3" descr="/tmp/claude-1000/-home-calvinkhoo-Documents-GitHub-AiHorizon/c835e5ff-80c6-48f7-837c-fd4d590a9643/scratchpad/deck/assets/ranking_why.png">    </p:cNvPr>
          <p:cNvPicPr>
            <a:picLocks noChangeAspect="1"/>
          </p:cNvPicPr>
          <p:nvPr/>
        </p:nvPicPr>
        <p:blipFill>
          <a:blip r:embed="rId4"/>
          <a:stretch>
            <a:fillRect/>
          </a:stretch>
        </p:blipFill>
        <p:spPr>
          <a:xfrm>
            <a:off x="6263640" y="1691640"/>
            <a:ext cx="5349240" cy="4287034"/>
          </a:xfrm>
          <a:prstGeom prst="rect">
            <a:avLst/>
          </a:prstGeom>
          <a:effectLst>
            <a:outerShdw sx="100000" sy="100000" kx="0" ky="0" algn="bl" rotWithShape="0" blurRad="127000" dist="25400" dir="5400000">
              <a:srgbClr val="000000">
                <a:alpha val="16000"/>
              </a:srgbClr>
            </a:outerShdw>
          </a:effectLst>
        </p:spPr>
      </p:pic>
      <p:sp>
        <p:nvSpPr>
          <p:cNvPr id="11" name="Text 5"/>
          <p:cNvSpPr txBox="1"/>
          <p:nvPr/>
        </p:nvSpPr>
        <p:spPr>
          <a:xfrm>
            <a:off x="6263640" y="6099048"/>
            <a:ext cx="5349240" cy="457200"/>
          </a:xfrm>
          <a:prstGeom prst="rect">
            <a:avLst/>
          </a:prstGeom>
          <a:noFill/>
          <a:ln/>
        </p:spPr>
        <p:txBody>
          <a:bodyPr wrap="square" lIns="0" tIns="0" rIns="0" bIns="0" rtlCol="0" anchor="t"/>
          <a:lstStyle/>
          <a:p>
            <a:pPr indent="0" marL="0">
              <a:buNone/>
            </a:pPr>
            <a:r>
              <a:rPr lang="en-US" sz="1200" i="1" dirty="0">
                <a:solidFill>
                  <a:srgbClr val="7B8781"/>
                </a:solidFill>
                <a:latin typeface="Calibri" pitchFamily="34" charset="0"/>
                <a:ea typeface="Calibri" pitchFamily="34" charset="-122"/>
                <a:cs typeface="Calibri" pitchFamily="34" charset="-120"/>
              </a:rPr>
              <a:t>Each reason shows its weight and the page it came from: the NPL Best Practice Guide or the NSW brief.</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THE EVIDENCE</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When it says it's confident, it's right</a:t>
            </a:r>
            <a:endParaRPr lang="en-US" sz="3000" dirty="0"/>
          </a:p>
        </p:txBody>
      </p:sp>
      <p:graphicFrame>
        <p:nvGraphicFramePr>
          <p:cNvPr id="4" name="Chart 0" descr=""/>
          <p:cNvGraphicFramePr/>
          <p:nvPr/>
        </p:nvGraphicFramePr>
        <p:xfrm>
          <a:off x="548640" y="1645920"/>
          <a:ext cx="6126480" cy="416052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833872"/>
            <a:ext cx="6126480" cy="274320"/>
          </a:xfrm>
          <a:prstGeom prst="rect">
            <a:avLst/>
          </a:prstGeom>
          <a:noFill/>
          <a:ln/>
        </p:spPr>
        <p:txBody>
          <a:bodyPr wrap="square" lIns="0" tIns="0" rIns="0" bIns="0" rtlCol="0" anchor="ctr"/>
          <a:lstStyle/>
          <a:p>
            <a:pPr algn="ctr" indent="0" marL="0">
              <a:buNone/>
            </a:pPr>
            <a:r>
              <a:rPr lang="en-US" sz="1200" dirty="0">
                <a:solidFill>
                  <a:srgbClr val="7B8781"/>
                </a:solidFill>
                <a:latin typeface="Calibri" pitchFamily="34" charset="0"/>
                <a:ea typeface="Calibri" pitchFamily="34" charset="-122"/>
                <a:cs typeface="Calibri" pitchFamily="34" charset="-120"/>
              </a:rPr>
              <a:t>Photo + answers · 420 simulated cases at three answer-reliability levels · chance = 14%</a:t>
            </a:r>
            <a:endParaRPr lang="en-US" sz="1200" dirty="0"/>
          </a:p>
        </p:txBody>
      </p:sp>
      <p:sp>
        <p:nvSpPr>
          <p:cNvPr id="6" name="Text 3"/>
          <p:cNvSpPr txBox="1"/>
          <p:nvPr/>
        </p:nvSpPr>
        <p:spPr>
          <a:xfrm>
            <a:off x="7086600" y="1783080"/>
            <a:ext cx="4526280" cy="658368"/>
          </a:xfrm>
          <a:prstGeom prst="rect">
            <a:avLst/>
          </a:prstGeom>
          <a:noFill/>
          <a:ln/>
        </p:spPr>
        <p:txBody>
          <a:bodyPr wrap="square" lIns="0" tIns="0" rIns="0" bIns="0" rtlCol="0" anchor="t"/>
          <a:lstStyle/>
          <a:p>
            <a:pPr indent="0" marL="0">
              <a:buNone/>
            </a:pPr>
            <a:r>
              <a:rPr lang="en-US" sz="4400" b="1" dirty="0">
                <a:solidFill>
                  <a:srgbClr val="C8742B"/>
                </a:solidFill>
                <a:latin typeface="Calibri" pitchFamily="34" charset="0"/>
                <a:ea typeface="Calibri" pitchFamily="34" charset="-122"/>
                <a:cs typeface="Calibri" pitchFamily="34" charset="-120"/>
              </a:rPr>
              <a:t>66%</a:t>
            </a:r>
            <a:endParaRPr lang="en-US" sz="4400" dirty="0"/>
          </a:p>
        </p:txBody>
      </p:sp>
      <p:sp>
        <p:nvSpPr>
          <p:cNvPr id="7" name="Text 4"/>
          <p:cNvSpPr txBox="1"/>
          <p:nvPr/>
        </p:nvSpPr>
        <p:spPr>
          <a:xfrm>
            <a:off x="7086600" y="2441448"/>
            <a:ext cx="4526280" cy="640080"/>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top cause right from one photo and five answers, with an operator whose answers are only 75% reliable — chance is 14%</a:t>
            </a:r>
            <a:endParaRPr lang="en-US" sz="1350" dirty="0"/>
          </a:p>
        </p:txBody>
      </p:sp>
      <p:sp>
        <p:nvSpPr>
          <p:cNvPr id="8" name="Text 5"/>
          <p:cNvSpPr txBox="1"/>
          <p:nvPr/>
        </p:nvSpPr>
        <p:spPr>
          <a:xfrm>
            <a:off x="7086600" y="3154680"/>
            <a:ext cx="4526280" cy="658368"/>
          </a:xfrm>
          <a:prstGeom prst="rect">
            <a:avLst/>
          </a:prstGeom>
          <a:noFill/>
          <a:ln/>
        </p:spPr>
        <p:txBody>
          <a:bodyPr wrap="square" lIns="0" tIns="0" rIns="0" bIns="0" rtlCol="0" anchor="t"/>
          <a:lstStyle/>
          <a:p>
            <a:pPr indent="0" marL="0">
              <a:buNone/>
            </a:pPr>
            <a:r>
              <a:rPr lang="en-US" sz="4400" b="1" dirty="0">
                <a:solidFill>
                  <a:srgbClr val="C8742B"/>
                </a:solidFill>
                <a:latin typeface="Calibri" pitchFamily="34" charset="0"/>
                <a:ea typeface="Calibri" pitchFamily="34" charset="-122"/>
                <a:cs typeface="Calibri" pitchFamily="34" charset="-120"/>
              </a:rPr>
              <a:t>6,600</a:t>
            </a:r>
            <a:endParaRPr lang="en-US" sz="4400" dirty="0"/>
          </a:p>
        </p:txBody>
      </p:sp>
      <p:sp>
        <p:nvSpPr>
          <p:cNvPr id="9" name="Text 6"/>
          <p:cNvSpPr txBox="1"/>
          <p:nvPr/>
        </p:nvSpPr>
        <p:spPr>
          <a:xfrm>
            <a:off x="7086600" y="3813048"/>
            <a:ext cx="4526280" cy="640080"/>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synthetic photos and 420 simulated cases through the real code, in every evaluation run (about a minute)</a:t>
            </a:r>
            <a:endParaRPr lang="en-US" sz="1350" dirty="0"/>
          </a:p>
        </p:txBody>
      </p:sp>
      <p:sp>
        <p:nvSpPr>
          <p:cNvPr id="10" name="Text 7"/>
          <p:cNvSpPr txBox="1"/>
          <p:nvPr/>
        </p:nvSpPr>
        <p:spPr>
          <a:xfrm>
            <a:off x="7086600" y="4526280"/>
            <a:ext cx="4526280" cy="658368"/>
          </a:xfrm>
          <a:prstGeom prst="rect">
            <a:avLst/>
          </a:prstGeom>
          <a:noFill/>
          <a:ln/>
        </p:spPr>
        <p:txBody>
          <a:bodyPr wrap="square" lIns="0" tIns="0" rIns="0" bIns="0" rtlCol="0" anchor="t"/>
          <a:lstStyle/>
          <a:p>
            <a:pPr indent="0" marL="0">
              <a:buNone/>
            </a:pPr>
            <a:r>
              <a:rPr lang="en-US" sz="4400" b="1" dirty="0">
                <a:solidFill>
                  <a:srgbClr val="C8742B"/>
                </a:solidFill>
                <a:latin typeface="Calibri" pitchFamily="34" charset="0"/>
                <a:ea typeface="Calibri" pitchFamily="34" charset="-122"/>
                <a:cs typeface="Calibri" pitchFamily="34" charset="-120"/>
              </a:rPr>
              <a:t>79</a:t>
            </a:r>
            <a:endParaRPr lang="en-US" sz="4400" dirty="0"/>
          </a:p>
        </p:txBody>
      </p:sp>
      <p:sp>
        <p:nvSpPr>
          <p:cNvPr id="11" name="Text 8"/>
          <p:cNvSpPr txBox="1"/>
          <p:nvPr/>
        </p:nvSpPr>
        <p:spPr>
          <a:xfrm>
            <a:off x="7086600" y="5184648"/>
            <a:ext cx="4526280" cy="640080"/>
          </a:xfrm>
          <a:prstGeom prst="rect">
            <a:avLst/>
          </a:prstGeom>
          <a:noFill/>
          <a:ln/>
        </p:spPr>
        <p:txBody>
          <a:bodyPr wrap="square" lIns="0" tIns="0" rIns="0" bIns="0" rtlCol="0" anchor="t"/>
          <a:lstStyle/>
          <a:p>
            <a:pPr indent="0" marL="0">
              <a:buNone/>
            </a:pPr>
            <a:r>
              <a:rPr lang="en-US" sz="1350" dirty="0">
                <a:solidFill>
                  <a:srgbClr val="4A5751"/>
                </a:solidFill>
                <a:latin typeface="Calibri" pitchFamily="34" charset="0"/>
                <a:ea typeface="Calibri" pitchFamily="34" charset="-122"/>
                <a:cs typeface="Calibri" pitchFamily="34" charset="-120"/>
              </a:rPr>
              <a:t>automated checks — 52 backend tests, 25 measurement oracles, 2 golden cases — plus a browser run of the whole wizard</a:t>
            </a:r>
            <a:endParaRPr lang="en-US" sz="1350" dirty="0"/>
          </a:p>
        </p:txBody>
      </p:sp>
      <p:sp>
        <p:nvSpPr>
          <p:cNvPr id="12" name="Text 9"/>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All test images are synthetic — NSW provided no production photos. Method, limits and every table: evaluation/README.md.</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FEASIBILITY</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Works on the photo an operator actually takes</a:t>
            </a:r>
            <a:endParaRPr lang="en-US" sz="3000" dirty="0"/>
          </a:p>
        </p:txBody>
      </p:sp>
      <p:pic>
        <p:nvPicPr>
          <p:cNvPr id="4" name="Image 0" descr="/tmp/claude-1000/-home-calvinkhoo-Documents-GitHub-AiHorizon/c835e5ff-80c6-48f7-837c-fd4d590a9643/scratchpad/deck/assets/phone_input.jpg">    </p:cNvPr>
          <p:cNvPicPr>
            <a:picLocks noChangeAspect="1"/>
          </p:cNvPicPr>
          <p:nvPr/>
        </p:nvPicPr>
        <p:blipFill>
          <a:blip r:embed="rId1"/>
          <a:stretch>
            <a:fillRect/>
          </a:stretch>
        </p:blipFill>
        <p:spPr>
          <a:xfrm>
            <a:off x="548640" y="1874520"/>
            <a:ext cx="3931920" cy="2798520"/>
          </a:xfrm>
          <a:prstGeom prst="rect">
            <a:avLst/>
          </a:prstGeom>
          <a:effectLst>
            <a:outerShdw sx="100000" sy="100000" kx="0" ky="0" algn="bl" rotWithShape="0" blurRad="127000" dist="25400" dir="5400000">
              <a:srgbClr val="000000">
                <a:alpha val="16000"/>
              </a:srgbClr>
            </a:outerShdw>
          </a:effectLst>
        </p:spPr>
      </p:pic>
      <p:sp>
        <p:nvSpPr>
          <p:cNvPr id="5" name="Shape 2"/>
          <p:cNvSpPr/>
          <p:nvPr/>
        </p:nvSpPr>
        <p:spPr>
          <a:xfrm>
            <a:off x="4645152" y="3017748"/>
            <a:ext cx="566928" cy="512064"/>
          </a:xfrm>
          <a:prstGeom prst="rightArrow">
            <a:avLst/>
          </a:prstGeom>
          <a:solidFill>
            <a:srgbClr val="C8742B"/>
          </a:solidFill>
          <a:ln w="12700">
            <a:solidFill>
              <a:srgbClr val="C8742B"/>
            </a:solidFill>
            <a:prstDash val="solid"/>
          </a:ln>
        </p:spPr>
      </p:sp>
      <p:pic>
        <p:nvPicPr>
          <p:cNvPr id="6" name="Image 1" descr="/tmp/claude-1000/-home-calvinkhoo-Documents-GitHub-AiHorizon/c835e5ff-80c6-48f7-837c-fd4d590a9643/scratchpad/deck/assets/phone_annotated_slide.png">    </p:cNvPr>
          <p:cNvPicPr>
            <a:picLocks noChangeAspect="1"/>
          </p:cNvPicPr>
          <p:nvPr/>
        </p:nvPicPr>
        <p:blipFill>
          <a:blip r:embed="rId2"/>
          <a:stretch>
            <a:fillRect/>
          </a:stretch>
        </p:blipFill>
        <p:spPr>
          <a:xfrm>
            <a:off x="5376672" y="1874520"/>
            <a:ext cx="3931920" cy="2798520"/>
          </a:xfrm>
          <a:prstGeom prst="rect">
            <a:avLst/>
          </a:prstGeom>
          <a:effectLst>
            <a:outerShdw sx="100000" sy="100000" kx="0" ky="0" algn="bl" rotWithShape="0" blurRad="127000" dist="25400" dir="5400000">
              <a:srgbClr val="000000">
                <a:alpha val="16000"/>
              </a:srgbClr>
            </a:outerShdw>
          </a:effectLst>
        </p:spPr>
      </p:pic>
      <p:sp>
        <p:nvSpPr>
          <p:cNvPr id="7" name="Text 3"/>
          <p:cNvSpPr txBox="1"/>
          <p:nvPr/>
        </p:nvSpPr>
        <p:spPr>
          <a:xfrm>
            <a:off x="548640" y="4810200"/>
            <a:ext cx="3931920" cy="54864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Phone photo: card on a desk, camera tilted and off-centre</a:t>
            </a:r>
            <a:endParaRPr lang="en-US" sz="1300" dirty="0"/>
          </a:p>
        </p:txBody>
      </p:sp>
      <p:sp>
        <p:nvSpPr>
          <p:cNvPr id="8" name="Text 4"/>
          <p:cNvSpPr txBox="1"/>
          <p:nvPr/>
        </p:nvSpPr>
        <p:spPr>
          <a:xfrm>
            <a:off x="5376672" y="4810200"/>
            <a:ext cx="3931920" cy="54864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Recipe lined up (scale, rotation, perspective), then measured: 3 missing, 3 oversized, carryover p = 0.010</a:t>
            </a:r>
            <a:endParaRPr lang="en-US" sz="1300" dirty="0"/>
          </a:p>
        </p:txBody>
      </p:sp>
      <p:sp>
        <p:nvSpPr>
          <p:cNvPr id="9" name="Text 5"/>
          <p:cNvSpPr txBox="1"/>
          <p:nvPr/>
        </p:nvSpPr>
        <p:spPr>
          <a:xfrm>
            <a:off x="9628632" y="1828800"/>
            <a:ext cx="2014423" cy="594360"/>
          </a:xfrm>
          <a:prstGeom prst="rect">
            <a:avLst/>
          </a:prstGeom>
          <a:noFill/>
          <a:ln/>
        </p:spPr>
        <p:txBody>
          <a:bodyPr wrap="square" lIns="0" tIns="0" rIns="0" bIns="0" rtlCol="0" anchor="ctr"/>
          <a:lstStyle/>
          <a:p>
            <a:pPr indent="0" marL="0">
              <a:buNone/>
            </a:pPr>
            <a:r>
              <a:rPr lang="en-US" sz="3000" b="1" dirty="0">
                <a:solidFill>
                  <a:srgbClr val="C8742B"/>
                </a:solidFill>
                <a:latin typeface="Calibri" pitchFamily="34" charset="0"/>
                <a:ea typeface="Calibri" pitchFamily="34" charset="-122"/>
                <a:cs typeface="Calibri" pitchFamily="34" charset="-120"/>
              </a:rPr>
              <a:t>0% → 89%</a:t>
            </a:r>
            <a:endParaRPr lang="en-US" sz="3000" dirty="0"/>
          </a:p>
        </p:txBody>
      </p:sp>
      <p:sp>
        <p:nvSpPr>
          <p:cNvPr id="10" name="Text 6"/>
          <p:cNvSpPr txBox="1"/>
          <p:nvPr/>
        </p:nvSpPr>
        <p:spPr>
          <a:xfrm>
            <a:off x="9628632" y="2423160"/>
            <a:ext cx="2014423" cy="132588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of phone-style photos measured correctly, before → after registration — the same as perfectly framed ones</a:t>
            </a:r>
            <a:endParaRPr lang="en-US" sz="1300" dirty="0"/>
          </a:p>
        </p:txBody>
      </p:sp>
      <p:sp>
        <p:nvSpPr>
          <p:cNvPr id="11" name="Text 7"/>
          <p:cNvSpPr txBox="1"/>
          <p:nvPr/>
        </p:nvSpPr>
        <p:spPr>
          <a:xfrm>
            <a:off x="9628632" y="3794760"/>
            <a:ext cx="2014423" cy="594360"/>
          </a:xfrm>
          <a:prstGeom prst="rect">
            <a:avLst/>
          </a:prstGeom>
          <a:noFill/>
          <a:ln/>
        </p:spPr>
        <p:txBody>
          <a:bodyPr wrap="square" lIns="0" tIns="0" rIns="0" bIns="0" rtlCol="0" anchor="ctr"/>
          <a:lstStyle/>
          <a:p>
            <a:pPr indent="0" marL="0">
              <a:buNone/>
            </a:pPr>
            <a:r>
              <a:rPr lang="en-US" sz="3000" b="1" dirty="0">
                <a:solidFill>
                  <a:srgbClr val="C8742B"/>
                </a:solidFill>
                <a:latin typeface="Calibri" pitchFamily="34" charset="0"/>
                <a:ea typeface="Calibri" pitchFamily="34" charset="-122"/>
                <a:cs typeface="Calibri" pitchFamily="34" charset="-120"/>
              </a:rPr>
              <a:t>0</a:t>
            </a:r>
            <a:endParaRPr lang="en-US" sz="3000" dirty="0"/>
          </a:p>
        </p:txBody>
      </p:sp>
      <p:sp>
        <p:nvSpPr>
          <p:cNvPr id="12" name="Text 8"/>
          <p:cNvSpPr txBox="1"/>
          <p:nvPr/>
        </p:nvSpPr>
        <p:spPr>
          <a:xfrm>
            <a:off x="9628632" y="4389120"/>
            <a:ext cx="2014423" cy="822960"/>
          </a:xfrm>
          <a:prstGeom prst="rect">
            <a:avLst/>
          </a:prstGeom>
          <a:noFill/>
          <a:ln/>
        </p:spPr>
        <p:txBody>
          <a:bodyPr wrap="square" lIns="0" tIns="0" rIns="0" bIns="0" rtlCol="0" anchor="t"/>
          <a:lstStyle/>
          <a:p>
            <a:pPr indent="0" marL="0">
              <a:buNone/>
            </a:pPr>
            <a:r>
              <a:rPr lang="en-US" sz="1300" dirty="0">
                <a:solidFill>
                  <a:srgbClr val="4A5751"/>
                </a:solidFill>
                <a:latin typeface="Calibri" pitchFamily="34" charset="0"/>
                <a:ea typeface="Calibri" pitchFamily="34" charset="-122"/>
                <a:cs typeface="Calibri" pitchFamily="34" charset="-120"/>
              </a:rPr>
              <a:t>false alarms from zoom, framing, tilt or a desk in shot</a:t>
            </a:r>
            <a:endParaRPr lang="en-US" sz="1300" dirty="0"/>
          </a:p>
        </p:txBody>
      </p:sp>
      <p:sp>
        <p:nvSpPr>
          <p:cNvPr id="13" name="Text 9"/>
          <p:cNvSpPr txBox="1"/>
          <p:nvPr/>
        </p:nvSpPr>
        <p:spPr>
          <a:xfrm>
            <a:off x="548640" y="635508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Photo simulated from a printed sample card (the evaluation's 'on desk' condition). Validating on real NSW photos is step one of the pilot.</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C8742B"/>
                </a:solidFill>
                <a:latin typeface="Calibri" pitchFamily="34" charset="0"/>
                <a:ea typeface="Calibri" pitchFamily="34" charset="-122"/>
                <a:cs typeface="Calibri" pitchFamily="34" charset="-120"/>
              </a:rPr>
              <a:t>TRUST</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Closing a case is not the same as fixing it</a:t>
            </a:r>
            <a:endParaRPr lang="en-US" sz="3000" dirty="0"/>
          </a:p>
        </p:txBody>
      </p:sp>
      <p:sp>
        <p:nvSpPr>
          <p:cNvPr id="4" name="Shape 2"/>
          <p:cNvSpPr/>
          <p:nvPr/>
        </p:nvSpPr>
        <p:spPr>
          <a:xfrm>
            <a:off x="548640" y="1783080"/>
            <a:ext cx="3520440" cy="3611880"/>
          </a:xfrm>
          <a:prstGeom prst="roundRect">
            <a:avLst>
              <a:gd name="adj" fmla="val 3117"/>
            </a:avLst>
          </a:prstGeom>
          <a:solidFill>
            <a:srgbClr val="EEF5F1"/>
          </a:solidFill>
          <a:ln w="12700">
            <a:solidFill>
              <a:srgbClr val="EEF5F1"/>
            </a:solidFill>
            <a:prstDash val="solid"/>
          </a:ln>
        </p:spPr>
      </p:sp>
      <p:sp>
        <p:nvSpPr>
          <p:cNvPr id="5" name="Shape 3"/>
          <p:cNvSpPr/>
          <p:nvPr/>
        </p:nvSpPr>
        <p:spPr>
          <a:xfrm>
            <a:off x="868680" y="2103120"/>
            <a:ext cx="1783080" cy="420624"/>
          </a:xfrm>
          <a:prstGeom prst="roundRect">
            <a:avLst>
              <a:gd name="adj" fmla="val 50000"/>
            </a:avLst>
          </a:prstGeom>
          <a:solidFill>
            <a:srgbClr val="0CA30C"/>
          </a:solidFill>
          <a:ln w="12700">
            <a:solidFill>
              <a:srgbClr val="0CA30C"/>
            </a:solidFill>
            <a:prstDash val="solid"/>
          </a:ln>
        </p:spPr>
      </p:sp>
      <p:sp>
        <p:nvSpPr>
          <p:cNvPr id="6" name="Text 4"/>
          <p:cNvSpPr txBox="1"/>
          <p:nvPr/>
        </p:nvSpPr>
        <p:spPr>
          <a:xfrm>
            <a:off x="868680" y="2103120"/>
            <a:ext cx="1783080" cy="420624"/>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CONFIRMED</a:t>
            </a:r>
            <a:endParaRPr lang="en-US" sz="1300" dirty="0"/>
          </a:p>
        </p:txBody>
      </p:sp>
      <p:sp>
        <p:nvSpPr>
          <p:cNvPr id="7" name="Text 5"/>
          <p:cNvSpPr txBox="1"/>
          <p:nvPr/>
        </p:nvSpPr>
        <p:spPr>
          <a:xfrm>
            <a:off x="868680" y="2697480"/>
            <a:ext cx="2880360" cy="411480"/>
          </a:xfrm>
          <a:prstGeom prst="rect">
            <a:avLst/>
          </a:prstGeom>
          <a:noFill/>
          <a:ln/>
        </p:spPr>
        <p:txBody>
          <a:bodyPr wrap="square" lIns="0" tIns="0" rIns="0" bIns="0" rtlCol="0" anchor="ctr"/>
          <a:lstStyle/>
          <a:p>
            <a:pPr indent="0" marL="0">
              <a:buNone/>
            </a:pPr>
            <a:r>
              <a:rPr lang="en-US" sz="2000" b="1" dirty="0">
                <a:solidFill>
                  <a:srgbClr val="14201B"/>
                </a:solidFill>
                <a:latin typeface="Calibri" pitchFamily="34" charset="0"/>
                <a:ea typeface="Calibri" pitchFamily="34" charset="-122"/>
                <a:cs typeface="Calibri" pitchFamily="34" charset="-120"/>
              </a:rPr>
              <a:t>All five proved</a:t>
            </a:r>
            <a:endParaRPr lang="en-US" sz="2000" dirty="0"/>
          </a:p>
        </p:txBody>
      </p:sp>
      <p:sp>
        <p:nvSpPr>
          <p:cNvPr id="8" name="Text 6"/>
          <p:cNvSpPr txBox="1"/>
          <p:nvPr/>
        </p:nvSpPr>
        <p:spPr>
          <a:xfrm>
            <a:off x="868680" y="3200400"/>
            <a:ext cx="2880360" cy="160020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a check confirmed one cause</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exactly one change, aimed at it</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re-measured against a 'before' photo</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in spec on every check</a:t>
            </a:r>
            <a:endParaRPr lang="en-US" sz="1400" dirty="0"/>
          </a:p>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held 20+ shots</a:t>
            </a:r>
            <a:endParaRPr lang="en-US" sz="1400" dirty="0"/>
          </a:p>
        </p:txBody>
      </p:sp>
      <p:sp>
        <p:nvSpPr>
          <p:cNvPr id="9" name="Text 7"/>
          <p:cNvSpPr txBox="1"/>
          <p:nvPr/>
        </p:nvSpPr>
        <p:spPr>
          <a:xfrm>
            <a:off x="868680" y="4846320"/>
            <a:ext cx="2880360" cy="365760"/>
          </a:xfrm>
          <a:prstGeom prst="rect">
            <a:avLst/>
          </a:prstGeom>
          <a:noFill/>
          <a:ln/>
        </p:spPr>
        <p:txBody>
          <a:bodyPr wrap="square" lIns="0" tIns="0" rIns="0" bIns="0" rtlCol="0" anchor="ctr"/>
          <a:lstStyle/>
          <a:p>
            <a:pPr indent="0" marL="0">
              <a:buNone/>
            </a:pPr>
            <a:r>
              <a:rPr lang="en-US" sz="1400" b="1" dirty="0">
                <a:solidFill>
                  <a:srgbClr val="14201B"/>
                </a:solidFill>
                <a:latin typeface="Calibri" pitchFamily="34" charset="0"/>
                <a:ea typeface="Calibri" pitchFamily="34" charset="-122"/>
                <a:cs typeface="Calibri" pitchFamily="34" charset="-120"/>
              </a:rPr>
              <a:t>The only cases future rankings learn from</a:t>
            </a:r>
            <a:endParaRPr lang="en-US" sz="1400" dirty="0"/>
          </a:p>
        </p:txBody>
      </p:sp>
      <p:sp>
        <p:nvSpPr>
          <p:cNvPr id="10" name="Shape 8"/>
          <p:cNvSpPr/>
          <p:nvPr/>
        </p:nvSpPr>
        <p:spPr>
          <a:xfrm>
            <a:off x="4325112" y="1783080"/>
            <a:ext cx="3520440" cy="3611880"/>
          </a:xfrm>
          <a:prstGeom prst="roundRect">
            <a:avLst>
              <a:gd name="adj" fmla="val 3117"/>
            </a:avLst>
          </a:prstGeom>
          <a:solidFill>
            <a:srgbClr val="EEF5F1"/>
          </a:solidFill>
          <a:ln w="12700">
            <a:solidFill>
              <a:srgbClr val="EEF5F1"/>
            </a:solidFill>
            <a:prstDash val="solid"/>
          </a:ln>
        </p:spPr>
      </p:sp>
      <p:sp>
        <p:nvSpPr>
          <p:cNvPr id="11" name="Shape 9"/>
          <p:cNvSpPr/>
          <p:nvPr/>
        </p:nvSpPr>
        <p:spPr>
          <a:xfrm>
            <a:off x="4645152" y="2103120"/>
            <a:ext cx="1783080" cy="420624"/>
          </a:xfrm>
          <a:prstGeom prst="roundRect">
            <a:avLst>
              <a:gd name="adj" fmla="val 50000"/>
            </a:avLst>
          </a:prstGeom>
          <a:solidFill>
            <a:srgbClr val="D08A00"/>
          </a:solidFill>
          <a:ln w="12700">
            <a:solidFill>
              <a:srgbClr val="D08A00"/>
            </a:solidFill>
            <a:prstDash val="solid"/>
          </a:ln>
        </p:spPr>
      </p:sp>
      <p:sp>
        <p:nvSpPr>
          <p:cNvPr id="12" name="Text 10"/>
          <p:cNvSpPr txBox="1"/>
          <p:nvPr/>
        </p:nvSpPr>
        <p:spPr>
          <a:xfrm>
            <a:off x="4645152" y="2103120"/>
            <a:ext cx="1783080" cy="420624"/>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PLAUSIBLE</a:t>
            </a:r>
            <a:endParaRPr lang="en-US" sz="1300" dirty="0"/>
          </a:p>
        </p:txBody>
      </p:sp>
      <p:sp>
        <p:nvSpPr>
          <p:cNvPr id="13" name="Text 11"/>
          <p:cNvSpPr txBox="1"/>
          <p:nvPr/>
        </p:nvSpPr>
        <p:spPr>
          <a:xfrm>
            <a:off x="4645152" y="2697480"/>
            <a:ext cx="2880360" cy="411480"/>
          </a:xfrm>
          <a:prstGeom prst="rect">
            <a:avLst/>
          </a:prstGeom>
          <a:noFill/>
          <a:ln/>
        </p:spPr>
        <p:txBody>
          <a:bodyPr wrap="square" lIns="0" tIns="0" rIns="0" bIns="0" rtlCol="0" anchor="ctr"/>
          <a:lstStyle/>
          <a:p>
            <a:pPr indent="0" marL="0">
              <a:buNone/>
            </a:pPr>
            <a:r>
              <a:rPr lang="en-US" sz="2000" b="1" dirty="0">
                <a:solidFill>
                  <a:srgbClr val="14201B"/>
                </a:solidFill>
                <a:latin typeface="Calibri" pitchFamily="34" charset="0"/>
                <a:ea typeface="Calibri" pitchFamily="34" charset="-122"/>
                <a:cs typeface="Calibri" pitchFamily="34" charset="-120"/>
              </a:rPr>
              <a:t>Some proved</a:t>
            </a:r>
            <a:endParaRPr lang="en-US" sz="2000" dirty="0"/>
          </a:p>
        </p:txBody>
      </p:sp>
      <p:sp>
        <p:nvSpPr>
          <p:cNvPr id="14" name="Text 12"/>
          <p:cNvSpPr txBox="1"/>
          <p:nvPr/>
        </p:nvSpPr>
        <p:spPr>
          <a:xfrm>
            <a:off x="4645152" y="3200400"/>
            <a:ext cx="2880360" cy="160020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e.g. cause certain (tier T1) — but one deposit is still missing after the fix</a:t>
            </a:r>
            <a:endParaRPr lang="en-US" sz="1400" dirty="0"/>
          </a:p>
        </p:txBody>
      </p:sp>
      <p:sp>
        <p:nvSpPr>
          <p:cNvPr id="15" name="Text 13"/>
          <p:cNvSpPr txBox="1"/>
          <p:nvPr/>
        </p:nvSpPr>
        <p:spPr>
          <a:xfrm>
            <a:off x="4645152" y="4846320"/>
            <a:ext cx="2880360" cy="365760"/>
          </a:xfrm>
          <a:prstGeom prst="rect">
            <a:avLst/>
          </a:prstGeom>
          <a:noFill/>
          <a:ln/>
        </p:spPr>
        <p:txBody>
          <a:bodyPr wrap="square" lIns="0" tIns="0" rIns="0" bIns="0" rtlCol="0" anchor="ctr"/>
          <a:lstStyle/>
          <a:p>
            <a:pPr indent="0" marL="0">
              <a:buNone/>
            </a:pPr>
            <a:r>
              <a:rPr lang="en-US" sz="1400" b="1" dirty="0">
                <a:solidFill>
                  <a:srgbClr val="14201B"/>
                </a:solidFill>
                <a:latin typeface="Calibri" pitchFamily="34" charset="0"/>
                <a:ea typeface="Calibri" pitchFamily="34" charset="-122"/>
                <a:cs typeface="Calibri" pitchFamily="34" charset="-120"/>
              </a:rPr>
              <a:t>Shown as context; adjusts nothing</a:t>
            </a:r>
            <a:endParaRPr lang="en-US" sz="1400" dirty="0"/>
          </a:p>
        </p:txBody>
      </p:sp>
      <p:sp>
        <p:nvSpPr>
          <p:cNvPr id="16" name="Shape 14"/>
          <p:cNvSpPr/>
          <p:nvPr/>
        </p:nvSpPr>
        <p:spPr>
          <a:xfrm>
            <a:off x="8101584" y="1783080"/>
            <a:ext cx="3520440" cy="3611880"/>
          </a:xfrm>
          <a:prstGeom prst="roundRect">
            <a:avLst>
              <a:gd name="adj" fmla="val 3117"/>
            </a:avLst>
          </a:prstGeom>
          <a:solidFill>
            <a:srgbClr val="EEF5F1"/>
          </a:solidFill>
          <a:ln w="12700">
            <a:solidFill>
              <a:srgbClr val="EEF5F1"/>
            </a:solidFill>
            <a:prstDash val="solid"/>
          </a:ln>
        </p:spPr>
      </p:sp>
      <p:sp>
        <p:nvSpPr>
          <p:cNvPr id="17" name="Shape 15"/>
          <p:cNvSpPr/>
          <p:nvPr/>
        </p:nvSpPr>
        <p:spPr>
          <a:xfrm>
            <a:off x="8421624" y="2103120"/>
            <a:ext cx="1783080" cy="420624"/>
          </a:xfrm>
          <a:prstGeom prst="roundRect">
            <a:avLst>
              <a:gd name="adj" fmla="val 50000"/>
            </a:avLst>
          </a:prstGeom>
          <a:solidFill>
            <a:srgbClr val="8A8984"/>
          </a:solidFill>
          <a:ln w="12700">
            <a:solidFill>
              <a:srgbClr val="8A8984"/>
            </a:solidFill>
            <a:prstDash val="solid"/>
          </a:ln>
        </p:spPr>
      </p:sp>
      <p:sp>
        <p:nvSpPr>
          <p:cNvPr id="18" name="Text 16"/>
          <p:cNvSpPr txBox="1"/>
          <p:nvPr/>
        </p:nvSpPr>
        <p:spPr>
          <a:xfrm>
            <a:off x="8421624" y="2103120"/>
            <a:ext cx="1783080" cy="420624"/>
          </a:xfrm>
          <a:prstGeom prst="rect">
            <a:avLst/>
          </a:prstGeom>
          <a:noFill/>
          <a:ln/>
        </p:spPr>
        <p:txBody>
          <a:bodyPr wrap="square" lIns="0" tIns="0" rIns="0" bIns="0" rtlCol="0" anchor="ctr"/>
          <a:lstStyle/>
          <a:p>
            <a:pPr algn="ctr" indent="0" marL="0">
              <a:buNone/>
            </a:pPr>
            <a:r>
              <a:rPr lang="en-US" sz="1300" b="1" spc="100" kern="0" dirty="0">
                <a:solidFill>
                  <a:srgbClr val="FFFFFF"/>
                </a:solidFill>
                <a:latin typeface="Calibri" pitchFamily="34" charset="0"/>
                <a:ea typeface="Calibri" pitchFamily="34" charset="-122"/>
                <a:cs typeface="Calibri" pitchFamily="34" charset="-120"/>
              </a:rPr>
              <a:t>UNVERIFIED</a:t>
            </a:r>
            <a:endParaRPr lang="en-US" sz="1300" dirty="0"/>
          </a:p>
        </p:txBody>
      </p:sp>
      <p:sp>
        <p:nvSpPr>
          <p:cNvPr id="19" name="Text 17"/>
          <p:cNvSpPr txBox="1"/>
          <p:nvPr/>
        </p:nvSpPr>
        <p:spPr>
          <a:xfrm>
            <a:off x="8421624" y="2697480"/>
            <a:ext cx="2880360" cy="411480"/>
          </a:xfrm>
          <a:prstGeom prst="rect">
            <a:avLst/>
          </a:prstGeom>
          <a:noFill/>
          <a:ln/>
        </p:spPr>
        <p:txBody>
          <a:bodyPr wrap="square" lIns="0" tIns="0" rIns="0" bIns="0" rtlCol="0" anchor="ctr"/>
          <a:lstStyle/>
          <a:p>
            <a:pPr indent="0" marL="0">
              <a:buNone/>
            </a:pPr>
            <a:r>
              <a:rPr lang="en-US" sz="2000" b="1" dirty="0">
                <a:solidFill>
                  <a:srgbClr val="14201B"/>
                </a:solidFill>
                <a:latin typeface="Calibri" pitchFamily="34" charset="0"/>
                <a:ea typeface="Calibri" pitchFamily="34" charset="-122"/>
                <a:cs typeface="Calibri" pitchFamily="34" charset="-120"/>
              </a:rPr>
              <a:t>Nothing proved</a:t>
            </a:r>
            <a:endParaRPr lang="en-US" sz="2000" dirty="0"/>
          </a:p>
        </p:txBody>
      </p:sp>
      <p:sp>
        <p:nvSpPr>
          <p:cNvPr id="20" name="Text 18"/>
          <p:cNvSpPr txBox="1"/>
          <p:nvPr/>
        </p:nvSpPr>
        <p:spPr>
          <a:xfrm>
            <a:off x="8421624" y="3200400"/>
            <a:ext cx="2880360" cy="1600200"/>
          </a:xfrm>
          <a:prstGeom prst="rect">
            <a:avLst/>
          </a:prstGeom>
          <a:noFill/>
          <a:ln/>
        </p:spPr>
        <p:txBody>
          <a:bodyPr wrap="square" lIns="0" tIns="0" rIns="0" bIns="0" rtlCol="0" anchor="t"/>
          <a:lstStyle/>
          <a:p>
            <a:pPr marL="342900" indent="-342900">
              <a:spcAft>
                <a:spcPts val="300"/>
              </a:spcAft>
              <a:buSzPct val="100000"/>
              <a:buChar char="•"/>
            </a:pPr>
            <a:r>
              <a:rPr lang="en-US" sz="1400" dirty="0">
                <a:solidFill>
                  <a:srgbClr val="4A5751"/>
                </a:solidFill>
                <a:latin typeface="Calibri" pitchFamily="34" charset="0"/>
                <a:ea typeface="Calibri" pitchFamily="34" charset="-122"/>
                <a:cs typeface="Calibri" pitchFamily="34" charset="-120"/>
              </a:rPr>
              <a:t>filed with the gaps named — e.g. '3 things changed at once: no way to say which one worked'</a:t>
            </a:r>
            <a:endParaRPr lang="en-US" sz="1400" dirty="0"/>
          </a:p>
        </p:txBody>
      </p:sp>
      <p:sp>
        <p:nvSpPr>
          <p:cNvPr id="21" name="Text 19"/>
          <p:cNvSpPr txBox="1"/>
          <p:nvPr/>
        </p:nvSpPr>
        <p:spPr>
          <a:xfrm>
            <a:off x="8421624" y="4846320"/>
            <a:ext cx="2880360" cy="365760"/>
          </a:xfrm>
          <a:prstGeom prst="rect">
            <a:avLst/>
          </a:prstGeom>
          <a:noFill/>
          <a:ln/>
        </p:spPr>
        <p:txBody>
          <a:bodyPr wrap="square" lIns="0" tIns="0" rIns="0" bIns="0" rtlCol="0" anchor="ctr"/>
          <a:lstStyle/>
          <a:p>
            <a:pPr indent="0" marL="0">
              <a:buNone/>
            </a:pPr>
            <a:r>
              <a:rPr lang="en-US" sz="1400" b="1" dirty="0">
                <a:solidFill>
                  <a:srgbClr val="14201B"/>
                </a:solidFill>
                <a:latin typeface="Calibri" pitchFamily="34" charset="0"/>
                <a:ea typeface="Calibri" pitchFamily="34" charset="-122"/>
                <a:cs typeface="Calibri" pitchFamily="34" charset="-120"/>
              </a:rPr>
              <a:t>Adjusts nothing</a:t>
            </a:r>
            <a:endParaRPr lang="en-US" sz="1400" dirty="0"/>
          </a:p>
        </p:txBody>
      </p:sp>
      <p:sp>
        <p:nvSpPr>
          <p:cNvPr id="22" name="Text 20"/>
          <p:cNvSpPr txBox="1"/>
          <p:nvPr/>
        </p:nvSpPr>
        <p:spPr>
          <a:xfrm>
            <a:off x="548640" y="5669280"/>
            <a:ext cx="11094415" cy="411480"/>
          </a:xfrm>
          <a:prstGeom prst="rect">
            <a:avLst/>
          </a:prstGeom>
          <a:noFill/>
          <a:ln/>
        </p:spPr>
        <p:txBody>
          <a:bodyPr wrap="square" lIns="0" tIns="0" rIns="0" bIns="0" rtlCol="0" anchor="ctr"/>
          <a:lstStyle/>
          <a:p>
            <a:pPr indent="0" marL="0">
              <a:buNone/>
            </a:pPr>
            <a:r>
              <a:rPr lang="en-US" sz="1800" i="1" dirty="0">
                <a:solidFill>
                  <a:srgbClr val="1F7A4D"/>
                </a:solidFill>
                <a:latin typeface="Cambria" pitchFamily="34" charset="0"/>
                <a:ea typeface="Cambria" pitchFamily="34" charset="-122"/>
                <a:cs typeface="Cambria" pitchFamily="34" charset="-120"/>
              </a:rPr>
              <a:t>Precedent can lower confidence, never raise it — so the system can't talk itself into being right.</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3B2E"/>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E9B07C"/>
                </a:solidFill>
                <a:latin typeface="Calibri" pitchFamily="34" charset="0"/>
                <a:ea typeface="Calibri" pitchFamily="34" charset="-122"/>
                <a:cs typeface="Calibri" pitchFamily="34" charset="-120"/>
              </a:rPr>
              <a:t>INDUSTRY IMPACT</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Ready to pilot on an NSW line</a:t>
            </a:r>
            <a:endParaRPr lang="en-US" sz="3000" dirty="0"/>
          </a:p>
        </p:txBody>
      </p:sp>
      <p:sp>
        <p:nvSpPr>
          <p:cNvPr id="4" name="Text 2"/>
          <p:cNvSpPr txBox="1"/>
          <p:nvPr/>
        </p:nvSpPr>
        <p:spPr>
          <a:xfrm>
            <a:off x="548640" y="1691640"/>
            <a:ext cx="5303520" cy="365760"/>
          </a:xfrm>
          <a:prstGeom prst="rect">
            <a:avLst/>
          </a:prstGeom>
          <a:noFill/>
          <a:ln/>
        </p:spPr>
        <p:txBody>
          <a:bodyPr wrap="square" lIns="0" tIns="0" rIns="0" bIns="0" rtlCol="0" anchor="ctr"/>
          <a:lstStyle/>
          <a:p>
            <a:pPr indent="0" marL="0">
              <a:buNone/>
            </a:pPr>
            <a:r>
              <a:rPr lang="en-US" sz="1800" b="1" dirty="0">
                <a:solidFill>
                  <a:srgbClr val="9CC9B1"/>
                </a:solidFill>
                <a:latin typeface="Calibri" pitchFamily="34" charset="0"/>
                <a:ea typeface="Calibri" pitchFamily="34" charset="-122"/>
                <a:cs typeface="Calibri" pitchFamily="34" charset="-120"/>
              </a:rPr>
              <a:t>Value on day one</a:t>
            </a:r>
            <a:endParaRPr lang="en-US" sz="1800" dirty="0"/>
          </a:p>
        </p:txBody>
      </p:sp>
      <p:sp>
        <p:nvSpPr>
          <p:cNvPr id="5" name="Shape 3"/>
          <p:cNvSpPr/>
          <p:nvPr/>
        </p:nvSpPr>
        <p:spPr>
          <a:xfrm>
            <a:off x="548640" y="2240280"/>
            <a:ext cx="566928" cy="566928"/>
          </a:xfrm>
          <a:prstGeom prst="ellipse">
            <a:avLst/>
          </a:prstGeom>
          <a:solidFill>
            <a:srgbClr val="1F7A4D"/>
          </a:solidFill>
          <a:ln w="12700">
            <a:solidFill>
              <a:srgbClr val="1F7A4D"/>
            </a:solidFill>
            <a:prstDash val="solid"/>
          </a:ln>
        </p:spPr>
      </p:sp>
      <p:pic>
        <p:nvPicPr>
          <p:cNvPr id="6" name="Image 0" descr="preencoded.png">    </p:cNvPr>
          <p:cNvPicPr>
            <a:picLocks noChangeAspect="1"/>
          </p:cNvPicPr>
          <p:nvPr/>
        </p:nvPicPr>
        <p:blipFill>
          <a:blip r:embed="rId1"/>
          <a:stretch>
            <a:fillRect/>
          </a:stretch>
        </p:blipFill>
        <p:spPr>
          <a:xfrm>
            <a:off x="679033" y="2370673"/>
            <a:ext cx="306141" cy="306141"/>
          </a:xfrm>
          <a:prstGeom prst="rect">
            <a:avLst/>
          </a:prstGeom>
        </p:spPr>
      </p:pic>
      <p:sp>
        <p:nvSpPr>
          <p:cNvPr id="7" name="Text 4"/>
          <p:cNvSpPr txBox="1"/>
          <p:nvPr/>
        </p:nvSpPr>
        <p:spPr>
          <a:xfrm>
            <a:off x="1325880" y="224028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 new technician's first check — ranked, with reasons</a:t>
            </a:r>
            <a:endParaRPr lang="en-US" sz="1600" dirty="0"/>
          </a:p>
        </p:txBody>
      </p:sp>
      <p:sp>
        <p:nvSpPr>
          <p:cNvPr id="8" name="Shape 5"/>
          <p:cNvSpPr/>
          <p:nvPr/>
        </p:nvSpPr>
        <p:spPr>
          <a:xfrm>
            <a:off x="548640" y="3108960"/>
            <a:ext cx="566928" cy="566928"/>
          </a:xfrm>
          <a:prstGeom prst="ellipse">
            <a:avLst/>
          </a:prstGeom>
          <a:solidFill>
            <a:srgbClr val="1F7A4D"/>
          </a:solidFill>
          <a:ln w="12700">
            <a:solidFill>
              <a:srgbClr val="1F7A4D"/>
            </a:solidFill>
            <a:prstDash val="solid"/>
          </a:ln>
        </p:spPr>
      </p:sp>
      <p:pic>
        <p:nvPicPr>
          <p:cNvPr id="9" name="Image 1" descr="preencoded.png">    </p:cNvPr>
          <p:cNvPicPr>
            <a:picLocks noChangeAspect="1"/>
          </p:cNvPicPr>
          <p:nvPr/>
        </p:nvPicPr>
        <p:blipFill>
          <a:blip r:embed="rId2"/>
          <a:stretch>
            <a:fillRect/>
          </a:stretch>
        </p:blipFill>
        <p:spPr>
          <a:xfrm>
            <a:off x="679033" y="3239353"/>
            <a:ext cx="306141" cy="306141"/>
          </a:xfrm>
          <a:prstGeom prst="rect">
            <a:avLst/>
          </a:prstGeom>
        </p:spPr>
      </p:pic>
      <p:sp>
        <p:nvSpPr>
          <p:cNvPr id="10" name="Text 6"/>
          <p:cNvSpPr txBox="1"/>
          <p:nvPr/>
        </p:nvSpPr>
        <p:spPr>
          <a:xfrm>
            <a:off x="1325880" y="310896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An audit-ready report for every case, printable as PDF</a:t>
            </a:r>
            <a:endParaRPr lang="en-US" sz="1600" dirty="0"/>
          </a:p>
        </p:txBody>
      </p:sp>
      <p:sp>
        <p:nvSpPr>
          <p:cNvPr id="11" name="Shape 7"/>
          <p:cNvSpPr/>
          <p:nvPr/>
        </p:nvSpPr>
        <p:spPr>
          <a:xfrm>
            <a:off x="548640" y="3977640"/>
            <a:ext cx="566928" cy="566928"/>
          </a:xfrm>
          <a:prstGeom prst="ellipse">
            <a:avLst/>
          </a:prstGeom>
          <a:solidFill>
            <a:srgbClr val="1F7A4D"/>
          </a:solidFill>
          <a:ln w="12700">
            <a:solidFill>
              <a:srgbClr val="1F7A4D"/>
            </a:solidFill>
            <a:prstDash val="solid"/>
          </a:ln>
        </p:spPr>
      </p:sp>
      <p:pic>
        <p:nvPicPr>
          <p:cNvPr id="12" name="Image 2" descr="preencoded.png">    </p:cNvPr>
          <p:cNvPicPr>
            <a:picLocks noChangeAspect="1"/>
          </p:cNvPicPr>
          <p:nvPr/>
        </p:nvPicPr>
        <p:blipFill>
          <a:blip r:embed="rId3"/>
          <a:stretch>
            <a:fillRect/>
          </a:stretch>
        </p:blipFill>
        <p:spPr>
          <a:xfrm>
            <a:off x="679033" y="4108033"/>
            <a:ext cx="306141" cy="306141"/>
          </a:xfrm>
          <a:prstGeom prst="rect">
            <a:avLst/>
          </a:prstGeom>
        </p:spPr>
      </p:pic>
      <p:sp>
        <p:nvSpPr>
          <p:cNvPr id="13" name="Text 8"/>
          <p:cNvSpPr txBox="1"/>
          <p:nvPr/>
        </p:nvSpPr>
        <p:spPr>
          <a:xfrm>
            <a:off x="1325880" y="397764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A troubleshooting history that only keeps proved fixes</a:t>
            </a:r>
            <a:endParaRPr lang="en-US" sz="1600" dirty="0"/>
          </a:p>
        </p:txBody>
      </p:sp>
      <p:sp>
        <p:nvSpPr>
          <p:cNvPr id="14" name="Shape 9"/>
          <p:cNvSpPr/>
          <p:nvPr/>
        </p:nvSpPr>
        <p:spPr>
          <a:xfrm>
            <a:off x="548640" y="4846320"/>
            <a:ext cx="566928" cy="566928"/>
          </a:xfrm>
          <a:prstGeom prst="ellipse">
            <a:avLst/>
          </a:prstGeom>
          <a:solidFill>
            <a:srgbClr val="1F7A4D"/>
          </a:solidFill>
          <a:ln w="12700">
            <a:solidFill>
              <a:srgbClr val="1F7A4D"/>
            </a:solidFill>
            <a:prstDash val="solid"/>
          </a:ln>
        </p:spPr>
      </p:sp>
      <p:pic>
        <p:nvPicPr>
          <p:cNvPr id="15" name="Image 3" descr="preencoded.png">    </p:cNvPr>
          <p:cNvPicPr>
            <a:picLocks noChangeAspect="1"/>
          </p:cNvPicPr>
          <p:nvPr/>
        </p:nvPicPr>
        <p:blipFill>
          <a:blip r:embed="rId4"/>
          <a:stretch>
            <a:fillRect/>
          </a:stretch>
        </p:blipFill>
        <p:spPr>
          <a:xfrm>
            <a:off x="679033" y="4976713"/>
            <a:ext cx="306141" cy="306141"/>
          </a:xfrm>
          <a:prstGeom prst="rect">
            <a:avLst/>
          </a:prstGeom>
        </p:spPr>
      </p:pic>
      <p:sp>
        <p:nvSpPr>
          <p:cNvPr id="16" name="Text 10"/>
          <p:cNvSpPr txBox="1"/>
          <p:nvPr/>
        </p:nvSpPr>
        <p:spPr>
          <a:xfrm>
            <a:off x="1325880" y="4846320"/>
            <a:ext cx="4572000" cy="566928"/>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Runs offline on a line PC; a phone camera is enough</a:t>
            </a:r>
            <a:endParaRPr lang="en-US" sz="1600" dirty="0"/>
          </a:p>
        </p:txBody>
      </p:sp>
      <p:sp>
        <p:nvSpPr>
          <p:cNvPr id="17" name="Text 11"/>
          <p:cNvSpPr txBox="1"/>
          <p:nvPr/>
        </p:nvSpPr>
        <p:spPr>
          <a:xfrm>
            <a:off x="6400800" y="1691640"/>
            <a:ext cx="5212080" cy="365760"/>
          </a:xfrm>
          <a:prstGeom prst="rect">
            <a:avLst/>
          </a:prstGeom>
          <a:noFill/>
          <a:ln/>
        </p:spPr>
        <p:txBody>
          <a:bodyPr wrap="square" lIns="0" tIns="0" rIns="0" bIns="0" rtlCol="0" anchor="ctr"/>
          <a:lstStyle/>
          <a:p>
            <a:pPr indent="0" marL="0">
              <a:buNone/>
            </a:pPr>
            <a:r>
              <a:rPr lang="en-US" sz="1800" b="1" dirty="0">
                <a:solidFill>
                  <a:srgbClr val="9CC9B1"/>
                </a:solidFill>
                <a:latin typeface="Calibri" pitchFamily="34" charset="0"/>
                <a:ea typeface="Calibri" pitchFamily="34" charset="-122"/>
                <a:cs typeface="Calibri" pitchFamily="34" charset="-120"/>
              </a:rPr>
              <a:t>Pilot plan</a:t>
            </a:r>
            <a:endParaRPr lang="en-US" sz="1800" dirty="0"/>
          </a:p>
        </p:txBody>
      </p:sp>
      <p:sp>
        <p:nvSpPr>
          <p:cNvPr id="18" name="Shape 12"/>
          <p:cNvSpPr/>
          <p:nvPr/>
        </p:nvSpPr>
        <p:spPr>
          <a:xfrm>
            <a:off x="6400800" y="2267712"/>
            <a:ext cx="512064" cy="512064"/>
          </a:xfrm>
          <a:prstGeom prst="ellipse">
            <a:avLst/>
          </a:prstGeom>
          <a:solidFill>
            <a:srgbClr val="C8742B"/>
          </a:solidFill>
          <a:ln w="12700">
            <a:solidFill>
              <a:srgbClr val="C8742B"/>
            </a:solidFill>
            <a:prstDash val="solid"/>
          </a:ln>
        </p:spPr>
      </p:sp>
      <p:sp>
        <p:nvSpPr>
          <p:cNvPr id="19" name="Text 13"/>
          <p:cNvSpPr txBox="1"/>
          <p:nvPr/>
        </p:nvSpPr>
        <p:spPr>
          <a:xfrm>
            <a:off x="6400800" y="226771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20" name="Text 14"/>
          <p:cNvSpPr txBox="1"/>
          <p:nvPr/>
        </p:nvSpPr>
        <p:spPr>
          <a:xfrm>
            <a:off x="7132320" y="224028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Validate on 50–100 real NSW photos per product</a:t>
            </a:r>
            <a:endParaRPr lang="en-US" sz="1500" dirty="0"/>
          </a:p>
        </p:txBody>
      </p:sp>
      <p:sp>
        <p:nvSpPr>
          <p:cNvPr id="21" name="Shape 15"/>
          <p:cNvSpPr/>
          <p:nvPr/>
        </p:nvSpPr>
        <p:spPr>
          <a:xfrm>
            <a:off x="6400800" y="3136392"/>
            <a:ext cx="512064" cy="512064"/>
          </a:xfrm>
          <a:prstGeom prst="ellipse">
            <a:avLst/>
          </a:prstGeom>
          <a:solidFill>
            <a:srgbClr val="C8742B"/>
          </a:solidFill>
          <a:ln w="12700">
            <a:solidFill>
              <a:srgbClr val="C8742B"/>
            </a:solidFill>
            <a:prstDash val="solid"/>
          </a:ln>
        </p:spPr>
      </p:sp>
      <p:sp>
        <p:nvSpPr>
          <p:cNvPr id="22" name="Text 16"/>
          <p:cNvSpPr txBox="1"/>
          <p:nvPr/>
        </p:nvSpPr>
        <p:spPr>
          <a:xfrm>
            <a:off x="6400800" y="313639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23" name="Text 17"/>
          <p:cNvSpPr txBox="1"/>
          <p:nvPr/>
        </p:nvSpPr>
        <p:spPr>
          <a:xfrm>
            <a:off x="7132320" y="310896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Subtract a bare-board reference photo to remove clutter false alarms</a:t>
            </a:r>
            <a:endParaRPr lang="en-US" sz="1500" dirty="0"/>
          </a:p>
        </p:txBody>
      </p:sp>
      <p:sp>
        <p:nvSpPr>
          <p:cNvPr id="24" name="Shape 18"/>
          <p:cNvSpPr/>
          <p:nvPr/>
        </p:nvSpPr>
        <p:spPr>
          <a:xfrm>
            <a:off x="6400800" y="4005072"/>
            <a:ext cx="512064" cy="512064"/>
          </a:xfrm>
          <a:prstGeom prst="ellipse">
            <a:avLst/>
          </a:prstGeom>
          <a:solidFill>
            <a:srgbClr val="C8742B"/>
          </a:solidFill>
          <a:ln w="12700">
            <a:solidFill>
              <a:srgbClr val="C8742B"/>
            </a:solidFill>
            <a:prstDash val="solid"/>
          </a:ln>
        </p:spPr>
      </p:sp>
      <p:sp>
        <p:nvSpPr>
          <p:cNvPr id="25" name="Text 19"/>
          <p:cNvSpPr txBox="1"/>
          <p:nvPr/>
        </p:nvSpPr>
        <p:spPr>
          <a:xfrm>
            <a:off x="6400800" y="400507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26" name="Text 20"/>
          <p:cNvSpPr txBox="1"/>
          <p:nvPr/>
        </p:nvSpPr>
        <p:spPr>
          <a:xfrm>
            <a:off x="7132320" y="397764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Rules as data: engineers add causes (e.g. up height, NPL §3.3) without code</a:t>
            </a:r>
            <a:endParaRPr lang="en-US" sz="1500" dirty="0"/>
          </a:p>
        </p:txBody>
      </p:sp>
      <p:sp>
        <p:nvSpPr>
          <p:cNvPr id="27" name="Shape 21"/>
          <p:cNvSpPr/>
          <p:nvPr/>
        </p:nvSpPr>
        <p:spPr>
          <a:xfrm>
            <a:off x="6400800" y="4873752"/>
            <a:ext cx="512064" cy="512064"/>
          </a:xfrm>
          <a:prstGeom prst="ellipse">
            <a:avLst/>
          </a:prstGeom>
          <a:solidFill>
            <a:srgbClr val="C8742B"/>
          </a:solidFill>
          <a:ln w="12700">
            <a:solidFill>
              <a:srgbClr val="C8742B"/>
            </a:solidFill>
            <a:prstDash val="solid"/>
          </a:ln>
        </p:spPr>
      </p:sp>
      <p:sp>
        <p:nvSpPr>
          <p:cNvPr id="28" name="Text 22"/>
          <p:cNvSpPr txBox="1"/>
          <p:nvPr/>
        </p:nvSpPr>
        <p:spPr>
          <a:xfrm>
            <a:off x="6400800" y="4873752"/>
            <a:ext cx="512064" cy="512064"/>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9" name="Text 23"/>
          <p:cNvSpPr txBox="1"/>
          <p:nvPr/>
        </p:nvSpPr>
        <p:spPr>
          <a:xfrm>
            <a:off x="7132320" y="4846320"/>
            <a:ext cx="4480560" cy="566928"/>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Predict: open a case automatically when a line's size spread starts drifting</a:t>
            </a:r>
            <a:endParaRPr lang="en-US" sz="1500" dirty="0"/>
          </a:p>
        </p:txBody>
      </p:sp>
      <p:sp>
        <p:nvSpPr>
          <p:cNvPr id="30" name="Text 24"/>
          <p:cNvSpPr txBox="1"/>
          <p:nvPr/>
        </p:nvSpPr>
        <p:spPr>
          <a:xfrm>
            <a:off x="548640" y="5897880"/>
            <a:ext cx="11094415" cy="457200"/>
          </a:xfrm>
          <a:prstGeom prst="rect">
            <a:avLst/>
          </a:prstGeom>
          <a:noFill/>
          <a:ln/>
        </p:spPr>
        <p:txBody>
          <a:bodyPr wrap="square" lIns="0" tIns="0" rIns="0" bIns="0" rtlCol="0" anchor="ctr"/>
          <a:lstStyle/>
          <a:p>
            <a:pPr algn="r" indent="0" marL="0">
              <a:buNone/>
            </a:pPr>
            <a:r>
              <a:rPr lang="en-US" sz="2200" b="1" dirty="0">
                <a:solidFill>
                  <a:srgbClr val="E9B07C"/>
                </a:solidFill>
                <a:latin typeface="Cambria" pitchFamily="34" charset="0"/>
                <a:ea typeface="Cambria" pitchFamily="34" charset="-122"/>
                <a:cs typeface="Cambria" pitchFamily="34" charset="-120"/>
              </a:rPr>
              <a:t>Live demo next →</a:t>
            </a:r>
            <a:endParaRPr lang="en-US" sz="2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CONFIDENCE TIERS</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Four confidence tiers — and agreement never raises one</a:t>
            </a:r>
            <a:endParaRPr lang="en-US" sz="3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94415" cy="914400"/>
        </p:xfrm>
        <a:graphic>
          <a:graphicData uri="http://schemas.openxmlformats.org/drawingml/2006/table">
            <a:tbl>
              <a:tblPr/>
              <a:tblGrid>
                <a:gridCol w="822960"/>
                <a:gridCol w="5486400"/>
                <a:gridCol w="4785055"/>
              </a:tblGrid>
              <a:tr h="566928">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Tier</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1F7A4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Reached when</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1F7A4D"/>
                    </a:solidFill>
                  </a:tcPr>
                </a:tc>
                <a:tc>
                  <a:txBody>
                    <a:bodyPr/>
                    <a:lstStyle/>
                    <a:p>
                      <a:pPr indent="0" marL="0">
                        <a:buNone/>
                      </a:pPr>
                      <a:r>
                        <a:rPr lang="en-US" sz="1400" b="1" dirty="0">
                          <a:solidFill>
                            <a:srgbClr val="FFFFFF"/>
                          </a:solidFill>
                          <a:latin typeface="Calibri" pitchFamily="34" charset="0"/>
                          <a:ea typeface="Calibri" pitchFamily="34" charset="-122"/>
                          <a:cs typeface="Calibri" pitchFamily="34" charset="-120"/>
                        </a:rPr>
                        <a:t>What the operator sees</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1F7A4D"/>
                    </a:solidFill>
                  </a:tcPr>
                </a:tc>
              </a:tr>
              <a:tr h="566928">
                <a:tc>
                  <a:txBody>
                    <a:bodyPr/>
                    <a:lstStyle/>
                    <a:p>
                      <a:pPr indent="0" marL="0">
                        <a:buNone/>
                      </a:pPr>
                      <a:r>
                        <a:rPr lang="en-US" sz="1400" b="1" dirty="0">
                          <a:solidFill>
                            <a:srgbClr val="14201B"/>
                          </a:solidFill>
                          <a:latin typeface="Calibri" pitchFamily="34" charset="0"/>
                          <a:ea typeface="Calibri" pitchFamily="34" charset="-122"/>
                          <a:cs typeface="Calibri" pitchFamily="34" charset="-120"/>
                        </a:rPr>
                        <a:t>T1</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Rule engine and critic agree · deciding measurement beats chance · ≥3 similar confirmed cases, none contradicting</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One lead cause, with evidence and matching past cases</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r>
              <a:tr h="566928">
                <a:tc>
                  <a:txBody>
                    <a:bodyPr/>
                    <a:lstStyle/>
                    <a:p>
                      <a:pPr indent="0" marL="0">
                        <a:buNone/>
                      </a:pPr>
                      <a:r>
                        <a:rPr lang="en-US" sz="1400" b="1" dirty="0">
                          <a:solidFill>
                            <a:srgbClr val="14201B"/>
                          </a:solidFill>
                          <a:latin typeface="Calibri" pitchFamily="34" charset="0"/>
                          <a:ea typeface="Calibri" pitchFamily="34" charset="-122"/>
                          <a:cs typeface="Calibri" pitchFamily="34" charset="-120"/>
                        </a:rPr>
                        <a:t>T2</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They agree, but no precedent or the measurement isn't decisive</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One lead cause, marked provisional, with what would confirm it</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r>
              <a:tr h="566928">
                <a:tc>
                  <a:txBody>
                    <a:bodyPr/>
                    <a:lstStyle/>
                    <a:p>
                      <a:pPr indent="0" marL="0">
                        <a:buNone/>
                      </a:pPr>
                      <a:r>
                        <a:rPr lang="en-US" sz="1400" b="1" dirty="0">
                          <a:solidFill>
                            <a:srgbClr val="14201B"/>
                          </a:solidFill>
                          <a:latin typeface="Calibri" pitchFamily="34" charset="0"/>
                          <a:ea typeface="Calibri" pitchFamily="34" charset="-122"/>
                          <a:cs typeface="Calibri" pitchFamily="34" charset="-120"/>
                        </a:rPr>
                        <a:t>T3</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They disagree · the measurement beats chance</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Both candidates; the measurement holds the top slot</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EEF5F1"/>
                    </a:solidFill>
                  </a:tcPr>
                </a:tc>
              </a:tr>
              <a:tr h="566928">
                <a:tc>
                  <a:txBody>
                    <a:bodyPr/>
                    <a:lstStyle/>
                    <a:p>
                      <a:pPr indent="0" marL="0">
                        <a:buNone/>
                      </a:pPr>
                      <a:r>
                        <a:rPr lang="en-US" sz="1400" b="1" dirty="0">
                          <a:solidFill>
                            <a:srgbClr val="14201B"/>
                          </a:solidFill>
                          <a:latin typeface="Calibri" pitchFamily="34" charset="0"/>
                          <a:ea typeface="Calibri" pitchFamily="34" charset="-122"/>
                          <a:cs typeface="Calibri" pitchFamily="34" charset="-120"/>
                        </a:rPr>
                        <a:t>T4</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They disagree · the measurement can't separate them</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c>
                  <a:txBody>
                    <a:bodyPr/>
                    <a:lstStyle/>
                    <a:p>
                      <a:pPr indent="0" marL="0">
                        <a:buNone/>
                      </a:pPr>
                      <a:r>
                        <a:rPr lang="en-US" sz="1400" dirty="0">
                          <a:solidFill>
                            <a:srgbClr val="14201B"/>
                          </a:solidFill>
                          <a:latin typeface="Calibri" pitchFamily="34" charset="0"/>
                          <a:ea typeface="Calibri" pitchFamily="34" charset="-122"/>
                          <a:cs typeface="Calibri" pitchFamily="34" charset="-120"/>
                        </a:rPr>
                        <a:t>No lead cause — the check that would separate them</a:t>
                      </a:r>
                      <a:endParaRPr lang="en-US" sz="1400" dirty="0">
                        <a:latin typeface="Calibri" charset="0"/>
                        <a:ea typeface="Calibri" charset="0"/>
                        <a:cs typeface="Calibri" charset="0"/>
                      </a:endParaRPr>
                    </a:p>
                  </a:txBody>
                  <a:tcPr marL="109728" marR="109728" marT="73152" marB="73152" anchor="ctr">
                    <a:lnL w="9525" cap="flat" cmpd="sng" algn="ctr">
                      <a:solidFill>
                        <a:srgbClr val="D7E3DC"/>
                      </a:solidFill>
                      <a:prstDash val="solid"/>
                      <a:round/>
                      <a:headEnd type="none" w="med" len="med"/>
                      <a:tailEnd type="none" w="med" len="med"/>
                    </a:lnL>
                    <a:lnR w="9525" cap="flat" cmpd="sng" algn="ctr">
                      <a:solidFill>
                        <a:srgbClr val="D7E3DC"/>
                      </a:solidFill>
                      <a:prstDash val="solid"/>
                      <a:round/>
                      <a:headEnd type="none" w="med" len="med"/>
                      <a:tailEnd type="none" w="med" len="med"/>
                    </a:lnR>
                    <a:lnT w="9525" cap="flat" cmpd="sng" algn="ctr">
                      <a:solidFill>
                        <a:srgbClr val="D7E3DC"/>
                      </a:solidFill>
                      <a:prstDash val="solid"/>
                      <a:round/>
                      <a:headEnd type="none" w="med" len="med"/>
                      <a:tailEnd type="none" w="med" len="med"/>
                    </a:lnT>
                    <a:lnB w="9525" cap="flat" cmpd="sng" algn="ctr">
                      <a:solidFill>
                        <a:srgbClr val="D7E3DC"/>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548640" y="4892040"/>
            <a:ext cx="11094415" cy="1188720"/>
          </a:xfrm>
          <a:prstGeom prst="rect">
            <a:avLst/>
          </a:prstGeom>
          <a:noFill/>
          <a:ln/>
        </p:spPr>
        <p:txBody>
          <a:bodyPr wrap="square" lIns="0" tIns="0" rIns="0" bIns="0" rtlCol="0" anchor="t"/>
          <a:lstStyle/>
          <a:p>
            <a:pPr indent="0" marL="0">
              <a:spcAft>
                <a:spcPts val="600"/>
              </a:spcAft>
              <a:buNone/>
            </a:pPr>
            <a:r>
              <a:rPr lang="en-US" sz="1400" b="1" dirty="0">
                <a:solidFill>
                  <a:srgbClr val="4A5751"/>
                </a:solidFill>
                <a:latin typeface="Calibri" pitchFamily="34" charset="0"/>
                <a:ea typeface="Calibri" pitchFamily="34" charset="-122"/>
                <a:cs typeface="Calibri" pitchFamily="34" charset="-120"/>
              </a:rPr>
              <a:t>Gate A — chance. </a:t>
            </a:r>
            <a:pPr indent="0" marL="0">
              <a:spcAft>
                <a:spcPts val="600"/>
              </a:spcAft>
              <a:buNone/>
            </a:pPr>
            <a:r>
              <a:rPr lang="en-US" sz="1400" dirty="0">
                <a:solidFill>
                  <a:srgbClr val="4A5751"/>
                </a:solidFill>
                <a:latin typeface="Calibri" pitchFamily="34" charset="0"/>
                <a:ea typeface="Calibri" pitchFamily="34" charset="-122"/>
                <a:cs typeface="Calibri" pitchFamily="34" charset="-120"/>
              </a:rPr>
              <a:t>Only a signal that separates causes counts: the dispense-order pattern (binomial test, p &lt; 0.05). A size spread is real but shared by several causes, so it can't decide.</a:t>
            </a:r>
            <a:endParaRPr lang="en-US" sz="1400" dirty="0"/>
          </a:p>
          <a:p>
            <a:pPr indent="0" marL="0">
              <a:spcAft>
                <a:spcPts val="600"/>
              </a:spcAft>
              <a:buNone/>
            </a:pPr>
            <a:r>
              <a:rPr lang="en-US" sz="1400" b="1" dirty="0">
                <a:solidFill>
                  <a:srgbClr val="4A5751"/>
                </a:solidFill>
                <a:latin typeface="Calibri" pitchFamily="34" charset="0"/>
                <a:ea typeface="Calibri" pitchFamily="34" charset="-122"/>
                <a:cs typeface="Calibri" pitchFamily="34" charset="-120"/>
              </a:rPr>
              <a:t>Gate B — precedent. </a:t>
            </a:r>
            <a:pPr indent="0" marL="0">
              <a:spcAft>
                <a:spcPts val="600"/>
              </a:spcAft>
              <a:buNone/>
            </a:pPr>
            <a:r>
              <a:rPr lang="en-US" sz="1400" dirty="0">
                <a:solidFill>
                  <a:srgbClr val="4A5751"/>
                </a:solidFill>
                <a:latin typeface="Calibri" pitchFamily="34" charset="0"/>
                <a:ea typeface="Calibri" pitchFamily="34" charset="-122"/>
                <a:cs typeface="Calibri" pitchFamily="34" charset="-120"/>
              </a:rPr>
              <a:t>Similar confirmed cases (same material and dispenser, signals within one spread) can demote the lead by up to 0.4 log-odds — never promote it.</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EVALUATION</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The photo matters most when the answers are worst</a:t>
            </a:r>
            <a:endParaRPr lang="en-US" sz="3000" dirty="0"/>
          </a:p>
        </p:txBody>
      </p:sp>
      <p:graphicFrame>
        <p:nvGraphicFramePr>
          <p:cNvPr id="4" name="Chart 0" descr=""/>
          <p:cNvGraphicFramePr/>
          <p:nvPr/>
        </p:nvGraphicFramePr>
        <p:xfrm>
          <a:off x="548640" y="1645920"/>
          <a:ext cx="7498080" cy="42976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828800"/>
            <a:ext cx="3246120" cy="3657600"/>
          </a:xfrm>
          <a:prstGeom prst="rect">
            <a:avLst/>
          </a:prstGeom>
          <a:noFill/>
          <a:ln/>
        </p:spPr>
        <p:txBody>
          <a:bodyPr wrap="square" lIns="0" tIns="0" rIns="0" bIns="0" rtlCol="0" anchor="t"/>
          <a:lstStyle/>
          <a:p>
            <a:pPr indent="0" marL="0">
              <a:buNone/>
            </a:pPr>
            <a:r>
              <a:rPr lang="en-US" sz="3000" b="1" dirty="0">
                <a:solidFill>
                  <a:srgbClr val="C8742B"/>
                </a:solidFill>
                <a:latin typeface="Calibri" pitchFamily="34" charset="0"/>
                <a:ea typeface="Calibri" pitchFamily="34" charset="-122"/>
                <a:cs typeface="Calibri" pitchFamily="34" charset="-120"/>
              </a:rPr>
              <a:t>57% vs 40%</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top cause right when half the answers are guesses — with the photo, and without it.</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1F7A4D"/>
                </a:solidFill>
                <a:latin typeface="Calibri" pitchFamily="34" charset="0"/>
                <a:ea typeface="Calibri" pitchFamily="34" charset="-122"/>
                <a:cs typeface="Calibri" pitchFamily="34" charset="-120"/>
              </a:rPr>
              <a:t>● </a:t>
            </a:r>
            <a:pPr indent="0" marL="0">
              <a:buNone/>
            </a:pPr>
            <a:r>
              <a:rPr lang="en-US" sz="1400" b="1" dirty="0">
                <a:solidFill>
                  <a:srgbClr val="14201B"/>
                </a:solidFill>
                <a:latin typeface="Calibri" pitchFamily="34" charset="0"/>
                <a:ea typeface="Calibri" pitchFamily="34" charset="-122"/>
                <a:cs typeface="Calibri" pitchFamily="34" charset="-120"/>
              </a:rPr>
              <a:t>With the photo: 81% → 66% → 57%</a:t>
            </a:r>
            <a:endParaRPr lang="en-US" sz="1400" dirty="0"/>
          </a:p>
          <a:p>
            <a:pPr indent="0" marL="0">
              <a:buNone/>
            </a:pPr>
            <a:r>
              <a:rPr lang="en-US" sz="1400" dirty="0">
                <a:solidFill>
                  <a:srgbClr val="8A958F"/>
                </a:solidFill>
                <a:latin typeface="Calibri" pitchFamily="34" charset="0"/>
                <a:ea typeface="Calibri" pitchFamily="34" charset="-122"/>
                <a:cs typeface="Calibri" pitchFamily="34" charset="-120"/>
              </a:rPr>
              <a:t>● </a:t>
            </a:r>
            <a:pPr indent="0" marL="0">
              <a:buNone/>
            </a:pPr>
            <a:r>
              <a:rPr lang="en-US" sz="1400" b="1" dirty="0">
                <a:solidFill>
                  <a:srgbClr val="14201B"/>
                </a:solidFill>
                <a:latin typeface="Calibri" pitchFamily="34" charset="0"/>
                <a:ea typeface="Calibri" pitchFamily="34" charset="-122"/>
                <a:cs typeface="Calibri" pitchFamily="34" charset="-120"/>
              </a:rPr>
              <a:t>Questions only: 71% → 54% → 40%</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 </a:t>
            </a:r>
            <a:endParaRPr lang="en-US" sz="1400" dirty="0"/>
          </a:p>
          <a:p>
            <a:pPr indent="0" marL="0">
              <a:buNone/>
            </a:pPr>
            <a:r>
              <a:rPr lang="en-US" sz="1400" dirty="0">
                <a:solidFill>
                  <a:srgbClr val="4A5751"/>
                </a:solidFill>
                <a:latin typeface="Calibri" pitchFamily="34" charset="0"/>
                <a:ea typeface="Calibri" pitchFamily="34" charset="-122"/>
                <a:cs typeface="Calibri" pitchFamily="34" charset="-120"/>
              </a:rPr>
              <a:t>Chance is 14% (one in seven). 420 simulated cases per point; answers from scenario cards written from the NPL guide, not from the rules.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EVALUATION</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It refuses rather than misleads</a:t>
            </a:r>
            <a:endParaRPr lang="en-US" sz="3000" dirty="0"/>
          </a:p>
        </p:txBody>
      </p:sp>
      <p:graphicFrame>
        <p:nvGraphicFramePr>
          <p:cNvPr id="4" name="Chart 0" descr=""/>
          <p:cNvGraphicFramePr/>
          <p:nvPr/>
        </p:nvGraphicFramePr>
        <p:xfrm>
          <a:off x="548640" y="1600200"/>
          <a:ext cx="8229600" cy="45262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9006840" y="1828800"/>
            <a:ext cx="2651760" cy="4206240"/>
          </a:xfrm>
          <a:prstGeom prst="rect">
            <a:avLst/>
          </a:prstGeom>
          <a:noFill/>
          <a:ln/>
        </p:spPr>
        <p:txBody>
          <a:bodyPr wrap="square" lIns="0" tIns="0" rIns="0" bIns="0" rtlCol="0" anchor="t"/>
          <a:lstStyle/>
          <a:p>
            <a:pPr indent="0" marL="0">
              <a:buNone/>
            </a:pPr>
            <a:r>
              <a:rPr lang="en-US" sz="3000" b="1" dirty="0">
                <a:solidFill>
                  <a:srgbClr val="D03B3B"/>
                </a:solidFill>
                <a:latin typeface="Calibri" pitchFamily="34" charset="0"/>
                <a:ea typeface="Calibri" pitchFamily="34" charset="-122"/>
                <a:cs typeface="Calibri" pitchFamily="34" charset="-120"/>
              </a:rPr>
              <a:t>9%</a:t>
            </a:r>
            <a:endParaRPr lang="en-US" sz="1300" dirty="0"/>
          </a:p>
          <a:p>
            <a:pPr indent="0" marL="0">
              <a:buNone/>
            </a:pPr>
            <a:r>
              <a:rPr lang="en-US" sz="1300" dirty="0">
                <a:solidFill>
                  <a:srgbClr val="4A5751"/>
                </a:solidFill>
                <a:latin typeface="Calibri" pitchFamily="34" charset="0"/>
                <a:ea typeface="Calibri" pitchFamily="34" charset="-122"/>
                <a:cs typeface="Calibri" pitchFamily="34" charset="-120"/>
              </a:rPr>
              <a:t>false alarms under light board clutter — the only tested fault that misleads. The fix is a bare-board reference photo.</a:t>
            </a:r>
            <a:endParaRPr lang="en-US" sz="1300" dirty="0"/>
          </a:p>
          <a:p>
            <a:pPr indent="0" marL="0">
              <a:buNone/>
            </a:pPr>
            <a:r>
              <a:rPr lang="en-US" sz="1300" dirty="0">
                <a:solidFill>
                  <a:srgbClr val="4A5751"/>
                </a:solidFill>
                <a:latin typeface="Calibri" pitchFamily="34" charset="0"/>
                <a:ea typeface="Calibri" pitchFamily="34" charset="-122"/>
                <a:cs typeface="Calibri" pitchFamily="34" charset="-120"/>
              </a:rPr>
              <a:t> </a:t>
            </a:r>
            <a:endParaRPr lang="en-US" sz="1300" dirty="0"/>
          </a:p>
          <a:p>
            <a:pPr indent="0" marL="0">
              <a:buNone/>
            </a:pPr>
            <a:r>
              <a:rPr lang="en-US" sz="1300" dirty="0">
                <a:solidFill>
                  <a:srgbClr val="4A5751"/>
                </a:solidFill>
                <a:latin typeface="Calibri" pitchFamily="34" charset="0"/>
                <a:ea typeface="Calibri" pitchFamily="34" charset="-122"/>
                <a:cs typeface="Calibri" pitchFamily="34" charset="-120"/>
              </a:rPr>
              <a:t>Everything else measures correctly or is refused with a reason. 'Missed' is the dispense-order pattern found in about half of carryover photos — the interview then carries it.</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RULE c.2 DECLARATION</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What we built, and what we used</a:t>
            </a:r>
            <a:endParaRPr lang="en-US" sz="3000" dirty="0"/>
          </a:p>
        </p:txBody>
      </p:sp>
      <p:sp>
        <p:nvSpPr>
          <p:cNvPr id="4" name="Shape 2"/>
          <p:cNvSpPr/>
          <p:nvPr/>
        </p:nvSpPr>
        <p:spPr>
          <a:xfrm>
            <a:off x="548640" y="1691640"/>
            <a:ext cx="5349240" cy="4251960"/>
          </a:xfrm>
          <a:prstGeom prst="roundRect">
            <a:avLst>
              <a:gd name="adj" fmla="val 2581"/>
            </a:avLst>
          </a:prstGeom>
          <a:solidFill>
            <a:srgbClr val="EEF5F1"/>
          </a:solidFill>
          <a:ln w="12700">
            <a:solidFill>
              <a:srgbClr val="EEF5F1"/>
            </a:solidFill>
            <a:prstDash val="solid"/>
          </a:ln>
        </p:spPr>
      </p:sp>
      <p:sp>
        <p:nvSpPr>
          <p:cNvPr id="5" name="Text 3"/>
          <p:cNvSpPr txBox="1"/>
          <p:nvPr/>
        </p:nvSpPr>
        <p:spPr>
          <a:xfrm>
            <a:off x="868680" y="1874520"/>
            <a:ext cx="4709160" cy="411480"/>
          </a:xfrm>
          <a:prstGeom prst="rect">
            <a:avLst/>
          </a:prstGeom>
          <a:noFill/>
          <a:ln/>
        </p:spPr>
        <p:txBody>
          <a:bodyPr wrap="square" lIns="0" tIns="0" rIns="0" bIns="0" rtlCol="0" anchor="ctr"/>
          <a:lstStyle/>
          <a:p>
            <a:pPr indent="0" marL="0">
              <a:buNone/>
            </a:pPr>
            <a:r>
              <a:rPr lang="en-US" sz="1900" b="1" dirty="0">
                <a:solidFill>
                  <a:srgbClr val="14201B"/>
                </a:solidFill>
                <a:latin typeface="Calibri" pitchFamily="34" charset="0"/>
                <a:ea typeface="Calibri" pitchFamily="34" charset="-122"/>
                <a:cs typeface="Calibri" pitchFamily="34" charset="-120"/>
              </a:rPr>
              <a:t>Our own work</a:t>
            </a:r>
            <a:endParaRPr lang="en-US" sz="1900" dirty="0"/>
          </a:p>
        </p:txBody>
      </p:sp>
      <p:sp>
        <p:nvSpPr>
          <p:cNvPr id="6" name="Text 4"/>
          <p:cNvSpPr txBox="1"/>
          <p:nvPr/>
        </p:nvSpPr>
        <p:spPr>
          <a:xfrm>
            <a:off x="868680" y="2423160"/>
            <a:ext cx="4709160" cy="33832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Fault tree and its weighted, cited rules</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Two-pass ranking, chance and precedent gates, T1–T4</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The five-condition close rule</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Five-axis interview and follow-up selection</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Retrieval and precedent counting</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Photo registration, desk masking, metrology</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Synthetic defect generator and the evaluation</a:t>
            </a:r>
            <a:endParaRPr lang="en-US" sz="1600" dirty="0"/>
          </a:p>
        </p:txBody>
      </p:sp>
      <p:sp>
        <p:nvSpPr>
          <p:cNvPr id="7" name="Shape 5"/>
          <p:cNvSpPr/>
          <p:nvPr/>
        </p:nvSpPr>
        <p:spPr>
          <a:xfrm>
            <a:off x="6263640" y="1691640"/>
            <a:ext cx="5349240" cy="4251960"/>
          </a:xfrm>
          <a:prstGeom prst="roundRect">
            <a:avLst>
              <a:gd name="adj" fmla="val 2581"/>
            </a:avLst>
          </a:prstGeom>
          <a:solidFill>
            <a:srgbClr val="F4F4F2"/>
          </a:solidFill>
          <a:ln w="12700">
            <a:solidFill>
              <a:srgbClr val="F4F4F2"/>
            </a:solidFill>
            <a:prstDash val="solid"/>
          </a:ln>
        </p:spPr>
      </p:sp>
      <p:sp>
        <p:nvSpPr>
          <p:cNvPr id="8" name="Text 6"/>
          <p:cNvSpPr txBox="1"/>
          <p:nvPr/>
        </p:nvSpPr>
        <p:spPr>
          <a:xfrm>
            <a:off x="6583680" y="1874520"/>
            <a:ext cx="4709160" cy="411480"/>
          </a:xfrm>
          <a:prstGeom prst="rect">
            <a:avLst/>
          </a:prstGeom>
          <a:noFill/>
          <a:ln/>
        </p:spPr>
        <p:txBody>
          <a:bodyPr wrap="square" lIns="0" tIns="0" rIns="0" bIns="0" rtlCol="0" anchor="ctr"/>
          <a:lstStyle/>
          <a:p>
            <a:pPr indent="0" marL="0">
              <a:buNone/>
            </a:pPr>
            <a:r>
              <a:rPr lang="en-US" sz="1900" b="1" dirty="0">
                <a:solidFill>
                  <a:srgbClr val="14201B"/>
                </a:solidFill>
                <a:latin typeface="Calibri" pitchFamily="34" charset="0"/>
                <a:ea typeface="Calibri" pitchFamily="34" charset="-122"/>
                <a:cs typeface="Calibri" pitchFamily="34" charset="-120"/>
              </a:rPr>
              <a:t>Third-party, declared</a:t>
            </a:r>
            <a:endParaRPr lang="en-US" sz="1900" dirty="0"/>
          </a:p>
        </p:txBody>
      </p:sp>
      <p:sp>
        <p:nvSpPr>
          <p:cNvPr id="9" name="Text 7"/>
          <p:cNvSpPr txBox="1"/>
          <p:nvPr/>
        </p:nvSpPr>
        <p:spPr>
          <a:xfrm>
            <a:off x="6583680" y="2423160"/>
            <a:ext cx="4709160" cy="338328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NPL Report MATC(A)82 — Best Practice for Electronic Materials Dispensing (2001), © Crown copyright</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NSW Automation challenge brief</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FastAPI, Pydantic, SQLAlchemy, Alembic · OpenCV, NumPy</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Next.js, React, Tailwind, shadcn/ui, Base UI, lucide</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Groq API, openai/gpt-oss-20b — optional critic, mapping, explanation</a:t>
            </a:r>
            <a:endParaRPr lang="en-US" sz="1600" dirty="0"/>
          </a:p>
          <a:p>
            <a:pPr marL="342900" indent="-342900">
              <a:spcAft>
                <a:spcPts val="800"/>
              </a:spcAft>
              <a:buSzPct val="100000"/>
              <a:buChar char="•"/>
            </a:pPr>
            <a:r>
              <a:rPr lang="en-US" sz="1600" dirty="0">
                <a:solidFill>
                  <a:srgbClr val="4A5751"/>
                </a:solidFill>
                <a:latin typeface="Calibri" pitchFamily="34" charset="0"/>
                <a:ea typeface="Calibri" pitchFamily="34" charset="-122"/>
                <a:cs typeface="Calibri" pitchFamily="34" charset="-120"/>
              </a:rPr>
              <a:t>Dev only: pytest, Playwright, matplotlib</a:t>
            </a:r>
            <a:endParaRPr lang="en-US" sz="1600" dirty="0"/>
          </a:p>
        </p:txBody>
      </p:sp>
      <p:sp>
        <p:nvSpPr>
          <p:cNvPr id="10" name="Text 8"/>
          <p:cNvSpPr txBox="1"/>
          <p:nvPr/>
        </p:nvSpPr>
        <p:spPr>
          <a:xfrm>
            <a:off x="548640" y="6035040"/>
            <a:ext cx="11094415" cy="320040"/>
          </a:xfrm>
          <a:prstGeom prst="rect">
            <a:avLst/>
          </a:prstGeom>
          <a:noFill/>
          <a:ln/>
        </p:spPr>
        <p:txBody>
          <a:bodyPr wrap="square" lIns="0" tIns="0" rIns="0" bIns="0" rtlCol="0" anchor="b"/>
          <a:lstStyle/>
          <a:p>
            <a:pPr indent="0" marL="0">
              <a:buNone/>
            </a:pPr>
            <a:r>
              <a:rPr lang="en-US" sz="1100" i="1" dirty="0">
                <a:solidFill>
                  <a:srgbClr val="7B8781"/>
                </a:solidFill>
                <a:latin typeface="Calibri" pitchFamily="34" charset="0"/>
                <a:ea typeface="Calibri" pitchFamily="34" charset="-122"/>
                <a:cs typeface="Calibri" pitchFamily="34" charset="-120"/>
              </a:rPr>
              <a:t>No model was trained or fine-tuned, and no training data was used. Every measurement is reproducible by an engineer with a microscope.</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8229600" cy="274320"/>
          </a:xfrm>
          <a:prstGeom prst="rect">
            <a:avLst/>
          </a:prstGeom>
          <a:noFill/>
          <a:ln/>
        </p:spPr>
        <p:txBody>
          <a:bodyPr wrap="square" lIns="0" tIns="0" rIns="0" bIns="0" rtlCol="0" anchor="ctr"/>
          <a:lstStyle/>
          <a:p>
            <a:pPr indent="0" marL="0">
              <a:buNone/>
            </a:pPr>
            <a:r>
              <a:rPr lang="en-US" sz="1200" b="1" spc="300" kern="0" dirty="0">
                <a:solidFill>
                  <a:srgbClr val="7B8781"/>
                </a:solidFill>
                <a:latin typeface="Calibri" pitchFamily="34" charset="0"/>
                <a:ea typeface="Calibri" pitchFamily="34" charset="-122"/>
                <a:cs typeface="Calibri" pitchFamily="34" charset="-120"/>
              </a:rPr>
              <a:t>BACKUP · LIMITATIONS</a:t>
            </a:r>
            <a:endParaRPr lang="en-US" sz="1200" dirty="0"/>
          </a:p>
        </p:txBody>
      </p:sp>
      <p:sp>
        <p:nvSpPr>
          <p:cNvPr id="3" name="Text 1"/>
          <p:cNvSpPr txBox="1"/>
          <p:nvPr/>
        </p:nvSpPr>
        <p:spPr>
          <a:xfrm>
            <a:off x="548640" y="658368"/>
            <a:ext cx="11094415" cy="1005840"/>
          </a:xfrm>
          <a:prstGeom prst="rect">
            <a:avLst/>
          </a:prstGeom>
          <a:noFill/>
          <a:ln/>
        </p:spPr>
        <p:txBody>
          <a:bodyPr wrap="square" lIns="0" tIns="0" rIns="0" bIns="0" rtlCol="0" anchor="t">
            <a:normAutofit/>
          </a:bodyPr>
          <a:lstStyle/>
          <a:p>
            <a:pPr indent="0" marL="0">
              <a:buNone/>
            </a:pPr>
            <a:r>
              <a:rPr lang="en-US" sz="3000" b="1" dirty="0">
                <a:solidFill>
                  <a:srgbClr val="14201B"/>
                </a:solidFill>
                <a:latin typeface="Cambria" pitchFamily="34" charset="0"/>
                <a:ea typeface="Cambria" pitchFamily="34" charset="-122"/>
                <a:cs typeface="Cambria" pitchFamily="34" charset="-120"/>
              </a:rPr>
              <a:t>Known limitations, stated up front</a:t>
            </a:r>
            <a:endParaRPr lang="en-US" sz="3000" dirty="0"/>
          </a:p>
        </p:txBody>
      </p:sp>
      <p:sp>
        <p:nvSpPr>
          <p:cNvPr id="4" name="Shape 2"/>
          <p:cNvSpPr/>
          <p:nvPr/>
        </p:nvSpPr>
        <p:spPr>
          <a:xfrm>
            <a:off x="548640" y="1783080"/>
            <a:ext cx="502920" cy="502920"/>
          </a:xfrm>
          <a:prstGeom prst="ellipse">
            <a:avLst/>
          </a:prstGeom>
          <a:solidFill>
            <a:srgbClr val="8A8984"/>
          </a:solidFill>
          <a:ln w="12700">
            <a:solidFill>
              <a:srgbClr val="8A8984"/>
            </a:solidFill>
            <a:prstDash val="solid"/>
          </a:ln>
        </p:spPr>
      </p:sp>
      <p:pic>
        <p:nvPicPr>
          <p:cNvPr id="5" name="Image 0" descr="preencoded.png">    </p:cNvPr>
          <p:cNvPicPr>
            <a:picLocks noChangeAspect="1"/>
          </p:cNvPicPr>
          <p:nvPr/>
        </p:nvPicPr>
        <p:blipFill>
          <a:blip r:embed="rId1"/>
          <a:stretch>
            <a:fillRect/>
          </a:stretch>
        </p:blipFill>
        <p:spPr>
          <a:xfrm>
            <a:off x="664312" y="1898752"/>
            <a:ext cx="271577" cy="271577"/>
          </a:xfrm>
          <a:prstGeom prst="rect">
            <a:avLst/>
          </a:prstGeom>
        </p:spPr>
      </p:pic>
      <p:sp>
        <p:nvSpPr>
          <p:cNvPr id="6" name="Text 3"/>
          <p:cNvSpPr txBox="1"/>
          <p:nvPr/>
        </p:nvSpPr>
        <p:spPr>
          <a:xfrm>
            <a:off x="1280160" y="1737360"/>
            <a:ext cx="3291840" cy="594360"/>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No real production photos</a:t>
            </a:r>
            <a:endParaRPr lang="en-US" sz="1600" dirty="0"/>
          </a:p>
        </p:txBody>
      </p:sp>
      <p:sp>
        <p:nvSpPr>
          <p:cNvPr id="7" name="Text 4"/>
          <p:cNvSpPr txBox="1"/>
          <p:nvPr/>
        </p:nvSpPr>
        <p:spPr>
          <a:xfrm>
            <a:off x="4663440" y="1737360"/>
            <a:ext cx="6949440" cy="594360"/>
          </a:xfrm>
          <a:prstGeom prst="rect">
            <a:avLst/>
          </a:prstGeom>
          <a:noFill/>
          <a:ln/>
        </p:spPr>
        <p:txBody>
          <a:bodyPr wrap="square" lIns="0" tIns="0" rIns="0" bIns="0" rtlCol="0" anchor="ctr"/>
          <a:lstStyle/>
          <a:p>
            <a:pPr indent="0" marL="0">
              <a:buNone/>
            </a:pPr>
            <a:r>
              <a:rPr lang="en-US" sz="1400" dirty="0">
                <a:solidFill>
                  <a:srgbClr val="4A5751"/>
                </a:solidFill>
                <a:latin typeface="Calibri" pitchFamily="34" charset="0"/>
                <a:ea typeface="Calibri" pitchFamily="34" charset="-122"/>
                <a:cs typeface="Calibri" pitchFamily="34" charset="-120"/>
              </a:rPr>
              <a:t>Every threshold is tuned on synthetic images; the stress test measures how far that holds, it doesn't claim real-photo accuracy.</a:t>
            </a:r>
            <a:endParaRPr lang="en-US" sz="1400" dirty="0"/>
          </a:p>
        </p:txBody>
      </p:sp>
      <p:sp>
        <p:nvSpPr>
          <p:cNvPr id="8" name="Shape 5"/>
          <p:cNvSpPr/>
          <p:nvPr/>
        </p:nvSpPr>
        <p:spPr>
          <a:xfrm>
            <a:off x="548640" y="2651760"/>
            <a:ext cx="502920" cy="502920"/>
          </a:xfrm>
          <a:prstGeom prst="ellipse">
            <a:avLst/>
          </a:prstGeom>
          <a:solidFill>
            <a:srgbClr val="8A8984"/>
          </a:solidFill>
          <a:ln w="12700">
            <a:solidFill>
              <a:srgbClr val="8A8984"/>
            </a:solidFill>
            <a:prstDash val="solid"/>
          </a:ln>
        </p:spPr>
      </p:sp>
      <p:pic>
        <p:nvPicPr>
          <p:cNvPr id="9" name="Image 1" descr="preencoded.png">    </p:cNvPr>
          <p:cNvPicPr>
            <a:picLocks noChangeAspect="1"/>
          </p:cNvPicPr>
          <p:nvPr/>
        </p:nvPicPr>
        <p:blipFill>
          <a:blip r:embed="rId2"/>
          <a:stretch>
            <a:fillRect/>
          </a:stretch>
        </p:blipFill>
        <p:spPr>
          <a:xfrm>
            <a:off x="664312" y="2767432"/>
            <a:ext cx="271577" cy="271577"/>
          </a:xfrm>
          <a:prstGeom prst="rect">
            <a:avLst/>
          </a:prstGeom>
        </p:spPr>
      </p:pic>
      <p:sp>
        <p:nvSpPr>
          <p:cNvPr id="10" name="Text 6"/>
          <p:cNvSpPr txBox="1"/>
          <p:nvPr/>
        </p:nvSpPr>
        <p:spPr>
          <a:xfrm>
            <a:off x="1280160" y="2606040"/>
            <a:ext cx="3291840" cy="594360"/>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Seven causes</a:t>
            </a:r>
            <a:endParaRPr lang="en-US" sz="1600" dirty="0"/>
          </a:p>
        </p:txBody>
      </p:sp>
      <p:sp>
        <p:nvSpPr>
          <p:cNvPr id="11" name="Text 7"/>
          <p:cNvSpPr txBox="1"/>
          <p:nvPr/>
        </p:nvSpPr>
        <p:spPr>
          <a:xfrm>
            <a:off x="4663440" y="2606040"/>
            <a:ext cx="6949440" cy="594360"/>
          </a:xfrm>
          <a:prstGeom prst="rect">
            <a:avLst/>
          </a:prstGeom>
          <a:noFill/>
          <a:ln/>
        </p:spPr>
        <p:txBody>
          <a:bodyPr wrap="square" lIns="0" tIns="0" rIns="0" bIns="0" rtlCol="0" anchor="ctr"/>
          <a:lstStyle/>
          <a:p>
            <a:pPr indent="0" marL="0">
              <a:buNone/>
            </a:pPr>
            <a:r>
              <a:rPr lang="en-US" sz="1400" dirty="0">
                <a:solidFill>
                  <a:srgbClr val="4A5751"/>
                </a:solidFill>
                <a:latin typeface="Calibri" pitchFamily="34" charset="0"/>
                <a:ea typeface="Calibri" pitchFamily="34" charset="-122"/>
                <a:cs typeface="Calibri" pitchFamily="34" charset="-120"/>
              </a:rPr>
              <a:t>Stringing, smearing and satellites (up height, NPL §3.3) have no cause yet — they're reported as 'no cause ahead' and escalated.</a:t>
            </a:r>
            <a:endParaRPr lang="en-US" sz="1400" dirty="0"/>
          </a:p>
        </p:txBody>
      </p:sp>
      <p:sp>
        <p:nvSpPr>
          <p:cNvPr id="12" name="Shape 8"/>
          <p:cNvSpPr/>
          <p:nvPr/>
        </p:nvSpPr>
        <p:spPr>
          <a:xfrm>
            <a:off x="548640" y="3520440"/>
            <a:ext cx="502920" cy="502920"/>
          </a:xfrm>
          <a:prstGeom prst="ellipse">
            <a:avLst/>
          </a:prstGeom>
          <a:solidFill>
            <a:srgbClr val="8A8984"/>
          </a:solidFill>
          <a:ln w="12700">
            <a:solidFill>
              <a:srgbClr val="8A8984"/>
            </a:solidFill>
            <a:prstDash val="solid"/>
          </a:ln>
        </p:spPr>
      </p:sp>
      <p:pic>
        <p:nvPicPr>
          <p:cNvPr id="13" name="Image 2" descr="preencoded.png">    </p:cNvPr>
          <p:cNvPicPr>
            <a:picLocks noChangeAspect="1"/>
          </p:cNvPicPr>
          <p:nvPr/>
        </p:nvPicPr>
        <p:blipFill>
          <a:blip r:embed="rId3"/>
          <a:stretch>
            <a:fillRect/>
          </a:stretch>
        </p:blipFill>
        <p:spPr>
          <a:xfrm>
            <a:off x="664312" y="3636112"/>
            <a:ext cx="271577" cy="271577"/>
          </a:xfrm>
          <a:prstGeom prst="rect">
            <a:avLst/>
          </a:prstGeom>
        </p:spPr>
      </p:pic>
      <p:sp>
        <p:nvSpPr>
          <p:cNvPr id="14" name="Text 9"/>
          <p:cNvSpPr txBox="1"/>
          <p:nvPr/>
        </p:nvSpPr>
        <p:spPr>
          <a:xfrm>
            <a:off x="1280160" y="3474720"/>
            <a:ext cx="3291840" cy="594360"/>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Busy boards</a:t>
            </a:r>
            <a:endParaRPr lang="en-US" sz="1600" dirty="0"/>
          </a:p>
        </p:txBody>
      </p:sp>
      <p:sp>
        <p:nvSpPr>
          <p:cNvPr id="15" name="Text 10"/>
          <p:cNvSpPr txBox="1"/>
          <p:nvPr/>
        </p:nvSpPr>
        <p:spPr>
          <a:xfrm>
            <a:off x="4663440" y="3474720"/>
            <a:ext cx="6949440" cy="594360"/>
          </a:xfrm>
          <a:prstGeom prst="rect">
            <a:avLst/>
          </a:prstGeom>
          <a:noFill/>
          <a:ln/>
        </p:spPr>
        <p:txBody>
          <a:bodyPr wrap="square" lIns="0" tIns="0" rIns="0" bIns="0" rtlCol="0" anchor="ctr"/>
          <a:lstStyle/>
          <a:p>
            <a:pPr indent="0" marL="0">
              <a:buNone/>
            </a:pPr>
            <a:r>
              <a:rPr lang="en-US" sz="1400" dirty="0">
                <a:solidFill>
                  <a:srgbClr val="4A5751"/>
                </a:solidFill>
                <a:latin typeface="Calibri" pitchFamily="34" charset="0"/>
                <a:ea typeface="Calibri" pitchFamily="34" charset="-122"/>
                <a:cs typeface="Calibri" pitchFamily="34" charset="-120"/>
              </a:rPr>
              <a:t>A trace touching a deposit can read as a distorted shape: 9% false alarms under light clutter.</a:t>
            </a:r>
            <a:endParaRPr lang="en-US" sz="1400" dirty="0"/>
          </a:p>
        </p:txBody>
      </p:sp>
      <p:sp>
        <p:nvSpPr>
          <p:cNvPr id="16" name="Shape 11"/>
          <p:cNvSpPr/>
          <p:nvPr/>
        </p:nvSpPr>
        <p:spPr>
          <a:xfrm>
            <a:off x="548640" y="4389120"/>
            <a:ext cx="502920" cy="502920"/>
          </a:xfrm>
          <a:prstGeom prst="ellipse">
            <a:avLst/>
          </a:prstGeom>
          <a:solidFill>
            <a:srgbClr val="8A8984"/>
          </a:solidFill>
          <a:ln w="12700">
            <a:solidFill>
              <a:srgbClr val="8A8984"/>
            </a:solidFill>
            <a:prstDash val="solid"/>
          </a:ln>
        </p:spPr>
      </p:sp>
      <p:pic>
        <p:nvPicPr>
          <p:cNvPr id="17" name="Image 3" descr="preencoded.png">    </p:cNvPr>
          <p:cNvPicPr>
            <a:picLocks noChangeAspect="1"/>
          </p:cNvPicPr>
          <p:nvPr/>
        </p:nvPicPr>
        <p:blipFill>
          <a:blip r:embed="rId4"/>
          <a:stretch>
            <a:fillRect/>
          </a:stretch>
        </p:blipFill>
        <p:spPr>
          <a:xfrm>
            <a:off x="664312" y="4504792"/>
            <a:ext cx="271577" cy="271577"/>
          </a:xfrm>
          <a:prstGeom prst="rect">
            <a:avLst/>
          </a:prstGeom>
        </p:spPr>
      </p:pic>
      <p:sp>
        <p:nvSpPr>
          <p:cNvPr id="18" name="Text 12"/>
          <p:cNvSpPr txBox="1"/>
          <p:nvPr/>
        </p:nvSpPr>
        <p:spPr>
          <a:xfrm>
            <a:off x="1280160" y="4343400"/>
            <a:ext cx="3291840" cy="594360"/>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Pixels, not microns</a:t>
            </a:r>
            <a:endParaRPr lang="en-US" sz="1600" dirty="0"/>
          </a:p>
        </p:txBody>
      </p:sp>
      <p:sp>
        <p:nvSpPr>
          <p:cNvPr id="19" name="Text 13"/>
          <p:cNvSpPr txBox="1"/>
          <p:nvPr/>
        </p:nvSpPr>
        <p:spPr>
          <a:xfrm>
            <a:off x="4663440" y="4343400"/>
            <a:ext cx="6949440" cy="594360"/>
          </a:xfrm>
          <a:prstGeom prst="rect">
            <a:avLst/>
          </a:prstGeom>
          <a:noFill/>
          <a:ln/>
        </p:spPr>
        <p:txBody>
          <a:bodyPr wrap="square" lIns="0" tIns="0" rIns="0" bIns="0" rtlCol="0" anchor="ctr"/>
          <a:lstStyle/>
          <a:p>
            <a:pPr indent="0" marL="0">
              <a:buNone/>
            </a:pPr>
            <a:r>
              <a:rPr lang="en-US" sz="1400" dirty="0">
                <a:solidFill>
                  <a:srgbClr val="4A5751"/>
                </a:solidFill>
                <a:latin typeface="Calibri" pitchFamily="34" charset="0"/>
                <a:ea typeface="Calibri" pitchFamily="34" charset="-122"/>
                <a:cs typeface="Calibri" pitchFamily="34" charset="-120"/>
              </a:rPr>
              <a:t>Absolute volume needs a scale reference; today everything is relative to the recipe.</a:t>
            </a:r>
            <a:endParaRPr lang="en-US" sz="1400" dirty="0"/>
          </a:p>
        </p:txBody>
      </p:sp>
      <p:sp>
        <p:nvSpPr>
          <p:cNvPr id="20" name="Shape 14"/>
          <p:cNvSpPr/>
          <p:nvPr/>
        </p:nvSpPr>
        <p:spPr>
          <a:xfrm>
            <a:off x="548640" y="5257800"/>
            <a:ext cx="502920" cy="502920"/>
          </a:xfrm>
          <a:prstGeom prst="ellipse">
            <a:avLst/>
          </a:prstGeom>
          <a:solidFill>
            <a:srgbClr val="8A8984"/>
          </a:solidFill>
          <a:ln w="12700">
            <a:solidFill>
              <a:srgbClr val="8A8984"/>
            </a:solidFill>
            <a:prstDash val="solid"/>
          </a:ln>
        </p:spPr>
      </p:sp>
      <p:pic>
        <p:nvPicPr>
          <p:cNvPr id="21" name="Image 4" descr="preencoded.png">    </p:cNvPr>
          <p:cNvPicPr>
            <a:picLocks noChangeAspect="1"/>
          </p:cNvPicPr>
          <p:nvPr/>
        </p:nvPicPr>
        <p:blipFill>
          <a:blip r:embed="rId5"/>
          <a:stretch>
            <a:fillRect/>
          </a:stretch>
        </p:blipFill>
        <p:spPr>
          <a:xfrm>
            <a:off x="664312" y="5373472"/>
            <a:ext cx="271577" cy="271577"/>
          </a:xfrm>
          <a:prstGeom prst="rect">
            <a:avLst/>
          </a:prstGeom>
        </p:spPr>
      </p:pic>
      <p:sp>
        <p:nvSpPr>
          <p:cNvPr id="22" name="Text 15"/>
          <p:cNvSpPr txBox="1"/>
          <p:nvPr/>
        </p:nvSpPr>
        <p:spPr>
          <a:xfrm>
            <a:off x="1280160" y="5212080"/>
            <a:ext cx="3291840" cy="594360"/>
          </a:xfrm>
          <a:prstGeom prst="rect">
            <a:avLst/>
          </a:prstGeom>
          <a:noFill/>
          <a:ln/>
        </p:spPr>
        <p:txBody>
          <a:bodyPr wrap="square" lIns="0" tIns="0" rIns="0" bIns="0" rtlCol="0" anchor="ctr"/>
          <a:lstStyle/>
          <a:p>
            <a:pPr indent="0" marL="0">
              <a:buNone/>
            </a:pPr>
            <a:r>
              <a:rPr lang="en-US" sz="1600" b="1" dirty="0">
                <a:solidFill>
                  <a:srgbClr val="14201B"/>
                </a:solidFill>
                <a:latin typeface="Calibri" pitchFamily="34" charset="0"/>
                <a:ea typeface="Calibri" pitchFamily="34" charset="-122"/>
                <a:cs typeface="Calibri" pitchFamily="34" charset="-120"/>
              </a:rPr>
              <a:t>The LLM isn't reproducible</a:t>
            </a:r>
            <a:endParaRPr lang="en-US" sz="1600" dirty="0"/>
          </a:p>
        </p:txBody>
      </p:sp>
      <p:sp>
        <p:nvSpPr>
          <p:cNvPr id="23" name="Text 16"/>
          <p:cNvSpPr txBox="1"/>
          <p:nvPr/>
        </p:nvSpPr>
        <p:spPr>
          <a:xfrm>
            <a:off x="4663440" y="5212080"/>
            <a:ext cx="6949440" cy="594360"/>
          </a:xfrm>
          <a:prstGeom prst="rect">
            <a:avLst/>
          </a:prstGeom>
          <a:noFill/>
          <a:ln/>
        </p:spPr>
        <p:txBody>
          <a:bodyPr wrap="square" lIns="0" tIns="0" rIns="0" bIns="0" rtlCol="0" anchor="ctr"/>
          <a:lstStyle/>
          <a:p>
            <a:pPr indent="0" marL="0">
              <a:buNone/>
            </a:pPr>
            <a:r>
              <a:rPr lang="en-US" sz="1400" dirty="0">
                <a:solidFill>
                  <a:srgbClr val="4A5751"/>
                </a:solidFill>
                <a:latin typeface="Calibri" pitchFamily="34" charset="0"/>
                <a:ea typeface="Calibri" pitchFamily="34" charset="-122"/>
                <a:cs typeface="Calibri" pitchFamily="34" charset="-120"/>
              </a:rPr>
              <a:t>Critic and explanation can vary between runs — which is why neither can change a likelihood.</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Dispensing Defect Detective — AI Horizon 2026 final</dc:title>
  <dc:subject>PptxGenJS Presentation</dc:subject>
  <dc:creator>Calvin Khoo</dc:creator>
  <cp:lastModifiedBy>Calvin Khoo</cp:lastModifiedBy>
  <cp:revision>1</cp:revision>
  <dcterms:created xsi:type="dcterms:W3CDTF">2026-10-01T20:22:01Z</dcterms:created>
  <dcterms:modified xsi:type="dcterms:W3CDTF">2026-10-01T20:22:01Z</dcterms:modified>
</cp:coreProperties>
</file>